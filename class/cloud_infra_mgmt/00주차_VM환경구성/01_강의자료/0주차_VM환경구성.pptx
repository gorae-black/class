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73" r:id="rId25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notesMaster" Target="notesMasters/notesMaster1.xml"/><Relationship Id="rId25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"안녕하세요, 클라우드인프라관리 수업의 0주차 오리엔테이션을 시작하겠습니다.</a:t>
            </a:r>
          </a:p>
          <a:p/>
          <a:p>
            <a:r>
              <a:t>이번 학기에는 Docker와 Kubernetes를 직접 실습으로 배웁니다. 그런데 실습을 시작하기도 전에 '설치'</a:t>
            </a:r>
          </a:p>
          <a:p>
            <a:r>
              <a:t>자체가 큰 장벽이 될 수 있다는 걸 잘 알고 있습니다. 그래서 오늘은 여러분이 설치 걱정 없이 바로</a:t>
            </a:r>
          </a:p>
          <a:p>
            <a:r>
              <a:t>실습에 뛰어들 수 있도록, 제가 미리 준비해 둔 실습 환경을 나눠드리고 함께 켜보는 시간을 갖겠습니다."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시간이 끝나면 여러분은 네 가지를 할 수 있게 됩니다.</a:t>
            </a:r>
          </a:p>
          <a:p/>
          <a:p>
            <a:r>
              <a:t>첫째, 이 강좌가 왜 VM을 통째로 배포하는지 이해하고,</a:t>
            </a:r>
          </a:p>
          <a:p>
            <a:r>
              <a:t>둘째, VMware Workstation Player로 VM을 여는 방법을 익히고,</a:t>
            </a:r>
          </a:p>
          <a:p>
            <a:r>
              <a:t>셋째, VM에 로그인하고 실습 환경이 정상인지 직접 확인하고,</a:t>
            </a:r>
          </a:p>
          <a:p>
            <a:r>
              <a:t>넷째, 학기 중 어떤 계정을 언제 만들게 되는지 미리 파악합니다."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(50분)]</a:t>
            </a:r>
          </a:p>
          <a:p/>
          <a:p>
            <a:r>
              <a:t>"오늘은 10분 배경 설명, 15분 설치 실습, 15분 환경 검증(학기 중 계정 안내 포함), 10분 질의응답으로</a:t>
            </a:r>
          </a:p>
          <a:p>
            <a:r>
              <a:t>진행합니다. 오늘 이 시간 안에 모든 분이 VM 로그인까지 마치는 게 목표이니, 진행하다가 막히는 부분이</a:t>
            </a:r>
          </a:p>
          <a:p>
            <a:r>
              <a:t>있으면 바로 손을 들어주세요."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왜 VM을 통째로 배포하는가]</a:t>
            </a:r>
          </a:p>
          <a:p/>
          <a:p>
            <a:r>
              <a:t>"먼저 왜 이런 방식을 선택했는지부터 설명드리겠습니다."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[클라우드·리눅스가 처음이어도 괜찮습니다]</a:t>
            </a:r>
          </a:p>
          <a:p/>
          <a:p>
            <a:r>
              <a:t>"이 강좌는 Docker, Kubernetes 실습이 핵심입니다. 그런데 Windows PC에 이런 리눅스 기반 도구를</a:t>
            </a:r>
          </a:p>
          <a:p>
            <a:r>
              <a:t>직접 설치하려면, WSL2 설정이나 가상화 옵션 조정 같은 사전 지식이 꽤 많이 필요합니다.</a:t>
            </a:r>
          </a:p>
          <a:p/>
          <a:p>
            <a:r>
              <a:t>**(공감대 형성)** 클라우드나 리눅스를 한 번도 다뤄본 적 없는 분들이라면, 설치 과정에서부터 좌절할</a:t>
            </a:r>
          </a:p>
          <a:p>
            <a:r>
              <a:t>수도 있어요. 그래서 저는 Docker, minikube, kubectl까지 전부 미리 설치하고 초기화까지 끝내둔 VM</a:t>
            </a:r>
          </a:p>
          <a:p>
            <a:r>
              <a:t>이미지를 통째로 준비했습니다.</a:t>
            </a:r>
          </a:p>
          <a:p/>
          <a:p>
            <a:r>
              <a:t>**(핵심 강조)** 여러분이 할 일은 딱 두 가지입니다. VM 파일을 받아서 열고, student 계정으로</a:t>
            </a:r>
          </a:p>
          <a:p>
            <a:r>
              <a:t>로그인하는 것 — 그걸로 끝입니다."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[이 VM에 이미 준비되어 있는 것들]</a:t>
            </a:r>
          </a:p>
          <a:p/>
          <a:p>
            <a:r>
              <a:t>"화면의 표를 보시면, 이 VM에는 Ubuntu 24.04 LTS 운영체제 위에 Docker와 Docker Compose, 그리고</a:t>
            </a:r>
          </a:p>
          <a:p>
            <a:r>
              <a:t>minikube와 kubectl까지 전부 설치되어 있습니다. 이건 1주차부터 7주차까지 Docker 실습과 Kubernetes</a:t>
            </a:r>
          </a:p>
          <a:p>
            <a:r>
              <a:t>실습 전체에 대응하는 구성이에요.</a:t>
            </a:r>
          </a:p>
          <a:p/>
          <a:p>
            <a:r>
              <a:t>git, curl, vim, nano, htop 같은 기본 도구들도 이미 들어있으니, 학기 중에 별도로 뭔가를 추가 설치할</a:t>
            </a:r>
          </a:p>
          <a:p>
            <a:r>
              <a:t>일은 거의 없을 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VM 설치 실습]</a:t>
            </a:r>
          </a:p>
          <a:p/>
          <a:p>
            <a:r>
              <a:t>"자, 이제 직접 VM을 실행해보겠습니다."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[준비물]</a:t>
            </a:r>
          </a:p>
          <a:p/>
          <a:p>
            <a:r>
              <a:t>"필요한 건 세 가지입니다.</a:t>
            </a:r>
          </a:p>
          <a:p/>
          <a:p>
            <a:r>
              <a:t>첫째, Windows PC — 디스크 여유 공간 15GB 이상, RAM 8GB 이상을 권장합니다.</a:t>
            </a:r>
          </a:p>
          <a:p>
            <a:r>
              <a:t>둘째, LMS에서 받은 cloud-lab-vm.zip 파일 — 이미 다운로드하셨을 거예요.</a:t>
            </a:r>
          </a:p>
          <a:p>
            <a:r>
              <a:t>셋째, VMware Workstation Player — 공식 홈페이지에서 무료로 설치할 수 있습니다.</a:t>
            </a:r>
          </a:p>
          <a:p/>
          <a:p>
            <a:r>
              <a:t>**(사전 준비 확인)** 혹시 아직 VMware를 설치하지 못하신 분 있나요? 지금 설치를 시작해주세요."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[설치 순서 5단계]</a:t>
            </a:r>
          </a:p>
          <a:p/>
          <a:p>
            <a:r>
              <a:t>"설치 순서는 다섯 단계입니다.</a:t>
            </a:r>
          </a:p>
          <a:p/>
          <a:p>
            <a:r>
              <a:t>① VMware Workstation Player를 설치합니다.</a:t>
            </a:r>
          </a:p>
          <a:p>
            <a:r>
              <a:t>② LMS에서 받은 cloud-lab-vm.zip을 원하는 위치에 압축 해제합니다. 그러면 cloud-lab.vmx와</a:t>
            </a:r>
          </a:p>
          <a:p>
            <a:r>
              <a:t>cloud-lab.vmdk 두 파일이 담긴 폴더가 생깁니다.</a:t>
            </a:r>
          </a:p>
          <a:p>
            <a:r>
              <a:t>③ VMware Player를 실행하고 'Open a Virtual Machine'을 클릭한 뒤, 압축 해제한 폴더 안의</a:t>
            </a:r>
          </a:p>
          <a:p>
            <a:r>
              <a:t>cloud-lab.vmx 파일을 선택합니다.</a:t>
            </a:r>
          </a:p>
          <a:p>
            <a:r>
              <a:t>④ 'Play virtual machine'을 클릭합니다. 잠시 후 검은 화면에 로그인 프롬프트가 뜹니다.</a:t>
            </a:r>
          </a:p>
          <a:p>
            <a:r>
              <a:t>⑤ student 계정으로 로그인합니다.</a:t>
            </a:r>
          </a:p>
          <a:p/>
          <a:p>
            <a:r>
              <a:t>**(같이 진행)** 자, 그럼 지금부터 저와 함께 순서대로 진행해보겠습니다. 먼저 zip 파일을 압축</a:t>
            </a:r>
          </a:p>
          <a:p>
            <a:r>
              <a:t>해제해주세요."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[로그인 계정 정보]</a:t>
            </a:r>
          </a:p>
          <a:p/>
          <a:p>
            <a:r>
              <a:t>"로그인 정보는 화면에 보이는 대로입니다.</a:t>
            </a:r>
          </a:p>
          <a:p/>
          <a:p>
            <a:r>
              <a:t>아이디는 `student`, 비밀번호는 `a1234`입니다.</a:t>
            </a:r>
          </a:p>
          <a:p/>
          <a:p>
            <a:r>
              <a:t>**(당황 방지 안내)** 여기서 한 가지 미리 말씀드릴게요 — 비밀번호를 입력할 때 화면에 별표(`*`)조차</a:t>
            </a:r>
          </a:p>
          <a:p>
            <a:r>
              <a:t>표시되지 않고 커서가 그냥 그대로 있을 겁니다. 당황하지 마세요, 이건 리눅스 터미널의 보안 관례라서</a:t>
            </a:r>
          </a:p>
          <a:p>
            <a:r>
              <a:t>정상입니다. 입력하고 그냥 Enter를 누르시면 됩니다.</a:t>
            </a:r>
          </a:p>
          <a:p/>
          <a:p>
            <a:r>
              <a:t>그리고 이후 실습에서 `sudo` 명령을 쓸 일이 있을 텐데, 그때도 동일하게 `a1234`를 입력하면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3 섹션 표지 — 환경 검증]</a:t>
            </a:r>
          </a:p>
          <a:p/>
          <a:p>
            <a:r>
              <a:t>"자, VM에 로그인이 되셨다면, 이제 준비가 제대로 됐는지 확인해보겠습니다."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[세 가지 명령어로 확인하기]</a:t>
            </a:r>
          </a:p>
          <a:p/>
          <a:p>
            <a:r>
              <a:t>"로그인 후 화면에 보이는 명령어를 순서대로 입력해보세요.</a:t>
            </a:r>
          </a:p>
          <a:p/>
          <a:p>
            <a:r>
              <a:t>`docker --version`</a:t>
            </a:r>
          </a:p>
          <a:p>
            <a:r>
              <a:t>`kubectl version --client`</a:t>
            </a:r>
          </a:p>
          <a:p/>
          <a:p>
            <a:r>
              <a:t>**(minikube는 자동 기동이 안 됨을 강조)** minikube는 설치만 되어 있을 뿐 자동으로 실행되어 있지</a:t>
            </a:r>
          </a:p>
          <a:p>
            <a:r>
              <a:t>않습니다. 그래서 아래처럼 `minikube start`로 먼저 클러스터를 기동한 뒤 상태를 확인해야 합니다.</a:t>
            </a:r>
          </a:p>
          <a:p>
            <a:r>
              <a:t>VM을 껐다 켤 때마다 매번 다시 실행해야 한다는 점도 꼭 말씀드리세요.</a:t>
            </a:r>
          </a:p>
          <a:p/>
          <a:p>
            <a:r>
              <a:t>`minikube start`</a:t>
            </a:r>
          </a:p>
          <a:p>
            <a:r>
              <a:t>`minikube status`</a:t>
            </a:r>
          </a:p>
          <a:p/>
          <a:p>
            <a:r>
              <a:t>**(확인 기준 설명)** `docker --version`과 `kubectl version --client`는 오류 없이 버전 정보가</a:t>
            </a:r>
          </a:p>
          <a:p>
            <a:r>
              <a:t>출력되면 되고, `minikube status`는 host, kubelet, apiserver가 모두 Running으로 나와야 준비</a:t>
            </a:r>
          </a:p>
          <a:p>
            <a:r>
              <a:t>완료입니다. stopped로 나온다면 `minikube start`를 먼저 실행하지 않았기 때문이니, `minikube start`</a:t>
            </a:r>
          </a:p>
          <a:p>
            <a:r>
              <a:t>실행 후 다시 확인하라고 안내해주세요.</a:t>
            </a:r>
          </a:p>
          <a:p/>
          <a:p>
            <a:r>
              <a:t>**(순회 확인)** 지금 여러분 화면을 한 번씩 둘러보면서, 잘 안 되는 분이 계신지 확인하겠습니다."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[학기 중 이런 계정을 만들게 됩니다]</a:t>
            </a:r>
          </a:p>
          <a:p/>
          <a:p>
            <a:r>
              <a:t>"환경 확인은 끝났고, 마지막으로 학기 전체를 미리 그려보는 시간을 갖겠습니다. 지금 당장 만들 건</a:t>
            </a:r>
          </a:p>
          <a:p>
            <a:r>
              <a:t>아니고, 이런 게 있다는 것만 미리 알아두시라는 취지입니다.</a:t>
            </a:r>
          </a:p>
          <a:p/>
          <a:p>
            <a:r>
              <a:t>**GitHub** — 3주차 2차시에 가입합니다. 소스 코드를 저장하는 용도로, 9주차부터 13주차까지 계속</a:t>
            </a:r>
          </a:p>
          <a:p>
            <a:r>
              <a:t>재사용됩니다.</a:t>
            </a:r>
          </a:p>
          <a:p/>
          <a:p>
            <a:r>
              <a:t>**Docker Hub** — 마찬가지로 3주차 2차시에 가입합니다. 만든 이미지를 올리고 받는 용도로, 13주차</a:t>
            </a:r>
          </a:p>
          <a:p>
            <a:r>
              <a:t>Jenkins 파이프라인에서도 그대로 재사용됩니다.</a:t>
            </a:r>
          </a:p>
          <a:p/>
          <a:p>
            <a:r>
              <a:t>**Terraform Cloud** — 10주차 2차시에 가입합니다. 원격으로 인프라 상태를 관리하는 용도인데, GitHub</a:t>
            </a:r>
          </a:p>
          <a:p>
            <a:r>
              <a:t>계정으로 가입하면 이후 연동이 더 편합니다.</a:t>
            </a:r>
          </a:p>
          <a:p/>
          <a:p>
            <a:r>
              <a:t>**(안심시키기)** 세 서비스를 동일한 이메일 주소로 가입해두시면 나중에 관리가 편합니다.</a:t>
            </a:r>
          </a:p>
          <a:p/>
          <a:p>
            <a:r>
              <a:t>**(Killercoda는 예외라는 점 강조)** 그리고 오늘부터 매 수업 시간에 쓰게 될 Killercoda는 **가입이</a:t>
            </a:r>
          </a:p>
          <a:p>
            <a:r>
              <a:t>필요 없습니다.** 매 차시 제공되는 링크만 클릭하면 브라우저에서 바로 실습 환경이 뜹니다. 계정</a:t>
            </a:r>
          </a:p>
          <a:p>
            <a:r>
              <a:t>걱정은 GitHub·Docker Hub·Terraform Cloud, 이 세 가지만 기억해두시면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[자주 발생하는 문제와 해결]</a:t>
            </a:r>
          </a:p>
          <a:p/>
          <a:p>
            <a:r>
              <a:t>"혹시 문제가 생겼다면 이렇게 해결해보세요.</a:t>
            </a:r>
          </a:p>
          <a:p/>
          <a:p>
            <a:r>
              <a:t>**VM이 켜지지 않는다** → BIOS에서 가상화 옵션, 즉 Intel VT-x나 AMD-V가 켜져 있는지 확인해주세요.</a:t>
            </a:r>
          </a:p>
          <a:p>
            <a:r>
              <a:t>이건 보통 노트북 제조사마다 BIOS 진입 방법이 달라서, 필요하면 개별적으로 도와드리겠습니다.</a:t>
            </a:r>
          </a:p>
          <a:p/>
          <a:p>
            <a:r>
              <a:t>**로그인이 안 된다** → 아이디와 비밀번호는 student / a1234로 통일되어 있습니다. 대소문자를</a:t>
            </a:r>
          </a:p>
          <a:p>
            <a:r>
              <a:t>정확히 확인해주세요.</a:t>
            </a:r>
          </a:p>
          <a:p/>
          <a:p>
            <a:r>
              <a:t>**minikube status가 stopped로 나온다** → `minikube start`를 실행하지 않았거나, VM을 재부팅해</a:t>
            </a:r>
          </a:p>
          <a:p>
            <a:r>
              <a:t>클러스터가 다시 정지된 것입니다. VM을 켤 때마다 `minikube start`를 먼저 실행한 뒤 상태를</a:t>
            </a:r>
          </a:p>
          <a:p>
            <a:r>
              <a:t>확인하라고 안내해주세요.</a:t>
            </a:r>
          </a:p>
          <a:p/>
          <a:p>
            <a:r>
              <a:t>**그 외 문제** → 지금 해결이 안 되면 LMS Q&amp;A 게시판에 화면 캡처와 함께 남겨주시면, 제가 확인하고</a:t>
            </a:r>
          </a:p>
          <a:p>
            <a:r>
              <a:t>답변드리겠습니다.</a:t>
            </a:r>
          </a:p>
          <a:p/>
          <a:p>
            <a:r>
              <a:t>**(질의응답 시간)** 지금부터 질문 있으신 분들은 편하게 말씀해주세요."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**이 VM 하나로 0주차부터 7주차까지 모든 실습을 진행합니다.** 추가 설치는 필요 없습니다.</a:t>
            </a:r>
          </a:p>
          <a:p>
            <a:r>
              <a:t>둘째, **docker --version, kubectl version --client, minikube start, minikube status** 이</a:t>
            </a:r>
          </a:p>
          <a:p>
            <a:r>
              <a:t>명령어로 언제든 준비 상태를 확인할 수 있고, 실습을 마칠 때는 `sudo shutdown -h now`로 정상</a:t>
            </a:r>
          </a:p>
          <a:p>
            <a:r>
              <a:t>종료해야 한다는 것도 함께 짚어주세요."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주 예고]</a:t>
            </a:r>
          </a:p>
          <a:p/>
          <a:p>
            <a:r>
              <a:t>"오늘 VM 준비까지 모두 마치셨다면, 실습 환경 걱정은 이제 완전히 끝났습니다.</a:t>
            </a:r>
          </a:p>
          <a:p/>
          <a:p>
            <a:r>
              <a:t>다음 1주차에서는 가상화와 클라우드 컴퓨팅의 기본 개념을 배우고, 오늘 준비한 이 VM에서 첫 컨테이너를</a:t>
            </a:r>
          </a:p>
          <a:p>
            <a:r>
              <a:t>직접 실행해볼 겁니다.</a:t>
            </a:r>
          </a:p>
          <a:p/>
          <a:p>
            <a:r>
              <a:t>오늘 수업은 여기까지입니다. 혹시 오늘 VM 로그인이나 환경 검증까지 마치지 못하신 분은, 이번 주 안에</a:t>
            </a:r>
          </a:p>
          <a:p>
            <a:r>
              <a:t>LMS Q&amp;A 게시판을 통해 꼭 도움을 요청해주세요."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[0주차 오리엔테이션을 마치며]</a:t>
            </a:r>
          </a:p>
          <a:p/>
          <a:p>
            <a:r>
              <a:t>"(화면에 '수고하셨습니다!' 문구가 떠 있는 동안, 짧게 마무리 인사만 건네고 마칩니다.)</a:t>
            </a:r>
          </a:p>
          <a:p/>
          <a:p>
            <a:r>
              <a:t>수고하셨습니다! 오늘 준비하신 VM 하나로 다음 주부터 15주 동안 이 과목의 모든 실습을 진행하게</a:t>
            </a:r>
          </a:p>
          <a:p>
            <a:r>
              <a:t>됩니다. 실습 환경 걱정은 이제 완전히 내려놓으시고, 다음 주부터는 내용에만 집중하시면 됩니다.</a:t>
            </a:r>
          </a:p>
          <a:p/>
          <a:p>
            <a:r>
              <a:t>**(마지막 안내)** 혹시 오늘 못 끝낸 부분이 있다면 이번 주 안에 꼭 마무리해두세요 — 1주차부터는</a:t>
            </a:r>
          </a:p>
          <a:p>
            <a:r>
              <a:t>곧바로 실습이 시작됩니다. 그럼 다음 주에 뵙겠습니다!"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"Mac이나 리눅스 PC를 쓰는데 VMware가 다른가요?" | VMware Fusion(Mac)이나 Workstation Player(리눅스)로도 동일한 vmx/vmdk 파일을 열 수 있습니다. 다만 이 강좌의 가이드는 Windows 기준으로 작성되어 있으므로, Mac/리눅스 사용 학생은 개별적으로 안내가 필요할 수 있습니다. |</a:t>
            </a:r>
          </a:p>
          <a:p>
            <a:r>
              <a:t>| "VM 성능이 너무 느려요" | 호스트 PC의 다른 프로그램을 종료해 RAM 여유 공간을 확보해보세요. 그래도 느리다면 VMware 설정에서 VM에 할당된 CPU/RAM 수치를 확인해주세요(기본 2 vCPU, RAM 4GB로 설정되어 있습니다). |</a:t>
            </a:r>
          </a:p>
          <a:p>
            <a:r>
              <a:t>| "VM을 끄면 실습했던 내용이 사라지나요?" | 아니요. VM은 일반 컴퓨터처럼 종료해도 디스크에 저장된 내용(설치한 것, 만든 파일 등)이 그대로 유지됩니다. VMware Player에서 정상적으로 Shut Down 하면 됩니다. |</a:t>
            </a:r>
          </a:p>
          <a:p>
            <a:r>
              <a:t>| "노트북을 바꾸면 VM을 어떻게 옮기나요?" | cloud-lab-vm 폴더 전체(vmx, vmdk 파일 포함)를 그대로 복사해서 새 컴퓨터에 옮기고, 그 컴퓨터의 VMware Player에서 동일하게 열면 됩니다. |</a:t>
            </a:r>
          </a:p>
          <a:p>
            <a:r>
              <a:t>| "계정을 지금 미리 만들어둬도 되나요?" | 네, 미리 만들어두셔도 상관없습니다. 다만 3주차·10주차에 각 서비스별로 단계별 가입 가이드를 다시 제공하니, 오늘은 어떤 계정이 언제 필요한지 정도만 기억해두셔도 충분합니다. |</a:t>
            </a:r>
          </a:p>
          <a:p>
            <a:r>
              <a:t>| "Killercoda도 나중에 계정이 필요해지나요?" | 아니요. 이 과목에서 쓰는 Killercoda 시나리오는 전부 링크 클릭만으로 접속하는 방식이라 학기 내내 계정이 필요 없습니다.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종료하기]</a:t>
            </a:r>
          </a:p>
          <a:p/>
          <a:p>
            <a:r>
              <a:t>"실습을 마치고 VM을 끌 때는 반드시 정상 종료해야 합니다. 전원 강제 종료(Power Off)는 다음 실행</a:t>
            </a:r>
          </a:p>
          <a:p>
            <a:r>
              <a:t>시 오류를 일으킬 수 있으니 피해야 합니다.</a:t>
            </a:r>
          </a:p>
          <a:p/>
          <a:p>
            <a:r>
              <a:t>방법은 두 가지입니다.</a:t>
            </a:r>
          </a:p>
          <a:p/>
          <a:p>
            <a:r>
              <a:t>**① VM 안에서 명령어로 종료 (권장)** — 터미널에 로그인된 상태에서 `sudo shutdown -h now`를</a:t>
            </a:r>
          </a:p>
          <a:p>
            <a:r>
              <a:t>입력합니다. 비밀번호 `a1234`를 물어보면 입력하시면 되고, 이번에도 화면에 아무것도 안 보이는 게</a:t>
            </a:r>
          </a:p>
          <a:p>
            <a:r>
              <a:t>정상입니다.</a:t>
            </a:r>
          </a:p>
          <a:p/>
          <a:p>
            <a:r>
              <a:t>**② VMware Workstation Player 메뉴에서 종료** — Player → Power → Shut Down Guest를 클릭합니다.</a:t>
            </a:r>
          </a:p>
          <a:p>
            <a:r>
              <a:t>VM 내부로 종료 신호를 보내 정상 종료됩니다.</a:t>
            </a:r>
          </a:p>
          <a:p/>
          <a:p>
            <a:r>
              <a:t>**(경고 강조)** Player → Power → Power Off(강제 종료)는 전원 코드를 뽑는 것과 같아서 파일시스템이</a:t>
            </a:r>
          </a:p>
          <a:p>
            <a:r>
              <a:t>손상될 수 있으니, 급한 경우가 아니면 사용하지 마세요. 다음에 VM을 다시 켜서 실습을 이어갈 때는</a:t>
            </a:r>
          </a:p>
          <a:p>
            <a:r>
              <a:t>로그인 후 `minikube start`를 다시 실행해야 `minikube status`가 Running으로 나온다는 점도 함께</a:t>
            </a:r>
          </a:p>
          <a:p>
            <a:r>
              <a:t>안내해주세요."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클라우드인프라관리  ·  0주차 오리엔테이션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VM 환경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가져오기 → 로그인, 그것으로 준비 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1.  이 강좌가 왜 VM을 통째로 배포하는지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2.  VMware Workstation Player로 VM을 여는 방법을 익힌다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3.  VM에 로그인하고 실습 환경이 정상인지 직접 확인한다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4.  학기 중 어떤 계정을 언제 만들게 되는지 미리 파악한다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0주차 오리엔테이션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02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배경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왜 VM을 통째로 주는가</a:t>
            </a:r>
          </a:p>
        </p:txBody>
      </p:sp>
      <p:sp>
        <p:nvSpPr>
          <p:cNvPr id="14" name="Oval 13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설치 실습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VMware+VM 실행·로그인</a:t>
            </a:r>
          </a:p>
        </p:txBody>
      </p:sp>
      <p:sp>
        <p:nvSpPr>
          <p:cNvPr id="19" name="Oval 18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환경 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환경 확인 + 학기 계정 안내</a:t>
            </a:r>
          </a:p>
        </p:txBody>
      </p:sp>
      <p:sp>
        <p:nvSpPr>
          <p:cNvPr id="24" name="Oval 23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질의응답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트러블슈팅 안내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0주차 오리엔테이션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03 / 18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왜 VM을 통째로 배포하는가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설치 때문에 실습을 포기하지 않도록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배경 설명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클라우드·리눅스가 처음이어도 괜찮습니다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이 강좌는 Docker, Kubernetes 실습이 핵심 — 그런데 설치 자체가 큰 장벽이 될 수 있음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Windows에 Docker·리눅스 환경을 직접 설치하려면 WSL2, 가상화 설정 등 사전 지식이 많이 필요함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그래서 교수자가 Docker·minikube·kubectl까지 전부 설치·초기화해 둔 VM 이미지를 통째로 배포함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🎯  여러분이 할 일은 단 두 가지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VM 파일을 받아서 연다  ② student 계정으로 로그인한다 — 그걸로 끝입니다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0주차 오리엔테이션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05 / 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배경 설명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 VM에 이미 준비되어 있는 것들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2377440" cy="62179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23774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45920"/>
            <a:ext cx="8412480" cy="6217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45920"/>
            <a:ext cx="84124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267712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67712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267712"/>
            <a:ext cx="841248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267712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Ubuntu 24.04 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889504"/>
            <a:ext cx="23774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889504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컨테이너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889504"/>
            <a:ext cx="841248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889504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+ Docker Compose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511296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511296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오케스트레이션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511296"/>
            <a:ext cx="841248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511296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minikube, kubectl (1~7주차 실습 전체 대응)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133088"/>
            <a:ext cx="23774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133088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기본 도구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133088"/>
            <a:ext cx="841248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4133088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git, curl, vim, nano, htop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0주차 오리엔테이션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06 / 18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 설치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가져오기 → 로그인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설치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준비물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Windows PC (디스크 여유 공간 15GB 이상, RAM 8GB 이상 권장)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LMS에서 받은 cloud-lab-vm.zip 파일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VMware Workstation Player (무료, 공식 홈페이지에서 설치)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0주차 오리엔테이션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08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설치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설치 순서 5단계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① VMware Workstation Player 설치</a:t>
            </a:r>
          </a:p>
          <a:p>
            <a:pPr>
              <a:lnSpc>
                <a:spcPct val="149500"/>
              </a:lnSpc>
            </a:pP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② cloud-lab-vm.zip 압축 해제 (cloud-lab.vmx, cloud-lab.vmdk 생성)</a:t>
            </a:r>
          </a:p>
          <a:p>
            <a:pPr>
              <a:lnSpc>
                <a:spcPct val="149500"/>
              </a:lnSpc>
            </a:pP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③ VMware Player에서 Open a Virtual Machine → cloud-lab.vmx 선택</a:t>
            </a:r>
          </a:p>
          <a:p>
            <a:pPr>
              <a:lnSpc>
                <a:spcPct val="149500"/>
              </a:lnSpc>
            </a:pP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④ Play virtual machine 클릭 → 로그인 프롬프트 대기</a:t>
            </a:r>
          </a:p>
          <a:p>
            <a:pPr>
              <a:lnSpc>
                <a:spcPct val="149500"/>
              </a:lnSpc>
            </a:pP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⑤ student / a1234 로 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5단계 요약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설치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압축 해제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VM 열기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VM 실행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4379976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379976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⑤ 로그인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0주차 오리엔테이션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09 / 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설치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로그인 계정 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아이디: student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비밀번호: a1234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비밀번호 입력 시 화면에 아무것도 표시되지 않는 것이 정상입니다 (리눅스 터미널 보안 관례)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⚠  sudo 비밀번호 안내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이후 실습에서 sudo 명령을 쓸 때도 동일하게 a1234를 입력하면 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0주차 오리엔테이션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10 / 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환경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실습 준비가 끝났는지 직접 확인한다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3 · 환경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네 가지 명령어로 확인하기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--version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kubectl version --client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minikube start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minikube status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--version과 kubectl version --client는 오류 없이 버전 정보가 출력되면 되고, minikube status는 host, kubelet, apiserver가 모두 Running으로 나와야 준비 완료 (stopped면 minikube start 먼저 실행)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0주차 오리엔테이션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12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3 · 환경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 종료하기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실습을 마치고 VM을 끌 때는 반드시 정상 종료 — 전원 강제 종료(Power Off)는 오류를 일으킬 수 있음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VM 안에서 명령어로 종료 (권장): sudo shutdown -h now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VMware Player 메뉴에서 종료: Player → Power → Shut Down Guest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⚠  Power Off는 사용하지 마세요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전원 코드를 뽑는 것과 같아 파일시스템이 손상될 수 있습니다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0주차 오리엔테이션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13 / 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4 · 학기 중 필요한 계정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학기 중 이런 계정을 만들게 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GitHub — 3주차 2차시에 가입 (소스 코드 저장용, 9~13주차까지 계속 재사용)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Hub — 3주차 2차시에 가입 (이미지 push/pull용, 13주차 파이프라인에서도 재사용)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Terraform Cloud — 10주차 2차시에 가입 (원격 State 관리용, GitHub 계정으로 가입하면 편함)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💡  미리 알아두면 좋은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세 서비스를 동일한 이메일로 가입해두면 관리가 편합니다. Killercoda는 가입이 필요 없습니다 — 매 차시 제공되는 링크만 클릭하면 바로 실습할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0주차 오리엔테이션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14 / 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질의응답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자주 발생하는 문제와 해결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VM이 켜지지 않는다 → BIOS에서 가상화(Intel VT-x/AMD-V) 옵션이 켜져 있는지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로그인이 안 된다 → 아이디/비밀번호는 student / a1234로 통일되어 있음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minikube status가 stopped로 나온다 → minikube start를 먼저 실행한 뒤 다시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그 외 문제 → LMS Q&amp;A 게시판에 캡처와 함께 남겨주세요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0주차 오리엔테이션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15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 VM 하나로 0주차부터 7주차까지 모든 실습을 진행한다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 --version / kubectl version --client / minikube start / minikube status 네 명령어로 준비 상태를 확인한다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다음 차시 예고 — 1주차 — 클라우드 개념과 Docker 입문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가상화와 클라우드 컴퓨팅의 기본 개념을 배우고, 오늘 준비한 VM에서 첫 컨테이너를 직접 실행해봅니다.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0주차 오리엔테이션을 마치며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수고하셨습니다!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이제 실습 환경 걱정은 끝났습니다. 다음 시간부터 본격적으로 클라우드와 Docker를 직접 다뤄보겠습니다.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