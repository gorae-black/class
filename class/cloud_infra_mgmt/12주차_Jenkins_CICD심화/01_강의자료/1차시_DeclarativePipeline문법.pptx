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[표지]</a:t>
            </a:r>
          </a:p>
          <a:p/>
          <a:p>
            <a:r>
              <a:t>"12주차 1차시를 시작하겠습니다.</a:t>
            </a:r>
          </a:p>
          <a:p/>
          <a:p>
            <a:r>
              <a:t>지난 11주차에 화면에서 클릭으로 Job을 만들어봤는데요, 오늘부터는 그 설정을 **코드**로 작성하는</a:t>
            </a:r>
          </a:p>
          <a:p>
            <a:r>
              <a:t>방법, Jenkinsfile을 배웁니다."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학습 목표]</a:t>
            </a:r>
          </a:p>
          <a:p/>
          <a:p>
            <a:r>
              <a:t>"오늘 수업이 끝나면 여러분은 세 가지를 할 수 있게 됩니다.</a:t>
            </a:r>
          </a:p>
          <a:p/>
          <a:p>
            <a:r>
              <a:t>첫째, Freestyle Job과 Pipeline(Jenkinsfile) 방식의 차이를 이해하고,</a:t>
            </a:r>
          </a:p>
          <a:p>
            <a:r>
              <a:t>둘째, Declarative Pipeline의 기본 구조를 이해하고,</a:t>
            </a:r>
          </a:p>
          <a:p>
            <a:r>
              <a:t>셋째, Stage·환경변수·Credential이 파이프라인에서 하는 역할을 이해합니다."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진행 순서 (60분)]</a:t>
            </a:r>
          </a:p>
          <a:p/>
          <a:p>
            <a:r>
              <a:t>"오늘도 25분 개념 설명, 15분 Killercoda, 5분 안내, 5분 제출입니다."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1 섹션 표지 — 왜 Jenkinsfile로 옮겨가는가]</a:t>
            </a:r>
          </a:p>
          <a:p/>
          <a:p>
            <a:r>
              <a:t>"먼저 지난 시간 방식의 한계부터 짚어보겠습니다."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[Freestyle Job의 한계]</a:t>
            </a:r>
          </a:p>
          <a:p/>
          <a:p>
            <a:r>
              <a:t>"11주차에 만든 `hello-jenkins`, 기억하시죠? 화면에서 클릭으로 Build Steps를 설정했었습니다.</a:t>
            </a:r>
          </a:p>
          <a:p/>
          <a:p>
            <a:r>
              <a:t>**(문제 제기)** 그런데 이 방식에는 한계가 있습니다. 화면 설정은 다른 사람과 공유하기 어렵고, 빌드</a:t>
            </a:r>
          </a:p>
          <a:p>
            <a:r>
              <a:t>단계가 늘어날수록(체크아웃 → 빌드 → 푸시 → 배포처럼) 화면 설정만으로는 점점 복잡해집니다.</a:t>
            </a:r>
          </a:p>
          <a:p/>
          <a:p>
            <a:r>
              <a:t>**(해결책 제시)** 이 문제를 해결하는 게 **Jenkinsfile**입니다. Jenkins의 빌드 파이프라인을 코드,</a:t>
            </a:r>
          </a:p>
          <a:p>
            <a:r>
              <a:t>즉 텍스트 파일로 선언하는 방식이에요. 코드로 관리하면 9~10주차에 배운 것처럼 **Git으로 버전</a:t>
            </a:r>
          </a:p>
          <a:p>
            <a:r>
              <a:t>관리**하고, 리뷰하고, 재사용할 수 있습니다."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2 섹션 표지 — Declarative Pipeline 문법]</a:t>
            </a:r>
          </a:p>
          <a:p/>
          <a:p>
            <a:r>
              <a:t>"이제 실제 Jenkinsfile을 어떻게 쓰는지 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[Jenkinsfile의 기본 뼈대]</a:t>
            </a:r>
          </a:p>
          <a:p/>
          <a:p>
            <a:r>
              <a:t>"Jenkinsfile을 작성하는 가장 표준적인 방식이 **Declarative Pipeline**입니다. 기본 뼈대는 이렇습니다.</a:t>
            </a:r>
          </a:p>
          <a:p/>
          <a:p>
            <a:r>
              <a:t>```groovy</a:t>
            </a:r>
          </a:p>
          <a:p>
            <a:r>
              <a:t>pipeline {</a:t>
            </a:r>
          </a:p>
          <a:p>
            <a:r>
              <a:t>  agent any</a:t>
            </a:r>
          </a:p>
          <a:p>
            <a:r>
              <a:t>  stages {</a:t>
            </a:r>
          </a:p>
          <a:p>
            <a:r>
              <a:t>    stage("Build") {</a:t>
            </a:r>
          </a:p>
          <a:p>
            <a:r>
              <a:t>      steps { ...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`pipeline { }`이 전체를 감싸는 최상위 블록입니다. `agent any`는 이 파이프라인을 어떤</a:t>
            </a:r>
          </a:p>
          <a:p>
            <a:r>
              <a:t>서버(에이전트)에서 실행할지 지정하는데, `any`는 '아무 에이전트나 써도 된다'는 뜻입니다. `stages`</a:t>
            </a:r>
          </a:p>
          <a:p>
            <a:r>
              <a:t>안에 단계별 작업을 순서대로 나열합니다."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[Stage로 단계 나누기]</a:t>
            </a:r>
          </a:p>
          <a:p/>
          <a:p>
            <a:r>
              <a:t>"파이프라인을 하나로 뭉치지 않고 여러 **stage**로 나누는 이유가 있습니다.</a:t>
            </a:r>
          </a:p>
          <a:p/>
          <a:p>
            <a:r>
              <a:t>예를 들어 `Checkout`(코드 받기) → `Build`(빌드) → `Push`(업로드) → `Deploy`(배포)처럼 나누면, 각</a:t>
            </a:r>
          </a:p>
          <a:p>
            <a:r>
              <a:t>단계가 무슨 일을 하는지 명확해집니다.</a:t>
            </a:r>
          </a:p>
          <a:p/>
          <a:p>
            <a:r>
              <a:t>**(실용적 이점)** 그리고 Jenkins UI에서 각 stage가 성공했는지 실패했는지 **시각적으로** 확인할 수</a:t>
            </a:r>
          </a:p>
          <a:p>
            <a:r>
              <a:t>있습니다. 나중에 파이프라인이 실패하면, 어느 stage에서 문제가 생겼는지 한눈에 알 수 있는 거죠."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[환경변수와 Credential]</a:t>
            </a:r>
          </a:p>
          <a:p/>
          <a:p>
            <a:r>
              <a:t>"마지막으로 환경변수와 Credential입니다.</a:t>
            </a:r>
          </a:p>
          <a:p/>
          <a:p>
            <a:r>
              <a:t>`environment { }` 블록으로 파이프라인 전체에서 쓸 환경변수를 선언할 수 있습니다. 그리고</a:t>
            </a:r>
          </a:p>
          <a:p>
            <a:r>
              <a:t>`$BUILD_NUMBER`처럼 Jenkins가 기본으로 제공하는 변수도 자동으로 쓸 수 있어요. 11주차 마지막</a:t>
            </a:r>
          </a:p>
          <a:p>
            <a:r>
              <a:t>실습에서 이미 한 번 써봤죠.</a:t>
            </a:r>
          </a:p>
          <a:p/>
          <a:p>
            <a:r>
              <a:t>**(보안 개념 강조)** `withCredentials { }`는 Docker Hub 비밀번호 같은 민감한 정보를 코드에</a:t>
            </a:r>
          </a:p>
          <a:p>
            <a:r>
              <a:t>**그대로 노출하지 않고** 안전하게 사용하는 방법입니다. 비밀번호를 Jenkinsfile에 평문으로 적으면</a:t>
            </a:r>
          </a:p>
          <a:p>
            <a:r>
              <a:t>GitHub에 그대로 올라가 버리니, 반드시 이 방식으로 다뤄야 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[Killercoda — 뼈대 Jenkinsfile 빈칸 채우기]</a:t>
            </a:r>
          </a:p>
          <a:p/>
          <a:p>
            <a:r>
              <a:t>"자, 직접 해보겠습니다. pipeline, agent, stages 빈칸이 있는 Jenkinsfile 템플릿을 드릴게요.</a:t>
            </a:r>
          </a:p>
          <a:p/>
          <a:p>
            <a:r>
              <a:t>echo 로그를 출력하는 3단계를 스스로 완성해보세요 — 예를 들어 Start → Process → Done처럼요. 완성한</a:t>
            </a:r>
          </a:p>
          <a:p>
            <a:r>
              <a:t>Jenkinsfile을 Job에 연결해서 Build Now로 실행하고, Console Output에서 단계별 로그가 순서대로</a:t>
            </a:r>
          </a:p>
          <a:p>
            <a:r>
              <a:t>찍히는지 확인하세요.</a:t>
            </a:r>
          </a:p>
          <a:p/>
          <a:p>
            <a:r>
              <a:t>**(화면 공유해 실제로 시연)** 제가 먼저 보여드릴게요."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[VM 안내 — 다음 차시 예고]</a:t>
            </a:r>
          </a:p>
          <a:p/>
          <a:p>
            <a:r>
              <a:t>"오늘은 문법 위주였기 때문에, 개인 VM에는 아직 Jenkinsfile을 적용하지 않습니다. 별도로 하실 실습은</a:t>
            </a:r>
          </a:p>
          <a:p>
            <a:r>
              <a:t>없습니다.</a:t>
            </a:r>
          </a:p>
          <a:p/>
          <a:p>
            <a:r>
              <a:t>다음 2차시에 실제 Jenkinsfile을 작성해서 VM Jenkins에서 수동 빌드(Build Now)로 실행해볼 거예요.</a:t>
            </a:r>
          </a:p>
          <a:p>
            <a:r>
              <a:t>11주차에 만든 `hello-jenkins` Job은 그대로 남겨두세요."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정리]</a:t>
            </a:r>
          </a:p>
          <a:p/>
          <a:p>
            <a:r>
              <a:t>"오늘 배운 내용, 두 가지로 정리하겠습니다.</a:t>
            </a:r>
          </a:p>
          <a:p/>
          <a:p>
            <a:r>
              <a:t>첫째, **Jenkinsfile은 빌드 파이프라인을 코드로 선언해 버전 관리·재사용이 가능하게 한다.**</a:t>
            </a:r>
          </a:p>
          <a:p>
            <a:r>
              <a:t>둘째, **pipeline → stages → steps 구조로 단계를 나누고, environment·withCredentials로 변수와</a:t>
            </a:r>
          </a:p>
          <a:p>
            <a:r>
              <a:t>민감정보를 다룬다.**"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[다음 차시 예고]</a:t>
            </a:r>
          </a:p>
          <a:p/>
          <a:p>
            <a:r>
              <a:t>"다음 2차시에서는 직접 Jenkinsfile을 작성해서 VM의 Jenkins Job에 연결하고, Build Now로 수동 빌드를</a:t>
            </a:r>
          </a:p>
          <a:p>
            <a:r>
              <a:t>실행해봅니다.</a:t>
            </a:r>
          </a:p>
          <a:p/>
          <a:p>
            <a:r>
              <a:t>오늘 수업은 여기까지입니다. Killercoda 실습 완료해서 제출해주시고, 궁금한 점은 LMS Q&amp;A 게시판에</a:t>
            </a:r>
          </a:p>
          <a:p>
            <a:r>
              <a:t>남겨주세요. 수고하셨습니다!"</a:t>
            </a:r>
          </a:p>
          <a:p/>
          <a:p>
            <a:r>
              <a:t>---</a:t>
            </a:r>
          </a:p>
          <a:p/>
          <a:p>
            <a:r>
              <a:t>## 강의자 참고 — 예상 질문 &amp; 답변</a:t>
            </a:r>
          </a:p>
          <a:p/>
          <a:p>
            <a:r>
              <a:t>| 예상 질문 | 답변 가이드 |</a:t>
            </a:r>
          </a:p>
          <a:p>
            <a:r>
              <a:t>|---|---|</a:t>
            </a:r>
          </a:p>
          <a:p>
            <a:r>
              <a:t>| "Declarative Pipeline 말고 다른 방식도 있나요?" | Scripted Pipeline이라는 더 자유로운 문법도 있습니다. 하지만 Declarative가 더 읽기 쉽고 표준적이라 실무에서도 더 널리 쓰이며, 이 과목에서는 Declarative만 다룹니다. |</a:t>
            </a:r>
          </a:p>
          <a:p>
            <a:r>
              <a:t>| "agent any 말고 다른 옵션도 있나요?" | 특정 서버나 특정 라벨이 붙은 에이전트를 지정할 수도 있습니다. 이 과목에서는 별도 에이전트를 구성하지 않으므로 항상 `any`를 씁니다. |</a:t>
            </a:r>
          </a:p>
          <a:p>
            <a:r>
              <a:t>| "Jenkinsfile은 어디에 저장하나요?" | 보통 프로젝트의 GitHub 저장소 안에 `Jenkinsfile`이라는 이름으로 함께 저장합니다. 다음 3차시에 이 방식(저장소 안의 Jenkinsfile을 Jenkins가 직접 읽어오는 방식)을 배웁니다. |</a:t>
            </a:r>
          </a:p>
          <a:p>
            <a:r>
              <a:t>| "Killercoda 링크가 언제 만들어졌는지에 따라 제한 시간이 달라지나요?" | 아니요. 60분 타이머는 링크 생성 시점이 아니라 각 학생이 시나리오를 '시작'한 순간부터 개별적으로 시작됩니다. 링크 자체는 만료되지 않으므로, 비동기로 늦게 접속하거나 여러 학생이 같은 링크를 써도 각자 독립된 환경과 타이머를 받습니다.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클라우드인프라관리  ·  12주차 1차시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Declarative Pipeline 문법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빌드 과정을 클릭이 아니라 코드로 선언한다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영남이공대학교 김지윤교수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1.  Freestyle Job과 Pipeline(Jenkinsfile) 방식의 차이를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2.  Declarative Pipeline의 기본 구조(pipeline·stages·steps)를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3.  Stage·환경변수·Credential이 파이프라인에서 하는 역할을 이해한다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12주차 1차시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개념 설명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강의자료 기반 직접 강의</a:t>
            </a:r>
          </a:p>
        </p:txBody>
      </p:sp>
      <p:sp>
        <p:nvSpPr>
          <p:cNvPr id="14" name="Oval 13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Killercoda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뼈대 Jenkinsfile 빈칸 채우기</a:t>
            </a:r>
          </a:p>
        </p:txBody>
      </p:sp>
      <p:sp>
        <p:nvSpPr>
          <p:cNvPr id="19" name="Oval 18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VM 안내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다음 차시 실습 예고</a:t>
            </a:r>
          </a:p>
        </p:txBody>
      </p:sp>
      <p:sp>
        <p:nvSpPr>
          <p:cNvPr id="24" name="Oval 23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결과 제출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체크리스트 제출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12주차 1차시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03 / 13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왜 Jenkinsfile로 옮겨가는가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클릭 설정의 한계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1 · Pipeline이 필요한 이유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Freestyle Job의 한계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11주차 hello-jenkins는 화면에서 클릭으로 설정 — 다른 사람과 그 설정을 공유하기 어려움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빌드 단계가 늘어날수록(체크아웃→빌드→푸시→배포) 화면 설정만으로는 복잡해짐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설정을 코드로 관리하면 Git으로 버전 관리, 리뷰, 재사용이 가능해짐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💡  Jenkinsfile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Jenkins의 빌드 파이프라인을 코드(텍스트 파일)로 선언하는 방식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12주차 1차시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05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Declarative Pipeline 문법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가장 표준적인 Jenkinsfile 작성 방식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2 · Pipeline 문법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Jenkinsfile의 기본 뼈대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pipeline { } — 전체를 감싸는 최상위 블록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agent any — 이 파이프라인을 어떤 서버(에이전트)에서 실행할지 지정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stages { stage("이름") { steps { ... } } } — 단계별 작업을 순서대로 나열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기본 뼈대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pipeline {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agent any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stages {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  stage("Build") {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    steps { ... }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  }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}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12주차 1차시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07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2 · Pipeline 문법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Stage로 단계 나누기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하나의 파이프라인을 여러 stage로 나눠서 각 단계가 무슨 일을 하는지 명확히 표현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예: Checkout(코드 받기) → Build(빌드) → Push(업로드) → Deploy(배포)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Jenkins UI에서 각 stage가 성공했는지 실패했는지 시각적으로 확인 가능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12주차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08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2 · Pipeline 문법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환경변수와 Credential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environment { } — 파이프라인 전체에서 쓸 환경변수를 선언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$BUILD_NUMBER 같은 Jenkins 기본 제공 변수도 자동으로 사용 가능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withCredentials { } — Docker Hub 비밀번호 같은 민감정보를 코드에 노출하지 않고 안전하게 사용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12주차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09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Killercoda — 뼈대 Jenkinsfile 빈칸 채우기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pipeline·agent·stages 빈칸이 있는 Jenkinsfile 템플릿 제공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echo 로그를 출력하는 3단계(예: Start → Process → Done)를 스스로 완성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Job에 Jenkinsfile을 연결해 Build Now로 실행하고 Console Output에서 단계별 로그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12주차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VM 안내 — 다음 차시 예고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오늘은 문법 위주였고, 개인 VM에는 아직 Jenkinsfile을 적용하지 않습니다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다음 2차시에 실제 Jenkinsfile을 작성해 VM Jenkins에서 수동 빌드(Build Now)로 실행합니다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11주차에 만든 hello-jenkins Job은 그대로 남겨두세요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12주차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Jenkinsfile은 빌드 파이프라인을 코드로 선언해 버전 관리·재사용이 가능하게 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pipeline → stages → steps 구조로 단계를 나누고, environment·withCredentials로 변수와 민감정보를 다룬다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다음 차시 예고 — 12주차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직접 Jenkinsfile을 작성해서 VM의 Jenkins Job에 연결하고, Build Now로 수동 빌드를 실행해봅니다.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