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331720"/>
            <a:ext cx="1005840" cy="6400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4173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4B8A6"/>
                </a:solidFill>
                <a:latin typeface="맑은 고딕"/>
              </a:rPr>
              <a:t>클라우드인프라관리  ·  12주차 1차시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2514600"/>
            <a:ext cx="10332720" cy="1737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FFFFF"/>
                </a:solidFill>
                <a:latin typeface="맑은 고딕"/>
              </a:rPr>
              <a:t>Declarative Pipeline 문법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16052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C9D3E6"/>
                </a:solidFill>
                <a:latin typeface="맑은 고딕"/>
              </a:rPr>
              <a:t>빌드 과정을 클릭이 아니라 코드로 선언한다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오늘의 학습 목표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108813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1.  Freestyle Job과 Pipeline(Jenkinsfile) 방식의 차이를 이해한다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2.  Declarative Pipeline의 기본 구조(pipeline·stages·steps)를 이해한다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3.  Stage·환경변수·Credential이 파이프라인에서 하는 역할을 이해한다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1차시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02 / 13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SESSION 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12주차 1차시 진행 순서</a:t>
            </a:r>
          </a:p>
        </p:txBody>
      </p:sp>
      <p:sp>
        <p:nvSpPr>
          <p:cNvPr id="6" name="Rectangle 5"/>
          <p:cNvSpPr/>
          <p:nvPr/>
        </p:nvSpPr>
        <p:spPr>
          <a:xfrm>
            <a:off x="1177747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1177747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314907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① 개념 설명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14907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강의자료 기반 직접 강의</a:t>
            </a:r>
          </a:p>
        </p:txBody>
      </p:sp>
      <p:sp>
        <p:nvSpPr>
          <p:cNvPr id="10" name="Rectangle 9"/>
          <p:cNvSpPr/>
          <p:nvPr/>
        </p:nvSpPr>
        <p:spPr>
          <a:xfrm>
            <a:off x="3430828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3763670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3763670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900830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② Killercoda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900830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뼈대 Jenkinsfile 빈칸 채우기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16751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49593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349593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6753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③ VM 안내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86753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다음 차시 실습 예고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602675" y="3273552"/>
            <a:ext cx="128016" cy="219456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935516" y="1828800"/>
            <a:ext cx="2048256" cy="3108960"/>
          </a:xfrm>
          <a:prstGeom prst="rect">
            <a:avLst/>
          </a:prstGeom>
          <a:solidFill>
            <a:srgbClr val="FFFFFF"/>
          </a:solidFill>
          <a:ln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935516" y="1828800"/>
            <a:ext cx="2048256" cy="109728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72676" y="2148840"/>
            <a:ext cx="1773936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213D"/>
                </a:solidFill>
                <a:latin typeface="맑은 고딕"/>
              </a:rPr>
              <a:t>④ 결과 제출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72676" y="2834640"/>
            <a:ext cx="1773936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733"/>
                </a:solidFill>
                <a:latin typeface="맑은 고딕"/>
              </a:rPr>
              <a:t>체크리스트 제출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1차시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03 / 13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왜 Jenkinsfile로 옮겨가는가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클릭 설정의 한계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1 · Pipeline이 필요한 이유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Freestyle Job의 한계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1088136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11주차 hello-jenkins는 화면에서 클릭으로 설정 — 다른 사람과 그 설정을 공유하기 어려움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빌드 단계가 늘어날수록(체크아웃→빌드→푸시→배포) 화면 설정만으로는 복잡해짐</a:t>
            </a:r>
          </a:p>
          <a:p>
            <a:pPr>
              <a:lnSpc>
                <a:spcPct val="115000"/>
              </a:lnSpc>
            </a:pPr>
            <a:r>
              <a:rPr sz="17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700" b="0">
                <a:solidFill>
                  <a:srgbClr val="222733"/>
                </a:solidFill>
                <a:latin typeface="맑은 고딕"/>
              </a:rPr>
              <a:t>설정을 코드로 관리하면 Git으로 버전 관리, 리뷰, 재사용이 가능해짐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5074920"/>
            <a:ext cx="10881360" cy="114300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5193792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맑은 고딕"/>
              </a:rPr>
              <a:t>💡  Jenkinsfile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557784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맑은 고딕"/>
              </a:rPr>
              <a:t>Jenkins의 빌드 파이프라인을 코드(텍스트 파일)로 선언하는 방식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05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822960" y="2194560"/>
            <a:ext cx="137160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PART 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71800"/>
            <a:ext cx="100584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맑은 고딕"/>
              </a:rPr>
              <a:t>Declarative Pipeline 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97763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C9D3E6"/>
                </a:solidFill>
                <a:latin typeface="맑은 고딕"/>
              </a:rPr>
              <a:t>가장 표준적인 Jenkinsfile 작성 방식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Pipeline 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Jenkinsfile의 기본 뼈대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463040"/>
            <a:ext cx="539496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pipeline { } — 전체를 감싸는 최상위 블록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agent any — 이 파이프라인을 어떤 서버(에이전트)에서 실행할지 지정</a:t>
            </a:r>
          </a:p>
          <a:p>
            <a:pPr>
              <a:lnSpc>
                <a:spcPct val="115000"/>
              </a:lnSpc>
            </a:pPr>
            <a:r>
              <a:rPr sz="15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500" b="0">
                <a:solidFill>
                  <a:srgbClr val="222733"/>
                </a:solidFill>
                <a:latin typeface="맑은 고딕"/>
              </a:rPr>
              <a:t>stages { stage("이름") { steps { ... } } } — 단계별 작업을 순서대로 나열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92240" y="1764792"/>
            <a:ext cx="4846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4213D"/>
                </a:solidFill>
                <a:latin typeface="맑은 고딕"/>
              </a:rPr>
              <a:t>기본 뼈대</a:t>
            </a:r>
          </a:p>
        </p:txBody>
      </p:sp>
      <p:sp>
        <p:nvSpPr>
          <p:cNvPr id="9" name="Rectangle 8"/>
          <p:cNvSpPr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solidFill>
            <a:srgbClr val="0D948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92240" y="2148840"/>
            <a:ext cx="484632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맑은 고딕"/>
              </a:rPr>
              <a:t>pipeline { agent any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1차시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07 / 13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Pipeline 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Stage로 단계 나누기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하나의 파이프라인을 여러 stage로 나눠서 각 단계가 무슨 일을 하는지 명확히 표현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예: Checkout(코드 받기) → Build(빌드) → Push(업로드) → Deploy(배포)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Jenkins UI에서 각 stage가 성공했는지 실패했는지 시각적으로 확인 가능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08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PART 2 · Pipeline 문법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환경변수와 Credential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environment { } — 파이프라인 전체에서 쓸 환경변수를 선언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$BUILD_NUMBER 같은 Jenkins 기본 제공 변수도 자동으로 사용 가능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withCredentials { } — Docker Hub 비밀번호 같은 민감정보를 코드에 노출하지 않고 안전하게 사용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09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Killercoda — 뼈대 Jenkinsfile 빈칸 채우기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pipeline·agent·stages 빈칸이 있는 Jenkinsfile 템플릿 제공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echo 로그를 출력하는 3단계(예: Start → Process → Done)를 스스로 완성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Job에 Jenkinsfile을 연결해 Build Now로 실행하고 Console Output에서 단계별 로그 확인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10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051560"/>
            <a:ext cx="12191695" cy="36576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57200" y="256032"/>
            <a:ext cx="777240" cy="54864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17320" y="146304"/>
            <a:ext cx="10241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14B8A6"/>
                </a:solidFill>
                <a:latin typeface="맑은 고딕"/>
              </a:rPr>
              <a:t>실습 안내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17320" y="457200"/>
            <a:ext cx="102412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500" b="1">
                <a:solidFill>
                  <a:srgbClr val="FFFFFF"/>
                </a:solidFill>
                <a:latin typeface="맑은 고딕"/>
              </a:rPr>
              <a:t>VM 안내 — 다음 차시 예고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508760"/>
            <a:ext cx="108813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오늘은 문법 위주였고, 개인 VM에는 아직 Jenkinsfile을 적용하지 않습니다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다음 2차시에 실제 Jenkinsfile을 작성해 VM Jenkins에서 수동 빌드(Build Now)로 실행합니다</a:t>
            </a:r>
          </a:p>
          <a:p>
            <a:pPr>
              <a:lnSpc>
                <a:spcPct val="115000"/>
              </a:lnSpc>
            </a:pPr>
            <a:r>
              <a:rPr sz="1800" b="1">
                <a:solidFill>
                  <a:srgbClr val="0D9488"/>
                </a:solidFill>
                <a:latin typeface="맑은 고딕"/>
              </a:rPr>
              <a:t>●  </a:t>
            </a:r>
            <a:r>
              <a:rPr sz="1800" b="0">
                <a:solidFill>
                  <a:srgbClr val="222733"/>
                </a:solidFill>
                <a:latin typeface="맑은 고딕"/>
              </a:rPr>
              <a:t>11주차에 만든 hello-jenkins Job은 그대로 남겨두세요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528816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클라우드인프라관리  ·  12주차 1차시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607040" y="6528816"/>
            <a:ext cx="11887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B6373"/>
                </a:solidFill>
                <a:latin typeface="맑은 고딕"/>
              </a:rPr>
              <a:t>11 / 13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6473952"/>
            <a:ext cx="11274552" cy="9144"/>
          </a:xfrm>
          <a:prstGeom prst="rect">
            <a:avLst/>
          </a:prstGeom>
          <a:solidFill>
            <a:srgbClr val="E3E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오늘의 정리</a:t>
            </a:r>
          </a:p>
        </p:txBody>
      </p:sp>
      <p:sp>
        <p:nvSpPr>
          <p:cNvPr id="5" name="Rectangle 4"/>
          <p:cNvSpPr/>
          <p:nvPr/>
        </p:nvSpPr>
        <p:spPr>
          <a:xfrm>
            <a:off x="822960" y="164592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0" y="1691640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Jenkinsfile은 빌드 파이프라인을 코드로 선언해 버전 관리·재사용이 가능하게 한다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423160"/>
            <a:ext cx="457200" cy="4572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600" b="1">
                <a:solidFill>
                  <a:srgbClr val="14213D"/>
                </a:solidFill>
                <a:latin typeface="맑은 고딕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463040" y="2468879"/>
            <a:ext cx="9601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맑은 고딕"/>
              </a:rPr>
              <a:t>pipeline → stages → steps 구조로 단계를 나누고, environment·withCredentials로 변수와 민감정보를 다룬다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1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14B8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64008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맑은 고딕"/>
              </a:rPr>
              <a:t>다음 차시 예고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1560" y="164592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14B8A6"/>
                </a:solidFill>
                <a:latin typeface="맑은 고딕"/>
              </a:rPr>
              <a:t>다음 차시 예고 — 12주차 2차시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" y="210312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0">
                <a:solidFill>
                  <a:srgbClr val="FFFFFF"/>
                </a:solidFill>
                <a:latin typeface="맑은 고딕"/>
              </a:rPr>
              <a:t>직접 Jenkinsfile을 작성해서 VM의 Jenkins Job에 연결하고, Build Now로 수동 빌드를 실행해봅니다.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