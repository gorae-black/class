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331720"/>
            <a:ext cx="10058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4B8A6"/>
                </a:solidFill>
                <a:latin typeface="맑은 고딕"/>
              </a:rPr>
              <a:t>클라우드인프라관리  ·  2주차 2차시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10332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맑은 고딕"/>
              </a:rPr>
              <a:t>Bind Mount로 데이터 지키기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605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C9D3E6"/>
                </a:solidFill>
                <a:latin typeface="맑은 고딕"/>
              </a:rPr>
              <a:t>컨테이너와 VM 디렉토리를 연결하는 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9893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맑은 고딕"/>
              </a:rPr>
              <a:t>담당교수  김지윤</a:t>
            </a:r>
          </a:p>
        </p:txBody>
      </p:sp>
      <p:sp>
        <p:nvSpPr>
          <p:cNvPr id="9" name="Rectangle 8"/>
          <p:cNvSpPr/>
          <p:nvPr/>
        </p:nvSpPr>
        <p:spPr>
          <a:xfrm>
            <a:off x="9509760" y="5943600"/>
            <a:ext cx="18288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4213D"/>
                </a:solidFill>
                <a:latin typeface="맑은 고딕"/>
              </a:rPr>
              <a:t>강의용(교수자 시연)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0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2000" b="0">
                <a:solidFill>
                  <a:srgbClr val="222733"/>
                </a:solidFill>
                <a:latin typeface="맑은 고딕"/>
              </a:rPr>
              <a:t>1.  컨테이너를 지우면 데이터가 왜 사라지는지 이해한다</a:t>
            </a:r>
          </a:p>
          <a:p>
            <a:pPr>
              <a:lnSpc>
                <a:spcPct val="115000"/>
              </a:lnSpc>
            </a:pPr>
            <a:r>
              <a:rPr sz="20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2000" b="0">
                <a:solidFill>
                  <a:srgbClr val="222733"/>
                </a:solidFill>
                <a:latin typeface="맑은 고딕"/>
              </a:rPr>
              <a:t>2.  Bind Mount 개념을 이해한다</a:t>
            </a:r>
          </a:p>
          <a:p>
            <a:pPr>
              <a:lnSpc>
                <a:spcPct val="115000"/>
              </a:lnSpc>
            </a:pPr>
            <a:r>
              <a:rPr sz="20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2000" b="0">
                <a:solidFill>
                  <a:srgbClr val="222733"/>
                </a:solidFill>
                <a:latin typeface="맑은 고딕"/>
              </a:rPr>
              <a:t>3.  -v 옵션으로 VM 디렉토리와 컨테이너를 직접 연결해본다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2주차 2차시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02 / 12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진행 순서 (60분)</a:t>
            </a:r>
          </a:p>
        </p:txBody>
      </p:sp>
      <p:sp>
        <p:nvSpPr>
          <p:cNvPr id="6" name="Rectangle 5"/>
          <p:cNvSpPr/>
          <p:nvPr/>
        </p:nvSpPr>
        <p:spPr>
          <a:xfrm>
            <a:off x="1177747" y="1828800"/>
            <a:ext cx="2048256" cy="310896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7747" y="1828800"/>
            <a:ext cx="2048256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14907" y="2148840"/>
            <a:ext cx="17739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① 개념 설명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14907" y="2834640"/>
            <a:ext cx="177393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D9488"/>
                </a:solidFill>
                <a:latin typeface="맑은 고딕"/>
              </a:rPr>
              <a:t>25분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14907" y="3566160"/>
            <a:ext cx="177393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733"/>
                </a:solidFill>
                <a:latin typeface="맑은 고딕"/>
              </a:rPr>
              <a:t>강의자료 기반 직접 강의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30828" y="3273552"/>
            <a:ext cx="128016" cy="219456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763670" y="1828800"/>
            <a:ext cx="2048256" cy="310896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763670" y="1828800"/>
            <a:ext cx="2048256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900830" y="2148840"/>
            <a:ext cx="17739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② Killercoda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00830" y="2834640"/>
            <a:ext cx="177393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D9488"/>
                </a:solidFill>
                <a:latin typeface="맑은 고딕"/>
              </a:rPr>
              <a:t>15분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00830" y="3566160"/>
            <a:ext cx="177393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733"/>
                </a:solidFill>
                <a:latin typeface="맑은 고딕"/>
              </a:rPr>
              <a:t>Bind Mount 실습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16751" y="3273552"/>
            <a:ext cx="128016" cy="219456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49593" y="1828800"/>
            <a:ext cx="2048256" cy="310896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49593" y="1828800"/>
            <a:ext cx="2048256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86753" y="2148840"/>
            <a:ext cx="17739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③ VM 안내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86753" y="2834640"/>
            <a:ext cx="177393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D9488"/>
                </a:solidFill>
                <a:latin typeface="맑은 고딕"/>
              </a:rPr>
              <a:t>5분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86753" y="3566160"/>
            <a:ext cx="177393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733"/>
                </a:solidFill>
                <a:latin typeface="맑은 고딕"/>
              </a:rPr>
              <a:t>VM에서 동일 실습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602675" y="3273552"/>
            <a:ext cx="128016" cy="219456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935516" y="1828800"/>
            <a:ext cx="2048256" cy="310896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35516" y="1828800"/>
            <a:ext cx="2048256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72676" y="2148840"/>
            <a:ext cx="17739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④ 결과 제출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72676" y="2834640"/>
            <a:ext cx="177393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D9488"/>
                </a:solidFill>
                <a:latin typeface="맑은 고딕"/>
              </a:rPr>
              <a:t>5분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72676" y="3566160"/>
            <a:ext cx="177393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733"/>
                </a:solidFill>
                <a:latin typeface="맑은 고딕"/>
              </a:rPr>
              <a:t>체크리스트 제출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2주차 2차시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03 / 12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컨테이너 데이터의 문제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지우면 사라진다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컨테이너 데이터의 문제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컨테이너 안 데이터는 왜 사라질까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컨테이너의 파일시스템은 컨테이너 자신에게 속함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지난 시간에 배운 대로, docker rm은 그 컨테이너를 완전히 제거함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컨테이너가 사라지면 그 안에 쓴 파일도 함께 사라짐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074920"/>
            <a:ext cx="10881360" cy="1143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93792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</a:rPr>
              <a:t>❗  실무에서는 치명적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맑은 고딕"/>
              </a:rPr>
              <a:t>웹 서버 컨테이너를 재배포할 때마다 사용자 데이터가 날아간다면 서비스가 불가능하다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2주차 2차시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05 / 12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Bind Mount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VM 디렉토리를 컨테이너에 연결하기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Bind Mount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Bind Mount란?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53949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VM(호스트)의 특정 디렉토리를 컨테이너 내부 경로에 그대로 연결</a:t>
            </a:r>
          </a:p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컨테이너에서 그 경로에 쓴 파일 = VM에 실제로 저장된 파일</a:t>
            </a:r>
          </a:p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컨테이너를 지워도 VM에 있는 원본 데이터는 그대로 남음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764792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연결 구조</a:t>
            </a:r>
          </a:p>
        </p:txBody>
      </p:sp>
      <p:sp>
        <p:nvSpPr>
          <p:cNvPr id="9" name="Rectangle 8"/>
          <p:cNvSpPr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VM: ~/html 디렉토리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↕  (Bind Mount)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solidFill>
            <a:srgbClr val="2233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컨테이너: /usr/share/nginx/html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2주차 2차시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07 / 12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Bind Mount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-v 옵션 문법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docker run -v {VM 경로}:{컨테이너 경로} {이미지}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예: -v ~/html:/usr/share/nginx/html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콜론(:) 왼쪽 = VM 쪽 경로, 오른쪽 = 컨테이너 안 경로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nginx는 /usr/share/nginx/html 안의 파일을 웹 페이지로 보여줌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2주차 2차시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08 /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Killercoda — Bind Mount 실습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mkdir -p ~/html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echo '&lt;h1&gt;Hello Cloud!&lt;/h1&gt;' &gt; ~/html/index.html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docker run -d -p 8080:80 -v ~/html:/usr/share/nginx/html --name webvol nginx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curl localhost:8080  →  "Hello Cloud!" 출력 확인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2주차 2차시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09 /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VM 과제 — 동일 실습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개인 VM에서 위 4단계를 동일하게 수행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curl 결과 화면 캡처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LMS 과제 게시판에 제출 (다음 3차시에 이어서 실습 예정 — 컨테이너 지우지 말고 그대로 두기)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2주차 2차시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10 /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오늘의 정리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4592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6916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컨테이너를 지우면 그 안의 데이터도 함께 사라진다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42316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46887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Bind Mount로 VM 디렉토리와 컨테이너를 연결하면 데이터가 VM에 남는다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다음 차시 예고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64592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B8A6"/>
                </a:solidFill>
                <a:latin typeface="맑은 고딕"/>
              </a:rPr>
              <a:t>다음 차시 예고 — 2주차 3차시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10312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맑은 고딕"/>
              </a:rPr>
              <a:t>오늘 만든 webvol 컨테이너로 HTML 파일을 수정하면 웹 화면에 실시간으로 반영되는지 확인하고, Named Volume과 Bind Mount를 비교합니다.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