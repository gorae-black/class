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"9주차 2차시를 시작하겠습니다.</a:t>
            </a:r>
          </a:p>
          <a:p/>
          <a:p>
            <a:r>
              <a:t>지난 시간에 IaC가 뭔지, Terraform이 어떻게 동작하는지 개념으로 배웠는데요, 오늘은 실제로 여러분의</a:t>
            </a:r>
          </a:p>
          <a:p>
            <a:r>
              <a:t>VM에 Terraform을 설치하고, 직접 HCL 코드를 작성해서 Docker 컨테이너를 배포해보겠습니다."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개인 VM에 Terraform을 직접 설치하고,</a:t>
            </a:r>
          </a:p>
          <a:p>
            <a:r>
              <a:t>둘째, HCL의 기본 문법 구조(provider·resource)를 이해하고,</a:t>
            </a:r>
          </a:p>
          <a:p>
            <a:r>
              <a:t>셋째 — 오늘 직접 해볼 건데 — init/plan/apply로 실제 Docker 컨테이너를 코드로 배포합니다."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Killercoda, 5분 안내, 5분 제출입니다."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Terraform 설치]</a:t>
            </a:r>
          </a:p>
          <a:p/>
          <a:p>
            <a:r>
              <a:t>"먼저 VM에 Terraform을 설치하는 방법부터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[apt 저장소 등록 후 설치]</a:t>
            </a:r>
          </a:p>
          <a:p/>
          <a:p>
            <a:r>
              <a:t>"Terraform은 HashiCorp라는 회사가 공식으로 apt 저장소를 제공합니다. 순서는 이렇습니다.</a:t>
            </a:r>
          </a:p>
          <a:p/>
          <a:p>
            <a:r>
              <a:t>먼저 HashiCorp의 공식 GPG 키를 등록하고, 그다음 apt 저장소 목록에 HashiCorp 저장소를 추가한 뒤,</a:t>
            </a:r>
          </a:p>
          <a:p>
            <a:r>
              <a:t>`apt-get install`로 설치합니다.</a:t>
            </a:r>
          </a:p>
          <a:p/>
          <a:p>
            <a:r>
              <a:t>화면에 나온 명령어를 그대로 실행하시면 됩니다.</a:t>
            </a:r>
          </a:p>
          <a:p/>
          <a:p>
            <a:r>
              <a:t>```</a:t>
            </a:r>
          </a:p>
          <a:p>
            <a:r>
              <a:t>wget -O- https://apt.releases.hashicorp.com/gpg | \</a:t>
            </a:r>
          </a:p>
          <a:p>
            <a:r>
              <a:t>  sudo gpg --dearmor -o /usr/share/keyrings/hashicorp-archive-keyring.gpg</a:t>
            </a:r>
          </a:p>
          <a:p>
            <a:r>
              <a:t>echo "deb [signed-by=/usr/share/keyrings/hashicorp-archive-keyring.gpg] https://apt.releases.hashicorp.com $(lsb_release -cs) main" | \</a:t>
            </a:r>
          </a:p>
          <a:p>
            <a:r>
              <a:t>  sudo tee /etc/apt/sources.list.d/hashicorp.list</a:t>
            </a:r>
          </a:p>
          <a:p>
            <a:r>
              <a:t>sudo apt-get update &amp;&amp; sudo apt-get install -y terraform</a:t>
            </a:r>
          </a:p>
          <a:p>
            <a:r>
              <a:t>```</a:t>
            </a:r>
          </a:p>
          <a:p/>
          <a:p>
            <a:r>
              <a:t>설치가 끝나면 `terraform -version`으로 정상 설치됐는지 확인합니다.</a:t>
            </a:r>
          </a:p>
          <a:p/>
          <a:p>
            <a:r>
              <a:t>**(안심시키기)** 이 명령어들은 이미 여러 번 검증된 명령어이니 그대로 따라 치시면 문제없이</a:t>
            </a:r>
          </a:p>
          <a:p>
            <a:r>
              <a:t>설치됩니다."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HCL 문법]</a:t>
            </a:r>
          </a:p>
          <a:p/>
          <a:p>
            <a:r>
              <a:t>"설치가 끝났다고 가정하고, 이제 HCL 코드를 어떻게 쓰는지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[HCL 코드의 두 가지 핵심 블록]</a:t>
            </a:r>
          </a:p>
          <a:p/>
          <a:p>
            <a:r>
              <a:t>"HCL 코드는 크게 두 가지 블록으로 구성됩니다.</a:t>
            </a:r>
          </a:p>
          <a:p/>
          <a:p>
            <a:r>
              <a:t>**provider** 블록 — 어떤 인프라를 다룰지 선언합니다. 오늘은 `provider \"docker\" {}`처럼 Docker를</a:t>
            </a:r>
          </a:p>
          <a:p>
            <a:r>
              <a:t>다루겠다고 선언합니다.</a:t>
            </a:r>
          </a:p>
          <a:p/>
          <a:p>
            <a:r>
              <a:t>**resource** 블록 — 실제로 만들고 싶은 대상을 선언합니다. `resource \"타입\" \"이름\" { 속성들 }`</a:t>
            </a:r>
          </a:p>
          <a:p>
            <a:r>
              <a:t>형태로 씁니다.</a:t>
            </a:r>
          </a:p>
          <a:p/>
          <a:p>
            <a:r>
              <a:t>**(구조 강조)** 이 두 블록의 관계를 정리하면 — provider가 '어떤 세계에서 놀 것인가'를 정하고,</a:t>
            </a:r>
          </a:p>
          <a:p>
            <a:r>
              <a:t>resource가 '그 세계에서 무엇을 만들 것인가'를 정하는 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[main.tf 예시 — Docker 컨테이너 선언]</a:t>
            </a:r>
          </a:p>
          <a:p/>
          <a:p>
            <a:r>
              <a:t>"실제 예시를 보겠습니다.</a:t>
            </a:r>
          </a:p>
          <a:p/>
          <a:p>
            <a:r>
              <a:t>```hcl</a:t>
            </a:r>
          </a:p>
          <a:p>
            <a:r>
              <a:t>resource "docker_container" "web" {</a:t>
            </a:r>
          </a:p>
          <a:p>
            <a:r>
              <a:t>  name  = "tf-nginx"</a:t>
            </a:r>
          </a:p>
          <a:p>
            <a:r>
              <a:t>  image = "nginx:latest"</a:t>
            </a:r>
          </a:p>
          <a:p>
            <a:r>
              <a:t>  ports { internal = 80; external = 8080 }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이 코드를 하나씩 읽어볼게요. `docker_container`가 리소스 타입, `web`이 이 리소스를 Terraform</a:t>
            </a:r>
          </a:p>
          <a:p>
            <a:r>
              <a:t>안에서 부르는 이름입니다(실제 컨테이너 이름과는 별개예요). 그 안에 `name`(실제 컨테이너 이름),</a:t>
            </a:r>
          </a:p>
          <a:p>
            <a:r>
              <a:t>`image`(사용할 이미지), `ports`(포트 매핑)를 지정합니다.</a:t>
            </a:r>
          </a:p>
          <a:p/>
          <a:p>
            <a:r>
              <a:t>**(3주차 연결)** `image = \"nginx:latest\"` 이 부분, 3주차에서 `docker run` 할 때 쓰던 이미지</a:t>
            </a:r>
          </a:p>
          <a:p>
            <a:r>
              <a:t>이름과 똑같은 개념입니다. 다만 이번엔 명령어가 아니라 코드로 선언한다는 게 다르죠."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[init → plan → apply 실전 흐름]</a:t>
            </a:r>
          </a:p>
          <a:p/>
          <a:p>
            <a:r>
              <a:t>"이제 이 코드를 실제로 실행하는 흐름입니다.</a:t>
            </a:r>
          </a:p>
          <a:p/>
          <a:p>
            <a:r>
              <a:t>`terraform init` — main.tf에 `docker` Provider가 필요하다고 선언되어 있으니, 이걸 다운로드합니다.</a:t>
            </a:r>
          </a:p>
          <a:p/>
          <a:p>
            <a:r>
              <a:t>`terraform plan` — \"docker_container.web을 새로 만들 예정입니다\"라는 견적을 보여줍니다. 이</a:t>
            </a:r>
          </a:p>
          <a:p>
            <a:r>
              <a:t>단계에서는 아직 아무것도 실행되지 않습니다.</a:t>
            </a:r>
          </a:p>
          <a:p/>
          <a:p>
            <a:r>
              <a:t>`terraform apply -auto-approve` — 실제로 컨테이너를 생성합니다. `-auto-approve`는 '진행할까요?'라는</a:t>
            </a:r>
          </a:p>
          <a:p>
            <a:r>
              <a:t>확인 질문을 건너뛰는 옵션입니다.</a:t>
            </a:r>
          </a:p>
          <a:p/>
          <a:p>
            <a:r>
              <a:t>마지막으로 `docker ps`를 쳐서 `tf-nginx`라는 이름의 컨테이너가 떠 있는지 확인하면 끝입니다."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HCL 문법 빈칸 채우기]</a:t>
            </a:r>
          </a:p>
          <a:p/>
          <a:p>
            <a:r>
              <a:t>"자, 직접 해보겠습니다. 뼈대만 있는 main.tf 파일에서 provider와 resource 블록의 빈칸을 채워서</a:t>
            </a:r>
          </a:p>
          <a:p>
            <a:r>
              <a:t>완성하세요.</a:t>
            </a:r>
          </a:p>
          <a:p/>
          <a:p>
            <a:r>
              <a:t>완성했으면 `terraform init` → `terraform plan` → `terraform apply` 순서로 실행해서 결과를</a:t>
            </a:r>
          </a:p>
          <a:p>
            <a:r>
              <a:t>확인하세요.</a:t>
            </a:r>
          </a:p>
          <a:p/>
          <a:p>
            <a:r>
              <a:t>**(이해도 확인)** 완성한 코드가 어떤 리소스를 만드는지 스스로 한 번 설명해보세요. 단순히 빈칸을</a:t>
            </a:r>
          </a:p>
          <a:p>
            <a:r>
              <a:t>채우는 게 아니라, 그 코드가 무슨 의미인지 이해하는 게 목표입니다.</a:t>
            </a:r>
          </a:p>
          <a:p/>
          <a:p>
            <a:r>
              <a:t>**(화면 공유해 실제로 시연)** 제가 먼저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안내 — 설치 + Docker Provider 배포]</a:t>
            </a:r>
          </a:p>
          <a:p/>
          <a:p>
            <a:r>
              <a:t>"개인 VM에서 오늘 배운 전체 과정을 그대로 진행합니다.</a:t>
            </a:r>
          </a:p>
          <a:p/>
          <a:p>
            <a:r>
              <a:t>먼저 Terraform 설치 명령어를 그대로 실행하세요(`04_템플릿코드`에 설치 스크립트를 올려두었습니다).</a:t>
            </a:r>
          </a:p>
          <a:p>
            <a:r>
              <a:t>그다음 main.tf를 작성하고(`docker_container` 리소스), `terraform init` → `terraform plan` →</a:t>
            </a:r>
          </a:p>
          <a:p>
            <a:r>
              <a:t>`terraform apply -auto-approve`를 실행하세요.</a:t>
            </a:r>
          </a:p>
          <a:p/>
          <a:p>
            <a:r>
              <a:t>`docker ps`로 `tf-nginx` 컨테이너가 떠 있는 화면을 캡처해서 제출하시면 됩니다.</a:t>
            </a:r>
          </a:p>
          <a:p/>
          <a:p>
            <a:r>
              <a:t>**(중요 — 다음 차시 예고)** 그리고 한 가지 꼭 안내해드릴 게 있는데요, 지금 만든 컨테이너를 지우지</a:t>
            </a:r>
          </a:p>
          <a:p>
            <a:r>
              <a:t>마세요. 다음 3차시에 이 컨테이너를 `terraform destroy`로 지우는 실습을 이어서 할 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세 가지로 정리하겠습니다.</a:t>
            </a:r>
          </a:p>
          <a:p/>
          <a:p>
            <a:r>
              <a:t>첫째, **Terraform은 HashiCorp 공식 apt 저장소로 설치한다.**</a:t>
            </a:r>
          </a:p>
          <a:p>
            <a:r>
              <a:t>둘째, **HCL은 provider(무엇을 다룰지)와 resource(무엇을 만들지) 블록으로 인프라를 선언한다.**</a:t>
            </a:r>
          </a:p>
          <a:p>
            <a:r>
              <a:t>셋째, **init → plan → apply 순서로 코드를 실제 인프라로 만든다.**"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차시 예고]</a:t>
            </a:r>
          </a:p>
          <a:p/>
          <a:p>
            <a:r>
              <a:t>"다음 3차시에서는 오늘 만든 컨테이너를 `destroy`로 제거하고, Terraform이 인프라의 현재 상태를 어떻게</a:t>
            </a:r>
          </a:p>
          <a:p>
            <a:r>
              <a:t>기억하고 있는지 — State 파일이라는 개념을 살펴봅니다.</a:t>
            </a:r>
          </a:p>
          <a:p/>
          <a:p>
            <a:r>
              <a:t>오늘 수업은 여기까지입니다. Killercoda와 VM 실습 모두 완료해서 제출해주시고, 컨테이너는 지우지</a:t>
            </a:r>
          </a:p>
          <a:p>
            <a:r>
              <a:t>말고 남겨두세요. 궁금한 점은 LMS Q&amp;A 게시판에 남겨주세요. 수고하셨습니다!"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"apt-get install 중 오류가 나요" | 대부분 GPG 키 등록 경로나 저장소 목록 파일 경로 오타입니다. syllabus의 명령어를 한 글자도 빠짐없이 그대로 입력했는지 확인하고, `sudo apt-get update`를 다시 실행해보라고 안내하세요. |</a:t>
            </a:r>
          </a:p>
          <a:p>
            <a:r>
              <a:t>| "docker run과 뭐가 다른가요? 결과는 똑같은 nginx 컨테이너인데" | 결과물(컨테이너)은 같지만 과정이 다릅니다. `docker run`은 명령어를 실행하는 순간만 기록되고 재현하려면 같은 명령어를 다시 쳐야 하지만, Terraform은 코드 파일 자체가 '원하는 상태'로 남아있어서 언제든 같은 결과를 재현하거나, 코드를 고쳐서 변경 사항을 관리할 수 있습니다. |</a:t>
            </a:r>
          </a:p>
          <a:p>
            <a:r>
              <a:t>| "resource 이름(\"web\")과 실제 컨테이너 이름(\"tf-nginx\")이 왜 달라요?" | \"web\"은 Terraform 코드 안에서 이 리소스를 가리키는 식별자이고, `name = \"tf-nginx\"`가 실제로 Docker에 생성되는 컨테이너 이름입니다. 코드 안의 이름과 실제 인프라의 이름은 별개라는 걸 강조해주세요. |</a:t>
            </a:r>
          </a:p>
          <a:p>
            <a:r>
              <a:t>| "Killercoda 링크가 언제 만들어졌는지에 따라 제한 시간이 달라지나요?" | 아니요. 60분 타이머는 링크 생성 시점이 아니라 각 학생이 시나리오를 '시작'한 순간부터 개별적으로 시작됩니다. 링크 자체는 만료되지 않으므로, 비동기로 늦게 접속하거나 여러 학생이 같은 링크를 써도 각자 독립된 환경과 타이머를 받습니다.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클라우드인프라관리  ·  9주차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Terraform 설치와 HCL 문법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install → init → plan → apply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1.  개인 VM에 Terraform을 직접 설치한다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2.  HCL의 기본 문법 구조(provider·resource)를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3.  init/plan/apply로 실제 Docker 컨테이너를 코드로 배포한다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9주차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개념 설명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강의자료 기반 직접 강의</a:t>
            </a:r>
          </a:p>
        </p:txBody>
      </p:sp>
      <p:sp>
        <p:nvSpPr>
          <p:cNvPr id="14" name="Oval 13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Killercoda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HCL 문법 빈칸 채우기</a:t>
            </a:r>
          </a:p>
        </p:txBody>
      </p:sp>
      <p:sp>
        <p:nvSpPr>
          <p:cNvPr id="19" name="Oval 18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VM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설치+배포 실습</a:t>
            </a:r>
          </a:p>
        </p:txBody>
      </p:sp>
      <p:sp>
        <p:nvSpPr>
          <p:cNvPr id="24" name="Oval 23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결과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9주차 2차시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03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Terraform 설치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공식 HashiCorp 저장소로 설치한다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Terraform 설치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apt 저장소 등록 후 설치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HashiCorp 공식 GPG 키 등록 → apt 저장소 목록에 추가 → apt install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wget -O- https://apt.releases.hashicorp.com/gpg | sudo gpg --dearmor -o /usr/share/keyrings/hashicorp-archive-keyring.gpg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echo "deb [signed-by=/usr/share/keyrings/hashicorp-archive-keyring.gpg] https://apt.releases.hashicorp.com $(lsb_release -cs) main" | sudo tee /etc/apt/sources.list.d/hashicorp.list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sudo apt-get update &amp;&amp; sudo apt-get install -y terraform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terraform -version 으로 설치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9주차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05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HCL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선언형 언어로 인프라를 기술한다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HCL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HCL 코드의 두 가지 핵심 블록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provider — 어떤 인프라(Docker, AWS 등)를 다룰지 선언하는 블록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resource — 실제로 만들고 싶은 대상(컨테이너, 서버 등)을 선언하는 블록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resource는 "타입" "이름" { 속성들 } 형태로 작성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HCL 기본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provider "docker" {}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resource "docker_container" "web" { ...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9주차 2차시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07 / 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HCL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main.tf 예시 — Docker 컨테이너 선언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resource "docker_container" "web" {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name  = "tf-nginx"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image = "nginx:latest"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ports { internal = 80; external = 8080 }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}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→ 이 코드가 실행되면 nginx 컨테이너 하나가 8080 포트로 생성됨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9주차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HCL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init → plan → apply 실전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terraform init — main.tf에 명시된 docker Provider를 다운로드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terraform plan — "docker_container.web을 새로 만들 예정"이라는 견적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terraform apply -auto-approve — 실제로 컨테이너 생성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ps 로 tf-nginx 컨테이너가 떠 있는지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9주차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Killercoda — HCL 문법 빈칸 채우기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뼈대만 있는 main.tf에서 provider·resource 블록의 빈칸을 채워 완성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terraform init → plan → apply로 실행 결과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완성한 코드가 어떤 리소스를 만드는지 스스로 설명해보기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9주차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VM 안내 — 설치 + Docker Provider 배포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개인 VM에서 Terraform 설치 명령어 그대로 실행 (04_템플릿코드에 스크립트 제공)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main.tf 작성(docker_container 리소스) 후 init → plan → apply -auto-approve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ps로 tf-nginx 컨테이너 확인 화면 캡처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컨테이너를 지금 지우지 마세요 — 다음 3차시에 destroy 실습으로 이어집니다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9주차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Terraform은 HashiCorp 공식 apt 저장소로 설치한다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HCL은 provider(무엇을 다룰지)와 resource(무엇을 만들지) 블록으로 인프라를 선언한다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20040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246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init → plan → apply 순서로 코드를 실제 인프라로 만든다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다음 차시 예고 — 9주차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만든 컨테이너를 destroy로 제거하고, Terraform이 인프라 상태를 어떻게 기억하는지(State 파일)를 살펴봅니다.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