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[표지]</a:t>
            </a:r>
          </a:p>
          <a:p/>
          <a:p>
            <a:r>
              <a:t>"7주차 1차시를 시작하겠습니다.</a:t>
            </a:r>
          </a:p>
          <a:p/>
          <a:p>
            <a:r>
              <a:t>지금까지 NodePort로 외부에서 서비스에 접속하는 법을 배웠는데요, 만약 서비스가 하나가 아니라 블로그,</a:t>
            </a:r>
          </a:p>
          <a:p>
            <a:r>
              <a:t>쇼핑몰, API처럼 여러 개라면 어떻게 될까요? 오늘은 여러 서비스를 하나의 진입점으로 정리하는 방법,</a:t>
            </a:r>
          </a:p>
          <a:p>
            <a:r>
              <a:t>Ingress를 배웁니다."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학습 목표]</a:t>
            </a:r>
          </a:p>
          <a:p/>
          <a:p>
            <a:r>
              <a:t>"오늘 수업이 끝나면 여러분은 세 가지를 할 수 있게 됩니다.</a:t>
            </a:r>
          </a:p>
          <a:p/>
          <a:p>
            <a:r>
              <a:t>첫째, Service만으로는 부족한 상황을 이해하고,</a:t>
            </a:r>
          </a:p>
          <a:p>
            <a:r>
              <a:t>둘째, Ingress가 무엇이고 왜 필요한지 이해하고,</a:t>
            </a:r>
          </a:p>
          <a:p>
            <a:r>
              <a:t>셋째, Ingress의 도메인/경로 기반 라우팅 원리를 이해합니다."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진행 순서 (60분)]</a:t>
            </a:r>
          </a:p>
          <a:p/>
          <a:p>
            <a:r>
              <a:t>"오늘도 25분 개념 설명, 15분 Killercoda, 5분 안내, 5분 제출입니다."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섹션 표지 — Service만으로는 부족하다]</a:t>
            </a:r>
          </a:p>
          <a:p/>
          <a:p>
            <a:r>
              <a:t>"먼저 왜 Ingress라는 게 따로 필요한지부터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[서비스가 여러 개라면?]</a:t>
            </a:r>
          </a:p>
          <a:p/>
          <a:p>
            <a:r>
              <a:t>"5주차에서 배운 NodePort 기억나시나요? 외부에서 접속하려면 서비스마다 지정된 포트 번호를 알아야</a:t>
            </a:r>
          </a:p>
          <a:p>
            <a:r>
              <a:t>했었죠. 그런데 서비스가 3개, 5개로 늘어나면 그 포트 번호들을 관리하는 게 점점 번거로워집니다.</a:t>
            </a:r>
          </a:p>
          <a:p/>
          <a:p>
            <a:r>
              <a:t>게다가 사용자 입장에서 생각해보면, `myapp.com:31234`처럼 포트 번호가 붙은 주소보다는</a:t>
            </a:r>
          </a:p>
          <a:p>
            <a:r>
              <a:t>`blog.mysite.com`, `shop.mysite.com`처럼 **도메인 주소**로 접속하고 싶겠죠.</a:t>
            </a:r>
          </a:p>
          <a:p/>
          <a:p>
            <a:r>
              <a:t>**(문제 제기)** 블로그도, 쇼핑몰도, API도 각각 다른 Service로 떠 있는데, 이걸 도메인 이름으로</a:t>
            </a:r>
          </a:p>
          <a:p>
            <a:r>
              <a:t>깔끔하게 구분해서 접속하게 하려면 어떻게 해야 할까요?"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섹션 표지 — Ingress란?]</a:t>
            </a:r>
          </a:p>
          <a:p/>
          <a:p>
            <a:r>
              <a:t>"바로 이 문제를 해결하는 게 Ingress입니다."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진입점으로 여러 서비스 연결]</a:t>
            </a:r>
          </a:p>
          <a:p/>
          <a:p>
            <a:r>
              <a:t>"**Ingress**는 클러스터 외부의 요청을 받아서, 정해진 규칙에 따라 알맞은 Service로 안내해주는 K8s</a:t>
            </a:r>
          </a:p>
          <a:p>
            <a:r>
              <a:t>오브젝트입니다.</a:t>
            </a:r>
          </a:p>
          <a:p/>
          <a:p>
            <a:r>
              <a:t>**(용어 설명)** 이걸 L7, 즉 애플리케이션 계층 라우팅이라고 부르는데요, 쉽게 말하면 도메인 주소나 URL</a:t>
            </a:r>
          </a:p>
          <a:p>
            <a:r>
              <a:t>경로 같은 '내용'을 보고 목적지를 결정한다는 뜻입니다.</a:t>
            </a:r>
          </a:p>
          <a:p/>
          <a:p>
            <a:r>
              <a:t>**(그림 설명)** 화면의 그림을 보시면, 외부 요청이 먼저 Ingress로 들어오고, Ingress가 도메인이나</a:t>
            </a:r>
          </a:p>
          <a:p>
            <a:r>
              <a:t>경로를 보고 Service A, B, C 중 어디로 보낼지 판단합니다. 외부에서는 Ingress 하나의 주소만 알면 되고,</a:t>
            </a:r>
          </a:p>
          <a:p>
            <a:r>
              <a:t>나머지 서비스가 몇 개든 Ingress가 알아서 분배해줍니다."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[라우팅 규칙의 두 가지 방식]</a:t>
            </a:r>
          </a:p>
          <a:p/>
          <a:p>
            <a:r>
              <a:t>"Ingress의 라우팅 규칙은 크게 두 가지 방식이 있습니다.</a:t>
            </a:r>
          </a:p>
          <a:p/>
          <a:p>
            <a:r>
              <a:t>첫째, **도메인 기반**입니다. `blog.mysite.com`으로 오면 Service A로, `shop.mysite.com`으로 오면</a:t>
            </a:r>
          </a:p>
          <a:p>
            <a:r>
              <a:t>Service B로 보내는 방식이에요.</a:t>
            </a:r>
          </a:p>
          <a:p/>
          <a:p>
            <a:r>
              <a:t>둘째, **경로 기반**입니다. 같은 도메인이라도 `mysite.com/ko`면 한국어 서비스로, `mysite.com/en`이면</a:t>
            </a:r>
          </a:p>
          <a:p>
            <a:r>
              <a:t>영어 서비스로 보내는 방식이죠.</a:t>
            </a:r>
          </a:p>
          <a:p/>
          <a:p>
            <a:r>
              <a:t>이런 규칙들을 Ingress 리소스에 YAML로 선언해두면, 실제로 트래픽을 처리하는 **Ingress 컨트롤러**가 그</a:t>
            </a:r>
          </a:p>
          <a:p>
            <a:r>
              <a:t>규칙에 따라 트래픽을 분배해줍니다."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[Killercoda — Ingress 존재 확인·구조 탐색]</a:t>
            </a:r>
          </a:p>
          <a:p/>
          <a:p>
            <a:r>
              <a:t>"자, 직접 해보겠습니다.</a:t>
            </a:r>
          </a:p>
          <a:p/>
          <a:p>
            <a:r>
              <a:t>`minikube addons enable ingress` 명령으로 Ingress 컨트롤러를 활성화하세요. 그다음</a:t>
            </a:r>
          </a:p>
          <a:p>
            <a:r>
              <a:t>`kubectl get pods -n ingress-nginx`로 컨트롤러 Pod가 떠 있는지 확인해보세요.</a:t>
            </a:r>
          </a:p>
          <a:p/>
          <a:p>
            <a:r>
              <a:t>**(구조 탐색)** 그리고 `kubectl explain ingress`로 Ingress 리소스가 어떤 필드들로 구성되는지 구조를</a:t>
            </a:r>
          </a:p>
          <a:p>
            <a:r>
              <a:t>한번 살펴보세요. 오늘은 컨트롤러를 켜고 구조를 이해하는 것까지만 하고, 실제 라우팅 규칙 작성은 다음</a:t>
            </a:r>
          </a:p>
          <a:p>
            <a:r>
              <a:t>2차시에 진행합니다.</a:t>
            </a:r>
          </a:p>
          <a:p/>
          <a:p>
            <a:r>
              <a:t>**(화면 공유해 실제로 시연)** 제가 먼저 보여드릴게요."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 안내]</a:t>
            </a:r>
          </a:p>
          <a:p/>
          <a:p>
            <a:r>
              <a:t>"개인 VM에서도 `minikube addons enable ingress`를 실행하세요.</a:t>
            </a:r>
          </a:p>
          <a:p/>
          <a:p>
            <a:r>
              <a:t>**(주의사항)** 컨트롤러 Pod가 완전히 준비되기까지 시간이 좀 걸릴 수 있습니다. `kubectl get pods -n</a:t>
            </a:r>
          </a:p>
          <a:p>
            <a:r>
              <a:t>ingress-nginx`로 STATUS가 Running이 될 때까지 기다린 후 결과를 캡처해서 제출하시면 됩니다.</a:t>
            </a:r>
          </a:p>
          <a:p/>
          <a:p>
            <a:r>
              <a:t>다음 2차시에는 오늘 활성화한 이 컨트롤러를 이용해 실제 도메인 주소로 접속하는 실습을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정리]</a:t>
            </a:r>
          </a:p>
          <a:p/>
          <a:p>
            <a:r>
              <a:t>"오늘 배운 내용, 두 가지로 정리하겠습니다.</a:t>
            </a:r>
          </a:p>
          <a:p/>
          <a:p>
            <a:r>
              <a:t>첫째, **Ingress는 클러스터 외부 요청을 도메인/경로 규칙에 따라 알맞은 Service로 안내한다.**</a:t>
            </a:r>
          </a:p>
          <a:p>
            <a:r>
              <a:t>둘째, **외부에서는 Ingress 하나의 주소만 알면, 여러 Service를 포트 번호 없이 이용할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차시 예고]</a:t>
            </a:r>
          </a:p>
          <a:p/>
          <a:p>
            <a:r>
              <a:t>"다음 2차시에서는 오늘 활성화한 Ingress 컨트롤러를 이용해서, hosts 파일로 가짜 도메인을 만들고 실제로</a:t>
            </a:r>
          </a:p>
          <a:p>
            <a:r>
              <a:t>도메인 주소로 서비스에 접속하는 라우팅 규칙을 직접 작성해봅니다.</a:t>
            </a:r>
          </a:p>
          <a:p/>
          <a:p>
            <a:r>
              <a:t>오늘 수업은 여기까지입니다. Killercoda와 VM 실습 모두 완료해서 제출해주시고, 궁금한 점은 LMS Q&amp;A</a:t>
            </a:r>
          </a:p>
          <a:p>
            <a:r>
              <a:t>게시판에 남겨주세요. 수고하셨습니다!"</a:t>
            </a:r>
          </a:p>
          <a:p/>
          <a:p>
            <a:r>
              <a:t>---</a:t>
            </a:r>
          </a:p>
          <a:p/>
          <a:p>
            <a:r>
              <a:t>## 강의자 참고 — 예상 질문 &amp; 답변</a:t>
            </a:r>
          </a:p>
          <a:p/>
          <a:p>
            <a:r>
              <a:t>| 예상 질문 | 답변 가이드 |</a:t>
            </a:r>
          </a:p>
          <a:p>
            <a:r>
              <a:t>|---|---|</a:t>
            </a:r>
          </a:p>
          <a:p>
            <a:r>
              <a:t>| "Ingress와 NodePort/LoadBalancer는 같이 쓰나요, 대신 쓰나요?" | Ingress 자체도 내부적으로 Service를 통해 Pod에 연결됩니다. 보통 클러스터에 Ingress 컨트롤러 하나만 외부에 노출하고(LoadBalancer나 NodePort로), 나머지 서비스들은 ClusterIP로 두고 Ingress가 라우팅하는 구조를 씁니다. Ingress가 여러 서비스를 대신해 외부 노출을 담당하는 셈입니다. |</a:t>
            </a:r>
          </a:p>
          <a:p>
            <a:r>
              <a:t>| "Ingress 컨트롤러가 뭔가요? Ingress랑 다른 건가요?" | Ingress(리소스)는 '규칙을 적어놓은 문서'이고, Ingress 컨트롤러는 그 규칙을 읽고 실제로 트래픽을 처리하는 '실행 엔진'입니다. 오늘 활성화한 ingress-nginx가 바로 그 컨트롤러입니다. |</a:t>
            </a:r>
          </a:p>
          <a:p>
            <a:r>
              <a:t>| "실무에서도 minikube addons enable ingress를 쓰나요?" | 이건 minikube 전용 편의 기능입니다. 실제 클라우드 환경에서는 ingress-nginx나 다른 컨트롤러를 Helm 등으로 직접 설치하는 경우가 많습니다. 오늘은 원리 학습이 목적이라 minikube의 간편한 방식을 사용합니다.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331720"/>
            <a:ext cx="1005840" cy="640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0058400" cy="457200"/>
          </a:xfrm>
          <a:prstGeom prst="rect">
            <a:avLst/>
          </a:prstGeom>
          <a:noFill/>
        </p:spPr>
        <p:txBody>
          <a:bodyPr wrap="square">
            <a:spAutoFit/>
          </a:bodyPr>
          <a:lstStyle/>
          <a:p>
            <a:pPr algn="l"/>
            <a:r>
              <a:rPr sz="1800" b="1">
                <a:solidFill>
                  <a:srgbClr val="14B8A6"/>
                </a:solidFill>
                <a:latin typeface="맑은 고딕"/>
                <a:ea typeface="맑은 고딕"/>
                <a:cs typeface="맑은 고딕"/>
              </a:rPr>
              <a:t>클라우드인프라관리  ·  7주차 1차시</a:t>
            </a:r>
          </a:p>
        </p:txBody>
      </p:sp>
      <p:sp>
        <p:nvSpPr>
          <p:cNvPr id="6" name="TextBox 5"/>
          <p:cNvSpPr txBox="1"/>
          <p:nvPr/>
        </p:nvSpPr>
        <p:spPr>
          <a:xfrm>
            <a:off x="822960" y="2514600"/>
            <a:ext cx="10332720" cy="1737360"/>
          </a:xfrm>
          <a:prstGeom prst="rect">
            <a:avLst/>
          </a:prstGeom>
          <a:noFill/>
        </p:spPr>
        <p:txBody>
          <a:bodyPr wrap="square">
            <a:spAutoFit/>
          </a:bodyPr>
          <a:lstStyle/>
          <a:p>
            <a:pPr algn="l"/>
            <a:r>
              <a:rPr sz="4400" b="1">
                <a:solidFill>
                  <a:srgbClr val="FFFFFF"/>
                </a:solidFill>
                <a:latin typeface="맑은 고딕"/>
                <a:ea typeface="맑은 고딕"/>
                <a:cs typeface="맑은 고딕"/>
              </a:rPr>
              <a:t>Ingress 개념</a:t>
            </a:r>
          </a:p>
        </p:txBody>
      </p:sp>
      <p:sp>
        <p:nvSpPr>
          <p:cNvPr id="7" name="TextBox 6"/>
          <p:cNvSpPr txBox="1"/>
          <p:nvPr/>
        </p:nvSpPr>
        <p:spPr>
          <a:xfrm>
            <a:off x="822960" y="4160520"/>
            <a:ext cx="9601200" cy="548640"/>
          </a:xfrm>
          <a:prstGeom prst="rect">
            <a:avLst/>
          </a:prstGeom>
          <a:noFill/>
        </p:spPr>
        <p:txBody>
          <a:bodyPr wrap="square">
            <a:spAutoFit/>
          </a:bodyPr>
          <a:lstStyle/>
          <a:p>
            <a:pPr algn="l"/>
            <a:r>
              <a:rPr sz="1700" b="0">
                <a:solidFill>
                  <a:srgbClr val="C9D3E6"/>
                </a:solidFill>
                <a:latin typeface="맑은 고딕"/>
                <a:ea typeface="맑은 고딕"/>
                <a:cs typeface="맑은 고딕"/>
              </a:rPr>
              <a:t>여러 서비스를 하나의 진입점으로</a:t>
            </a:r>
          </a:p>
        </p:txBody>
      </p:sp>
      <p:sp>
        <p:nvSpPr>
          <p:cNvPr id="8" name="TextBox 7"/>
          <p:cNvSpPr txBox="1"/>
          <p:nvPr/>
        </p:nvSpPr>
        <p:spPr>
          <a:xfrm>
            <a:off x="822960" y="5989320"/>
            <a:ext cx="5486400" cy="365760"/>
          </a:xfrm>
          <a:prstGeom prst="rect">
            <a:avLst/>
          </a:prstGeom>
          <a:noFill/>
        </p:spPr>
        <p:txBody>
          <a:bodyPr wrap="square">
            <a:spAutoFit/>
          </a:bodyPr>
          <a:lstStyle/>
          <a:p>
            <a:pPr algn="l"/>
            <a:r>
              <a:rPr sz="1400" b="1">
                <a:solidFill>
                  <a:srgbClr val="FFFFFF"/>
                </a:solidFill>
                <a:latin typeface="맑은 고딕"/>
                <a:ea typeface="맑은 고딕"/>
                <a:cs typeface="맑은 고딕"/>
              </a:rPr>
              <a:t>영남이공대학교 김지윤교수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241280" cy="365760"/>
          </a:xfrm>
          <a:prstGeom prst="rect">
            <a:avLst/>
          </a:prstGeom>
          <a:noFill/>
        </p:spPr>
        <p:txBody>
          <a:bodyPr wrap="square">
            <a:spAutoFit/>
          </a:bodyPr>
          <a:lstStyle/>
          <a:p>
            <a:pPr algn="l"/>
            <a:r>
              <a:rPr sz="1200" b="1">
                <a:solidFill>
                  <a:srgbClr val="14B8A6"/>
                </a:solidFill>
                <a:latin typeface="맑은 고딕"/>
                <a:ea typeface="맑은 고딕"/>
                <a:cs typeface="맑은 고딕"/>
              </a:rPr>
              <a:t>SESSION OVERVIEW</a:t>
            </a:r>
          </a:p>
        </p:txBody>
      </p:sp>
      <p:sp>
        <p:nvSpPr>
          <p:cNvPr id="5" name="TextBox 4"/>
          <p:cNvSpPr txBox="1"/>
          <p:nvPr/>
        </p:nvSpPr>
        <p:spPr>
          <a:xfrm>
            <a:off x="457200" y="457200"/>
            <a:ext cx="10241280" cy="548640"/>
          </a:xfrm>
          <a:prstGeom prst="rect">
            <a:avLst/>
          </a:prstGeom>
          <a:noFill/>
        </p:spPr>
        <p:txBody>
          <a:bodyPr wrap="square">
            <a:spAutoFit/>
          </a:bodyPr>
          <a:lstStyle/>
          <a:p>
            <a:pPr algn="l"/>
            <a:r>
              <a:rPr sz="2500" b="1">
                <a:solidFill>
                  <a:srgbClr val="FFFFFF"/>
                </a:solidFill>
                <a:latin typeface="맑은 고딕"/>
                <a:ea typeface="맑은 고딕"/>
                <a:cs typeface="맑은 고딕"/>
              </a:rPr>
              <a:t>오늘의 학습 목표</a:t>
            </a:r>
          </a:p>
        </p:txBody>
      </p:sp>
      <p:sp>
        <p:nvSpPr>
          <p:cNvPr id="6" name="TextBox 5"/>
          <p:cNvSpPr txBox="1"/>
          <p:nvPr/>
        </p:nvSpPr>
        <p:spPr>
          <a:xfrm>
            <a:off x="640080" y="1554480"/>
            <a:ext cx="10881360" cy="4389120"/>
          </a:xfrm>
          <a:prstGeom prst="rect">
            <a:avLst/>
          </a:prstGeom>
          <a:noFill/>
        </p:spPr>
        <p:txBody>
          <a:bodyPr wrap="square">
            <a:spAutoFit/>
          </a:bodyPr>
          <a:lstStyle/>
          <a:p>
            <a:pPr>
              <a:lnSpc>
                <a:spcPct val="115000"/>
              </a:lnSpc>
            </a:pPr>
            <a:r>
              <a:rPr sz="2000" b="0">
                <a:solidFill>
                  <a:srgbClr val="222733"/>
                </a:solidFill>
                <a:latin typeface="맑은 고딕"/>
                <a:ea typeface="맑은 고딕"/>
                <a:cs typeface="맑은 고딕"/>
              </a:rPr>
              <a:t>1.  Service만으로는 부족한 상황을 이해한다</a:t>
            </a:r>
          </a:p>
          <a:p>
            <a:pPr>
              <a:lnSpc>
                <a:spcPct val="115000"/>
              </a:lnSpc>
            </a:pPr>
            <a:r>
              <a:rPr sz="2000" b="0">
                <a:solidFill>
                  <a:srgbClr val="222733"/>
                </a:solidFill>
                <a:latin typeface="맑은 고딕"/>
                <a:ea typeface="맑은 고딕"/>
                <a:cs typeface="맑은 고딕"/>
              </a:rPr>
              <a:t>2.  Ingress가 무엇이고 왜 필요한지 이해한다</a:t>
            </a:r>
          </a:p>
          <a:p>
            <a:pPr>
              <a:lnSpc>
                <a:spcPct val="115000"/>
              </a:lnSpc>
            </a:pPr>
            <a:r>
              <a:rPr sz="2000" b="0">
                <a:solidFill>
                  <a:srgbClr val="222733"/>
                </a:solidFill>
                <a:latin typeface="맑은 고딕"/>
                <a:ea typeface="맑은 고딕"/>
                <a:cs typeface="맑은 고딕"/>
              </a:rPr>
              <a:t>3.  Ingress의 도메인/경로 기반 라우팅 원리를 이해한다</a:t>
            </a:r>
          </a:p>
        </p:txBody>
      </p:sp>
      <p:sp>
        <p:nvSpPr>
          <p:cNvPr id="7" name="TextBox 6"/>
          <p:cNvSpPr txBox="1"/>
          <p:nvPr/>
        </p:nvSpPr>
        <p:spPr>
          <a:xfrm>
            <a:off x="457200" y="6528816"/>
            <a:ext cx="731520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클라우드인프라관리  ·  7주차 1차시</a:t>
            </a:r>
          </a:p>
        </p:txBody>
      </p:sp>
      <p:sp>
        <p:nvSpPr>
          <p:cNvPr id="8" name="TextBox 7"/>
          <p:cNvSpPr txBox="1"/>
          <p:nvPr/>
        </p:nvSpPr>
        <p:spPr>
          <a:xfrm>
            <a:off x="10607040" y="6528816"/>
            <a:ext cx="118872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02 / 12</a:t>
            </a:r>
          </a:p>
        </p:txBody>
      </p:sp>
      <p:sp>
        <p:nvSpPr>
          <p:cNvPr id="9" name="Rectangle 8"/>
          <p:cNvSpPr/>
          <p:nvPr/>
        </p:nvSpPr>
        <p:spPr>
          <a:xfrm>
            <a:off x="457200" y="6473952"/>
            <a:ext cx="11274552" cy="9144"/>
          </a:xfrm>
          <a:prstGeom prst="rect">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241280" cy="365760"/>
          </a:xfrm>
          <a:prstGeom prst="rect">
            <a:avLst/>
          </a:prstGeom>
          <a:noFill/>
        </p:spPr>
        <p:txBody>
          <a:bodyPr wrap="square">
            <a:spAutoFit/>
          </a:bodyPr>
          <a:lstStyle/>
          <a:p>
            <a:pPr algn="l"/>
            <a:r>
              <a:rPr sz="1200" b="1">
                <a:solidFill>
                  <a:srgbClr val="14B8A6"/>
                </a:solidFill>
                <a:latin typeface="맑은 고딕"/>
                <a:ea typeface="맑은 고딕"/>
                <a:cs typeface="맑은 고딕"/>
              </a:rPr>
              <a:t>SESSION OVERVIEW</a:t>
            </a:r>
          </a:p>
        </p:txBody>
      </p:sp>
      <p:sp>
        <p:nvSpPr>
          <p:cNvPr id="5" name="TextBox 4"/>
          <p:cNvSpPr txBox="1"/>
          <p:nvPr/>
        </p:nvSpPr>
        <p:spPr>
          <a:xfrm>
            <a:off x="457200" y="457200"/>
            <a:ext cx="10241280" cy="548640"/>
          </a:xfrm>
          <a:prstGeom prst="rect">
            <a:avLst/>
          </a:prstGeom>
          <a:noFill/>
        </p:spPr>
        <p:txBody>
          <a:bodyPr wrap="square">
            <a:spAutoFit/>
          </a:bodyPr>
          <a:lstStyle/>
          <a:p>
            <a:pPr algn="l"/>
            <a:r>
              <a:rPr sz="2500" b="1">
                <a:solidFill>
                  <a:srgbClr val="FFFFFF"/>
                </a:solidFill>
                <a:latin typeface="맑은 고딕"/>
                <a:ea typeface="맑은 고딕"/>
                <a:cs typeface="맑은 고딕"/>
              </a:rPr>
              <a:t>오늘의 진행 순서</a:t>
            </a:r>
          </a:p>
        </p:txBody>
      </p:sp>
      <p:sp>
        <p:nvSpPr>
          <p:cNvPr id="6" name="Rectangle 5"/>
          <p:cNvSpPr/>
          <p:nvPr/>
        </p:nvSpPr>
        <p:spPr>
          <a:xfrm>
            <a:off x="2571292" y="1730959"/>
            <a:ext cx="1995220" cy="3108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96865" y="1730959"/>
            <a:ext cx="1995220" cy="3108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22438" y="1730959"/>
            <a:ext cx="1995220" cy="3108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940" y="1481328"/>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40940" y="1481328"/>
            <a:ext cx="530352" cy="530352"/>
          </a:xfrm>
          <a:prstGeom prst="rect">
            <a:avLst/>
          </a:prstGeom>
          <a:noFill/>
        </p:spPr>
        <p:txBody>
          <a:bodyPr wrap="square" anchor="ctr">
            <a:spAutoFit/>
          </a:bodyPr>
          <a:lstStyle/>
          <a:p>
            <a:pPr algn="ctr"/>
            <a:r>
              <a:rPr sz="1600" b="1">
                <a:solidFill>
                  <a:srgbClr val="FFFFFF"/>
                </a:solidFill>
                <a:latin typeface="맑은 고딕"/>
                <a:ea typeface="맑은 고딕"/>
                <a:cs typeface="맑은 고딕"/>
              </a:rPr>
              <a:t>1</a:t>
            </a:r>
          </a:p>
        </p:txBody>
      </p:sp>
      <p:sp>
        <p:nvSpPr>
          <p:cNvPr id="11" name="Rounded Rectangle 10"/>
          <p:cNvSpPr/>
          <p:nvPr/>
        </p:nvSpPr>
        <p:spPr>
          <a:xfrm>
            <a:off x="1263700" y="2304288"/>
            <a:ext cx="2084831" cy="2880360"/>
          </a:xfrm>
          <a:prstGeom prst="roundRect">
            <a:avLst>
              <a:gd name="adj" fmla="val 6000"/>
            </a:avLst>
          </a:prstGeom>
          <a:solidFill>
            <a:srgbClr val="FFFFFF"/>
          </a:solidFill>
          <a:ln w="1270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292" y="2487168"/>
            <a:ext cx="1755648" cy="548640"/>
          </a:xfrm>
          <a:prstGeom prst="rect">
            <a:avLst/>
          </a:prstGeom>
          <a:noFill/>
        </p:spPr>
        <p:txBody>
          <a:bodyPr wrap="square">
            <a:spAutoFit/>
          </a:bodyPr>
          <a:lstStyle/>
          <a:p>
            <a:pPr algn="l"/>
            <a:r>
              <a:rPr sz="1500" b="1">
                <a:solidFill>
                  <a:srgbClr val="14213D"/>
                </a:solidFill>
                <a:latin typeface="맑은 고딕"/>
                <a:ea typeface="맑은 고딕"/>
                <a:cs typeface="맑은 고딕"/>
              </a:rPr>
              <a:t>개념 설명</a:t>
            </a:r>
          </a:p>
        </p:txBody>
      </p:sp>
      <p:sp>
        <p:nvSpPr>
          <p:cNvPr id="13" name="TextBox 12"/>
          <p:cNvSpPr txBox="1"/>
          <p:nvPr/>
        </p:nvSpPr>
        <p:spPr>
          <a:xfrm>
            <a:off x="1428292" y="3081528"/>
            <a:ext cx="1755648" cy="1965960"/>
          </a:xfrm>
          <a:prstGeom prst="rect">
            <a:avLst/>
          </a:prstGeom>
          <a:noFill/>
        </p:spPr>
        <p:txBody>
          <a:bodyPr wrap="square">
            <a:spAutoFit/>
          </a:bodyPr>
          <a:lstStyle/>
          <a:p>
            <a:pPr algn="l">
              <a:lnSpc>
                <a:spcPct val="115000"/>
              </a:lnSpc>
            </a:pPr>
            <a:r>
              <a:rPr sz="1200" b="0">
                <a:solidFill>
                  <a:srgbClr val="222733"/>
                </a:solidFill>
                <a:latin typeface="맑은 고딕"/>
                <a:ea typeface="맑은 고딕"/>
                <a:cs typeface="맑은 고딕"/>
              </a:rPr>
              <a:t>강의자료 기반 직접 강의</a:t>
            </a:r>
          </a:p>
        </p:txBody>
      </p:sp>
      <p:sp>
        <p:nvSpPr>
          <p:cNvPr id="14" name="Oval 13"/>
          <p:cNvSpPr/>
          <p:nvPr/>
        </p:nvSpPr>
        <p:spPr>
          <a:xfrm>
            <a:off x="4566513" y="1481328"/>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6513" y="1481328"/>
            <a:ext cx="530352" cy="530352"/>
          </a:xfrm>
          <a:prstGeom prst="rect">
            <a:avLst/>
          </a:prstGeom>
          <a:noFill/>
        </p:spPr>
        <p:txBody>
          <a:bodyPr wrap="square" anchor="ctr">
            <a:spAutoFit/>
          </a:bodyPr>
          <a:lstStyle/>
          <a:p>
            <a:pPr algn="ctr"/>
            <a:r>
              <a:rPr sz="1600" b="1">
                <a:solidFill>
                  <a:srgbClr val="FFFFFF"/>
                </a:solidFill>
                <a:latin typeface="맑은 고딕"/>
                <a:ea typeface="맑은 고딕"/>
                <a:cs typeface="맑은 고딕"/>
              </a:rPr>
              <a:t>2</a:t>
            </a:r>
          </a:p>
        </p:txBody>
      </p:sp>
      <p:sp>
        <p:nvSpPr>
          <p:cNvPr id="16" name="Rounded Rectangle 15"/>
          <p:cNvSpPr/>
          <p:nvPr/>
        </p:nvSpPr>
        <p:spPr>
          <a:xfrm>
            <a:off x="3789273" y="2304288"/>
            <a:ext cx="2084831" cy="2880360"/>
          </a:xfrm>
          <a:prstGeom prst="roundRect">
            <a:avLst>
              <a:gd name="adj" fmla="val 6000"/>
            </a:avLst>
          </a:prstGeom>
          <a:solidFill>
            <a:srgbClr val="FFFFFF"/>
          </a:solidFill>
          <a:ln w="1270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53865" y="2487168"/>
            <a:ext cx="1755648" cy="548640"/>
          </a:xfrm>
          <a:prstGeom prst="rect">
            <a:avLst/>
          </a:prstGeom>
          <a:noFill/>
        </p:spPr>
        <p:txBody>
          <a:bodyPr wrap="square">
            <a:spAutoFit/>
          </a:bodyPr>
          <a:lstStyle/>
          <a:p>
            <a:pPr algn="l"/>
            <a:r>
              <a:rPr sz="1500" b="1">
                <a:solidFill>
                  <a:srgbClr val="14213D"/>
                </a:solidFill>
                <a:latin typeface="맑은 고딕"/>
                <a:ea typeface="맑은 고딕"/>
                <a:cs typeface="맑은 고딕"/>
              </a:rPr>
              <a:t>Killercoda</a:t>
            </a:r>
          </a:p>
        </p:txBody>
      </p:sp>
      <p:sp>
        <p:nvSpPr>
          <p:cNvPr id="18" name="TextBox 17"/>
          <p:cNvSpPr txBox="1"/>
          <p:nvPr/>
        </p:nvSpPr>
        <p:spPr>
          <a:xfrm>
            <a:off x="3953865" y="3081528"/>
            <a:ext cx="1755648" cy="1965960"/>
          </a:xfrm>
          <a:prstGeom prst="rect">
            <a:avLst/>
          </a:prstGeom>
          <a:noFill/>
        </p:spPr>
        <p:txBody>
          <a:bodyPr wrap="square">
            <a:spAutoFit/>
          </a:bodyPr>
          <a:lstStyle/>
          <a:p>
            <a:pPr algn="l">
              <a:lnSpc>
                <a:spcPct val="115000"/>
              </a:lnSpc>
            </a:pPr>
            <a:r>
              <a:rPr sz="1200" b="0">
                <a:solidFill>
                  <a:srgbClr val="222733"/>
                </a:solidFill>
                <a:latin typeface="맑은 고딕"/>
                <a:ea typeface="맑은 고딕"/>
                <a:cs typeface="맑은 고딕"/>
              </a:rPr>
              <a:t>Ingress 존재 확인·구조 탐색</a:t>
            </a:r>
          </a:p>
        </p:txBody>
      </p:sp>
      <p:sp>
        <p:nvSpPr>
          <p:cNvPr id="19" name="Oval 18"/>
          <p:cNvSpPr/>
          <p:nvPr/>
        </p:nvSpPr>
        <p:spPr>
          <a:xfrm>
            <a:off x="7092086" y="1481328"/>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92086" y="1481328"/>
            <a:ext cx="530352" cy="530352"/>
          </a:xfrm>
          <a:prstGeom prst="rect">
            <a:avLst/>
          </a:prstGeom>
          <a:noFill/>
        </p:spPr>
        <p:txBody>
          <a:bodyPr wrap="square" anchor="ctr">
            <a:spAutoFit/>
          </a:bodyPr>
          <a:lstStyle/>
          <a:p>
            <a:pPr algn="ctr"/>
            <a:r>
              <a:rPr sz="1600" b="1">
                <a:solidFill>
                  <a:srgbClr val="FFFFFF"/>
                </a:solidFill>
                <a:latin typeface="맑은 고딕"/>
                <a:ea typeface="맑은 고딕"/>
                <a:cs typeface="맑은 고딕"/>
              </a:rPr>
              <a:t>3</a:t>
            </a:r>
          </a:p>
        </p:txBody>
      </p:sp>
      <p:sp>
        <p:nvSpPr>
          <p:cNvPr id="21" name="Rounded Rectangle 20"/>
          <p:cNvSpPr/>
          <p:nvPr/>
        </p:nvSpPr>
        <p:spPr>
          <a:xfrm>
            <a:off x="6314846" y="2304288"/>
            <a:ext cx="2084831" cy="2880360"/>
          </a:xfrm>
          <a:prstGeom prst="roundRect">
            <a:avLst>
              <a:gd name="adj" fmla="val 6000"/>
            </a:avLst>
          </a:prstGeom>
          <a:solidFill>
            <a:srgbClr val="FFFFFF"/>
          </a:solidFill>
          <a:ln w="1270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9438" y="2487168"/>
            <a:ext cx="1755648" cy="548640"/>
          </a:xfrm>
          <a:prstGeom prst="rect">
            <a:avLst/>
          </a:prstGeom>
          <a:noFill/>
        </p:spPr>
        <p:txBody>
          <a:bodyPr wrap="square">
            <a:spAutoFit/>
          </a:bodyPr>
          <a:lstStyle/>
          <a:p>
            <a:pPr algn="l"/>
            <a:r>
              <a:rPr sz="1500" b="1">
                <a:solidFill>
                  <a:srgbClr val="14213D"/>
                </a:solidFill>
                <a:latin typeface="맑은 고딕"/>
                <a:ea typeface="맑은 고딕"/>
                <a:cs typeface="맑은 고딕"/>
              </a:rPr>
              <a:t>VM 안내</a:t>
            </a:r>
          </a:p>
        </p:txBody>
      </p:sp>
      <p:sp>
        <p:nvSpPr>
          <p:cNvPr id="23" name="TextBox 22"/>
          <p:cNvSpPr txBox="1"/>
          <p:nvPr/>
        </p:nvSpPr>
        <p:spPr>
          <a:xfrm>
            <a:off x="6479438" y="3081528"/>
            <a:ext cx="1755648" cy="1965960"/>
          </a:xfrm>
          <a:prstGeom prst="rect">
            <a:avLst/>
          </a:prstGeom>
          <a:noFill/>
        </p:spPr>
        <p:txBody>
          <a:bodyPr wrap="square">
            <a:spAutoFit/>
          </a:bodyPr>
          <a:lstStyle/>
          <a:p>
            <a:pPr algn="l">
              <a:lnSpc>
                <a:spcPct val="115000"/>
              </a:lnSpc>
            </a:pPr>
            <a:r>
              <a:rPr sz="1200" b="0">
                <a:solidFill>
                  <a:srgbClr val="222733"/>
                </a:solidFill>
                <a:latin typeface="맑은 고딕"/>
                <a:ea typeface="맑은 고딕"/>
                <a:cs typeface="맑은 고딕"/>
              </a:rPr>
              <a:t>VM 환경 사전 점검</a:t>
            </a:r>
          </a:p>
        </p:txBody>
      </p:sp>
      <p:sp>
        <p:nvSpPr>
          <p:cNvPr id="24" name="Oval 23"/>
          <p:cNvSpPr/>
          <p:nvPr/>
        </p:nvSpPr>
        <p:spPr>
          <a:xfrm>
            <a:off x="9617659" y="1481328"/>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17659" y="1481328"/>
            <a:ext cx="530352" cy="530352"/>
          </a:xfrm>
          <a:prstGeom prst="rect">
            <a:avLst/>
          </a:prstGeom>
          <a:noFill/>
        </p:spPr>
        <p:txBody>
          <a:bodyPr wrap="square" anchor="ctr">
            <a:spAutoFit/>
          </a:bodyPr>
          <a:lstStyle/>
          <a:p>
            <a:pPr algn="ctr"/>
            <a:r>
              <a:rPr sz="1600" b="1">
                <a:solidFill>
                  <a:srgbClr val="FFFFFF"/>
                </a:solidFill>
                <a:latin typeface="맑은 고딕"/>
                <a:ea typeface="맑은 고딕"/>
                <a:cs typeface="맑은 고딕"/>
              </a:rPr>
              <a:t>4</a:t>
            </a:r>
          </a:p>
        </p:txBody>
      </p:sp>
      <p:sp>
        <p:nvSpPr>
          <p:cNvPr id="26" name="Rounded Rectangle 25"/>
          <p:cNvSpPr/>
          <p:nvPr/>
        </p:nvSpPr>
        <p:spPr>
          <a:xfrm>
            <a:off x="8840419" y="2304288"/>
            <a:ext cx="2084831" cy="2880360"/>
          </a:xfrm>
          <a:prstGeom prst="roundRect">
            <a:avLst>
              <a:gd name="adj" fmla="val 6000"/>
            </a:avLst>
          </a:prstGeom>
          <a:solidFill>
            <a:srgbClr val="FFFFFF"/>
          </a:solidFill>
          <a:ln w="12700">
            <a:solidFill>
              <a:srgbClr val="E3E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5011" y="2487168"/>
            <a:ext cx="1755648" cy="548640"/>
          </a:xfrm>
          <a:prstGeom prst="rect">
            <a:avLst/>
          </a:prstGeom>
          <a:noFill/>
        </p:spPr>
        <p:txBody>
          <a:bodyPr wrap="square">
            <a:spAutoFit/>
          </a:bodyPr>
          <a:lstStyle/>
          <a:p>
            <a:pPr algn="l"/>
            <a:r>
              <a:rPr sz="1500" b="1">
                <a:solidFill>
                  <a:srgbClr val="14213D"/>
                </a:solidFill>
                <a:latin typeface="맑은 고딕"/>
                <a:ea typeface="맑은 고딕"/>
                <a:cs typeface="맑은 고딕"/>
              </a:rPr>
              <a:t>결과 제출</a:t>
            </a:r>
          </a:p>
        </p:txBody>
      </p:sp>
      <p:sp>
        <p:nvSpPr>
          <p:cNvPr id="28" name="TextBox 27"/>
          <p:cNvSpPr txBox="1"/>
          <p:nvPr/>
        </p:nvSpPr>
        <p:spPr>
          <a:xfrm>
            <a:off x="9005011" y="3081528"/>
            <a:ext cx="1755648" cy="1965960"/>
          </a:xfrm>
          <a:prstGeom prst="rect">
            <a:avLst/>
          </a:prstGeom>
          <a:noFill/>
        </p:spPr>
        <p:txBody>
          <a:bodyPr wrap="square">
            <a:spAutoFit/>
          </a:bodyPr>
          <a:lstStyle/>
          <a:p>
            <a:pPr algn="l">
              <a:lnSpc>
                <a:spcPct val="115000"/>
              </a:lnSpc>
            </a:pPr>
            <a:r>
              <a:rPr sz="1200" b="0">
                <a:solidFill>
                  <a:srgbClr val="222733"/>
                </a:solidFill>
                <a:latin typeface="맑은 고딕"/>
                <a:ea typeface="맑은 고딕"/>
                <a:cs typeface="맑은 고딕"/>
              </a:rPr>
              <a:t>체크리스트 제출</a:t>
            </a:r>
          </a:p>
        </p:txBody>
      </p:sp>
      <p:sp>
        <p:nvSpPr>
          <p:cNvPr id="29" name="TextBox 28"/>
          <p:cNvSpPr txBox="1"/>
          <p:nvPr/>
        </p:nvSpPr>
        <p:spPr>
          <a:xfrm>
            <a:off x="457200" y="6528816"/>
            <a:ext cx="731520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클라우드인프라관리  ·  7주차 1차시</a:t>
            </a:r>
          </a:p>
        </p:txBody>
      </p:sp>
      <p:sp>
        <p:nvSpPr>
          <p:cNvPr id="30" name="TextBox 29"/>
          <p:cNvSpPr txBox="1"/>
          <p:nvPr/>
        </p:nvSpPr>
        <p:spPr>
          <a:xfrm>
            <a:off x="10607040" y="6528816"/>
            <a:ext cx="118872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03 / 12</a:t>
            </a:r>
          </a:p>
        </p:txBody>
      </p:sp>
      <p:sp>
        <p:nvSpPr>
          <p:cNvPr id="31" name="Rectangle 30"/>
          <p:cNvSpPr/>
          <p:nvPr/>
        </p:nvSpPr>
        <p:spPr>
          <a:xfrm>
            <a:off x="457200" y="6473952"/>
            <a:ext cx="11274552" cy="9144"/>
          </a:xfrm>
          <a:prstGeom prst="rect">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194560"/>
            <a:ext cx="137160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PART 01</a:t>
            </a:r>
          </a:p>
        </p:txBody>
      </p:sp>
      <p:sp>
        <p:nvSpPr>
          <p:cNvPr id="5" name="TextBox 4"/>
          <p:cNvSpPr txBox="1"/>
          <p:nvPr/>
        </p:nvSpPr>
        <p:spPr>
          <a:xfrm>
            <a:off x="822960" y="2971800"/>
            <a:ext cx="10058400" cy="1005840"/>
          </a:xfrm>
          <a:prstGeom prst="rect">
            <a:avLst/>
          </a:prstGeom>
          <a:noFill/>
        </p:spPr>
        <p:txBody>
          <a:bodyPr wrap="square">
            <a:spAutoFit/>
          </a:bodyPr>
          <a:lstStyle/>
          <a:p>
            <a:pPr algn="l"/>
            <a:r>
              <a:rPr sz="3800" b="1">
                <a:solidFill>
                  <a:srgbClr val="FFFFFF"/>
                </a:solidFill>
                <a:latin typeface="맑은 고딕"/>
                <a:ea typeface="맑은 고딕"/>
                <a:cs typeface="맑은 고딕"/>
              </a:rPr>
              <a:t>Service만으로는 부족하다</a:t>
            </a:r>
          </a:p>
        </p:txBody>
      </p:sp>
      <p:sp>
        <p:nvSpPr>
          <p:cNvPr id="6" name="TextBox 5"/>
          <p:cNvSpPr txBox="1"/>
          <p:nvPr/>
        </p:nvSpPr>
        <p:spPr>
          <a:xfrm>
            <a:off x="822960" y="3977639"/>
            <a:ext cx="9601200" cy="548640"/>
          </a:xfrm>
          <a:prstGeom prst="rect">
            <a:avLst/>
          </a:prstGeom>
          <a:noFill/>
        </p:spPr>
        <p:txBody>
          <a:bodyPr wrap="square">
            <a:spAutoFit/>
          </a:bodyPr>
          <a:lstStyle/>
          <a:p>
            <a:pPr algn="l"/>
            <a:r>
              <a:rPr sz="1600" b="0">
                <a:solidFill>
                  <a:srgbClr val="C9D3E6"/>
                </a:solidFill>
                <a:latin typeface="맑은 고딕"/>
                <a:ea typeface="맑은 고딕"/>
                <a:cs typeface="맑은 고딕"/>
              </a:rPr>
              <a:t>여러 서비스가 늘어날수록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56032"/>
            <a:ext cx="7772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01</a:t>
            </a:r>
          </a:p>
        </p:txBody>
      </p:sp>
      <p:sp>
        <p:nvSpPr>
          <p:cNvPr id="5" name="TextBox 4"/>
          <p:cNvSpPr txBox="1"/>
          <p:nvPr/>
        </p:nvSpPr>
        <p:spPr>
          <a:xfrm>
            <a:off x="1417320" y="146304"/>
            <a:ext cx="10241280" cy="365760"/>
          </a:xfrm>
          <a:prstGeom prst="rect">
            <a:avLst/>
          </a:prstGeom>
          <a:noFill/>
        </p:spPr>
        <p:txBody>
          <a:bodyPr wrap="square">
            <a:spAutoFit/>
          </a:bodyPr>
          <a:lstStyle/>
          <a:p>
            <a:pPr algn="l"/>
            <a:r>
              <a:rPr sz="1200" b="1">
                <a:solidFill>
                  <a:srgbClr val="14B8A6"/>
                </a:solidFill>
                <a:latin typeface="맑은 고딕"/>
                <a:ea typeface="맑은 고딕"/>
                <a:cs typeface="맑은 고딕"/>
              </a:rPr>
              <a:t>PART 1 · Service의 한계</a:t>
            </a:r>
          </a:p>
        </p:txBody>
      </p:sp>
      <p:sp>
        <p:nvSpPr>
          <p:cNvPr id="6" name="TextBox 5"/>
          <p:cNvSpPr txBox="1"/>
          <p:nvPr/>
        </p:nvSpPr>
        <p:spPr>
          <a:xfrm>
            <a:off x="1417320" y="457200"/>
            <a:ext cx="10241280" cy="548640"/>
          </a:xfrm>
          <a:prstGeom prst="rect">
            <a:avLst/>
          </a:prstGeom>
          <a:noFill/>
        </p:spPr>
        <p:txBody>
          <a:bodyPr wrap="square">
            <a:spAutoFit/>
          </a:bodyPr>
          <a:lstStyle/>
          <a:p>
            <a:pPr algn="l"/>
            <a:r>
              <a:rPr sz="2500" b="1">
                <a:solidFill>
                  <a:srgbClr val="FFFFFF"/>
                </a:solidFill>
                <a:latin typeface="맑은 고딕"/>
                <a:ea typeface="맑은 고딕"/>
                <a:cs typeface="맑은 고딕"/>
              </a:rPr>
              <a:t>서비스가 여러 개라면?</a:t>
            </a:r>
          </a:p>
        </p:txBody>
      </p:sp>
      <p:sp>
        <p:nvSpPr>
          <p:cNvPr id="7" name="TextBox 6"/>
          <p:cNvSpPr txBox="1"/>
          <p:nvPr/>
        </p:nvSpPr>
        <p:spPr>
          <a:xfrm>
            <a:off x="640080" y="1463040"/>
            <a:ext cx="10881360" cy="3291840"/>
          </a:xfrm>
          <a:prstGeom prst="rect">
            <a:avLst/>
          </a:prstGeom>
          <a:noFill/>
        </p:spPr>
        <p:txBody>
          <a:bodyPr wrap="square">
            <a:spAutoFit/>
          </a:bodyPr>
          <a:lstStyle/>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5주차에서 배운 NodePort는 서비스마다 다른 포트 번호를 외워야 함</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서비스가 3개, 5개로 늘어나면 포트 번호 관리가 점점 번거로워짐</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외부 사용자 입장에서도 '포트 번호'가 아니라 '도메인 주소'로 접속하고 싶음</a:t>
            </a:r>
          </a:p>
        </p:txBody>
      </p:sp>
      <p:sp>
        <p:nvSpPr>
          <p:cNvPr id="8" name="Rectangle 7"/>
          <p:cNvSpPr/>
          <p:nvPr/>
        </p:nvSpPr>
        <p:spPr>
          <a:xfrm>
            <a:off x="640080" y="5074920"/>
            <a:ext cx="10881360" cy="1143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93792"/>
            <a:ext cx="10332720" cy="365760"/>
          </a:xfrm>
          <a:prstGeom prst="rect">
            <a:avLst/>
          </a:prstGeom>
          <a:noFill/>
        </p:spPr>
        <p:txBody>
          <a:bodyPr wrap="square">
            <a:spAutoFit/>
          </a:bodyPr>
          <a:lstStyle/>
          <a:p>
            <a:pPr algn="l"/>
            <a:r>
              <a:rPr sz="1500" b="1">
                <a:solidFill>
                  <a:srgbClr val="FFFFFF"/>
                </a:solidFill>
                <a:latin typeface="맑은 고딕"/>
                <a:ea typeface="맑은 고딕"/>
                <a:cs typeface="맑은 고딕"/>
              </a:rPr>
              <a:t>🤔  예: 블로그도, 쇼핑몰도, API도 각각 다른 Service</a:t>
            </a:r>
          </a:p>
        </p:txBody>
      </p:sp>
      <p:sp>
        <p:nvSpPr>
          <p:cNvPr id="10" name="TextBox 9"/>
          <p:cNvSpPr txBox="1"/>
          <p:nvPr/>
        </p:nvSpPr>
        <p:spPr>
          <a:xfrm>
            <a:off x="914400" y="5577840"/>
            <a:ext cx="10332720" cy="548640"/>
          </a:xfrm>
          <a:prstGeom prst="rect">
            <a:avLst/>
          </a:prstGeom>
          <a:noFill/>
        </p:spPr>
        <p:txBody>
          <a:bodyPr wrap="square">
            <a:spAutoFit/>
          </a:bodyPr>
          <a:lstStyle/>
          <a:p>
            <a:pPr algn="l"/>
            <a:r>
              <a:rPr sz="1300" b="0">
                <a:solidFill>
                  <a:srgbClr val="FFFFFF"/>
                </a:solidFill>
                <a:latin typeface="맑은 고딕"/>
                <a:ea typeface="맑은 고딕"/>
                <a:cs typeface="맑은 고딕"/>
              </a:rPr>
              <a:t>blog.mysite.com, shop.mysite.com처럼 도메인으로 구분해서 접속하고 싶다</a:t>
            </a:r>
          </a:p>
        </p:txBody>
      </p:sp>
      <p:sp>
        <p:nvSpPr>
          <p:cNvPr id="11" name="TextBox 10"/>
          <p:cNvSpPr txBox="1"/>
          <p:nvPr/>
        </p:nvSpPr>
        <p:spPr>
          <a:xfrm>
            <a:off x="457200" y="6528816"/>
            <a:ext cx="731520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클라우드인프라관리  ·  7주차 1차시</a:t>
            </a:r>
          </a:p>
        </p:txBody>
      </p:sp>
      <p:sp>
        <p:nvSpPr>
          <p:cNvPr id="12" name="TextBox 11"/>
          <p:cNvSpPr txBox="1"/>
          <p:nvPr/>
        </p:nvSpPr>
        <p:spPr>
          <a:xfrm>
            <a:off x="10607040" y="6528816"/>
            <a:ext cx="118872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05 / 12</a:t>
            </a:r>
          </a:p>
        </p:txBody>
      </p:sp>
      <p:sp>
        <p:nvSpPr>
          <p:cNvPr id="13" name="Rectangle 12"/>
          <p:cNvSpPr/>
          <p:nvPr/>
        </p:nvSpPr>
        <p:spPr>
          <a:xfrm>
            <a:off x="457200" y="6473952"/>
            <a:ext cx="11274552" cy="9144"/>
          </a:xfrm>
          <a:prstGeom prst="rect">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194560"/>
            <a:ext cx="137160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PART 02</a:t>
            </a:r>
          </a:p>
        </p:txBody>
      </p:sp>
      <p:sp>
        <p:nvSpPr>
          <p:cNvPr id="5" name="TextBox 4"/>
          <p:cNvSpPr txBox="1"/>
          <p:nvPr/>
        </p:nvSpPr>
        <p:spPr>
          <a:xfrm>
            <a:off x="822960" y="2971800"/>
            <a:ext cx="10058400" cy="1005840"/>
          </a:xfrm>
          <a:prstGeom prst="rect">
            <a:avLst/>
          </a:prstGeom>
          <a:noFill/>
        </p:spPr>
        <p:txBody>
          <a:bodyPr wrap="square">
            <a:spAutoFit/>
          </a:bodyPr>
          <a:lstStyle/>
          <a:p>
            <a:pPr algn="l"/>
            <a:r>
              <a:rPr sz="3800" b="1">
                <a:solidFill>
                  <a:srgbClr val="FFFFFF"/>
                </a:solidFill>
                <a:latin typeface="맑은 고딕"/>
                <a:ea typeface="맑은 고딕"/>
                <a:cs typeface="맑은 고딕"/>
              </a:rPr>
              <a:t>Ingress란?</a:t>
            </a:r>
          </a:p>
        </p:txBody>
      </p:sp>
      <p:sp>
        <p:nvSpPr>
          <p:cNvPr id="6" name="TextBox 5"/>
          <p:cNvSpPr txBox="1"/>
          <p:nvPr/>
        </p:nvSpPr>
        <p:spPr>
          <a:xfrm>
            <a:off x="822960" y="3977639"/>
            <a:ext cx="9601200" cy="548640"/>
          </a:xfrm>
          <a:prstGeom prst="rect">
            <a:avLst/>
          </a:prstGeom>
          <a:noFill/>
        </p:spPr>
        <p:txBody>
          <a:bodyPr wrap="square">
            <a:spAutoFit/>
          </a:bodyPr>
          <a:lstStyle/>
          <a:p>
            <a:pPr algn="l"/>
            <a:r>
              <a:rPr sz="1600" b="0">
                <a:solidFill>
                  <a:srgbClr val="C9D3E6"/>
                </a:solidFill>
                <a:latin typeface="맑은 고딕"/>
                <a:ea typeface="맑은 고딕"/>
                <a:cs typeface="맑은 고딕"/>
              </a:rPr>
              <a:t>하나의 진입점, 여러 목적지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56032"/>
            <a:ext cx="7772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02</a:t>
            </a:r>
          </a:p>
        </p:txBody>
      </p:sp>
      <p:sp>
        <p:nvSpPr>
          <p:cNvPr id="5" name="TextBox 4"/>
          <p:cNvSpPr txBox="1"/>
          <p:nvPr/>
        </p:nvSpPr>
        <p:spPr>
          <a:xfrm>
            <a:off x="1417320" y="146304"/>
            <a:ext cx="10241280" cy="365760"/>
          </a:xfrm>
          <a:prstGeom prst="rect">
            <a:avLst/>
          </a:prstGeom>
          <a:noFill/>
        </p:spPr>
        <p:txBody>
          <a:bodyPr wrap="square">
            <a:spAutoFit/>
          </a:bodyPr>
          <a:lstStyle/>
          <a:p>
            <a:pPr algn="l"/>
            <a:r>
              <a:rPr sz="1200" b="1">
                <a:solidFill>
                  <a:srgbClr val="14B8A6"/>
                </a:solidFill>
                <a:latin typeface="맑은 고딕"/>
                <a:ea typeface="맑은 고딕"/>
                <a:cs typeface="맑은 고딕"/>
              </a:rPr>
              <a:t>PART 2 · Ingress란?</a:t>
            </a:r>
          </a:p>
        </p:txBody>
      </p:sp>
      <p:sp>
        <p:nvSpPr>
          <p:cNvPr id="6" name="TextBox 5"/>
          <p:cNvSpPr txBox="1"/>
          <p:nvPr/>
        </p:nvSpPr>
        <p:spPr>
          <a:xfrm>
            <a:off x="1417320" y="457200"/>
            <a:ext cx="10241280" cy="548640"/>
          </a:xfrm>
          <a:prstGeom prst="rect">
            <a:avLst/>
          </a:prstGeom>
          <a:noFill/>
        </p:spPr>
        <p:txBody>
          <a:bodyPr wrap="square">
            <a:spAutoFit/>
          </a:bodyPr>
          <a:lstStyle/>
          <a:p>
            <a:pPr algn="l"/>
            <a:r>
              <a:rPr sz="2500" b="1">
                <a:solidFill>
                  <a:srgbClr val="FFFFFF"/>
                </a:solidFill>
                <a:latin typeface="맑은 고딕"/>
                <a:ea typeface="맑은 고딕"/>
                <a:cs typeface="맑은 고딕"/>
              </a:rPr>
              <a:t>하나의 진입점으로 여러 서비스 연결</a:t>
            </a:r>
          </a:p>
        </p:txBody>
      </p:sp>
      <p:sp>
        <p:nvSpPr>
          <p:cNvPr id="7" name="TextBox 6"/>
          <p:cNvSpPr txBox="1"/>
          <p:nvPr/>
        </p:nvSpPr>
        <p:spPr>
          <a:xfrm>
            <a:off x="640080" y="1463040"/>
            <a:ext cx="5394960" cy="4206240"/>
          </a:xfrm>
          <a:prstGeom prst="rect">
            <a:avLst/>
          </a:prstGeom>
          <a:noFill/>
        </p:spPr>
        <p:txBody>
          <a:bodyPr wrap="square">
            <a:spAutoFit/>
          </a:bodyPr>
          <a:lstStyle/>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Ingress = 클러스터 외부 요청을 받아, 규칙에 따라 알맞은 Service로 안내하는 K8s 오브젝트</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L7(애플리케이션 계층) 라우팅 — 도메인 주소나 URL 경로를 보고 목적지를 결정</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외부에서는 Ingress 하나의 주소만 알면 되고, 나머지는 Ingress가 알아서 분배</a:t>
            </a:r>
          </a:p>
        </p:txBody>
      </p:sp>
      <p:sp>
        <p:nvSpPr>
          <p:cNvPr id="8" name="TextBox 7"/>
          <p:cNvSpPr txBox="1"/>
          <p:nvPr/>
        </p:nvSpPr>
        <p:spPr>
          <a:xfrm>
            <a:off x="6492240" y="1764792"/>
            <a:ext cx="4846320" cy="320040"/>
          </a:xfrm>
          <a:prstGeom prst="rect">
            <a:avLst/>
          </a:prstGeom>
          <a:noFill/>
        </p:spPr>
        <p:txBody>
          <a:bodyPr wrap="square">
            <a:spAutoFit/>
          </a:bodyPr>
          <a:lstStyle/>
          <a:p>
            <a:pPr algn="l"/>
            <a:r>
              <a:rPr sz="1300" b="1">
                <a:solidFill>
                  <a:srgbClr val="14213D"/>
                </a:solidFill>
                <a:latin typeface="맑은 고딕"/>
                <a:ea typeface="맑은 고딕"/>
                <a:cs typeface="맑은 고딕"/>
              </a:rPr>
              <a:t>Ingress 구조</a:t>
            </a:r>
          </a:p>
        </p:txBody>
      </p:sp>
      <p:sp>
        <p:nvSpPr>
          <p:cNvPr id="9" name="Rectangle 8"/>
          <p:cNvSpPr/>
          <p:nvPr/>
        </p:nvSpPr>
        <p:spPr>
          <a:xfrm>
            <a:off x="6492240" y="2148840"/>
            <a:ext cx="4846320" cy="548640"/>
          </a:xfrm>
          <a:prstGeom prst="rect">
            <a:avLst/>
          </a:prstGeom>
          <a:solidFill>
            <a:srgbClr val="8A8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148840"/>
            <a:ext cx="4846320" cy="548640"/>
          </a:xfrm>
          <a:prstGeom prst="rect">
            <a:avLst/>
          </a:prstGeom>
          <a:noFill/>
        </p:spPr>
        <p:txBody>
          <a:bodyPr wrap="square" anchor="ctr">
            <a:spAutoFit/>
          </a:bodyPr>
          <a:lstStyle/>
          <a:p>
            <a:pPr algn="ctr"/>
            <a:r>
              <a:rPr sz="1200" b="1">
                <a:solidFill>
                  <a:srgbClr val="FFFFFF"/>
                </a:solidFill>
                <a:latin typeface="맑은 고딕"/>
                <a:ea typeface="맑은 고딕"/>
                <a:cs typeface="맑은 고딕"/>
              </a:rPr>
              <a:t>외부 요청 (도메인/경로)</a:t>
            </a:r>
          </a:p>
        </p:txBody>
      </p:sp>
      <p:sp>
        <p:nvSpPr>
          <p:cNvPr id="11" name="Rectangle 10"/>
          <p:cNvSpPr/>
          <p:nvPr/>
        </p:nvSpPr>
        <p:spPr>
          <a:xfrm>
            <a:off x="6492240" y="2706624"/>
            <a:ext cx="4846320" cy="5486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706624"/>
            <a:ext cx="4846320" cy="548640"/>
          </a:xfrm>
          <a:prstGeom prst="rect">
            <a:avLst/>
          </a:prstGeom>
          <a:noFill/>
        </p:spPr>
        <p:txBody>
          <a:bodyPr wrap="square" anchor="ctr">
            <a:spAutoFit/>
          </a:bodyPr>
          <a:lstStyle/>
          <a:p>
            <a:pPr algn="ctr"/>
            <a:r>
              <a:rPr sz="1200" b="1">
                <a:solidFill>
                  <a:srgbClr val="FFFFFF"/>
                </a:solidFill>
                <a:latin typeface="맑은 고딕"/>
                <a:ea typeface="맑은 고딕"/>
                <a:cs typeface="맑은 고딕"/>
              </a:rPr>
              <a:t>Ingress (라우팅 규칙 판단)</a:t>
            </a:r>
          </a:p>
        </p:txBody>
      </p:sp>
      <p:sp>
        <p:nvSpPr>
          <p:cNvPr id="13" name="Rectangle 12"/>
          <p:cNvSpPr/>
          <p:nvPr/>
        </p:nvSpPr>
        <p:spPr>
          <a:xfrm>
            <a:off x="6492240" y="3264408"/>
            <a:ext cx="4846320" cy="54864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264408"/>
            <a:ext cx="4846320" cy="548640"/>
          </a:xfrm>
          <a:prstGeom prst="rect">
            <a:avLst/>
          </a:prstGeom>
          <a:noFill/>
        </p:spPr>
        <p:txBody>
          <a:bodyPr wrap="square" anchor="ctr">
            <a:spAutoFit/>
          </a:bodyPr>
          <a:lstStyle/>
          <a:p>
            <a:pPr algn="ctr"/>
            <a:r>
              <a:rPr sz="1200" b="1">
                <a:solidFill>
                  <a:srgbClr val="FFFFFF"/>
                </a:solidFill>
                <a:latin typeface="맑은 고딕"/>
                <a:ea typeface="맑은 고딕"/>
                <a:cs typeface="맑은 고딕"/>
              </a:rPr>
              <a:t>Service A / Service B / Service C</a:t>
            </a:r>
          </a:p>
        </p:txBody>
      </p:sp>
      <p:sp>
        <p:nvSpPr>
          <p:cNvPr id="15" name="TextBox 14"/>
          <p:cNvSpPr txBox="1"/>
          <p:nvPr/>
        </p:nvSpPr>
        <p:spPr>
          <a:xfrm>
            <a:off x="457200" y="6528816"/>
            <a:ext cx="731520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클라우드인프라관리  ·  7주차 1차시</a:t>
            </a:r>
          </a:p>
        </p:txBody>
      </p:sp>
      <p:sp>
        <p:nvSpPr>
          <p:cNvPr id="16" name="TextBox 15"/>
          <p:cNvSpPr txBox="1"/>
          <p:nvPr/>
        </p:nvSpPr>
        <p:spPr>
          <a:xfrm>
            <a:off x="10607040" y="6528816"/>
            <a:ext cx="118872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07 / 12</a:t>
            </a:r>
          </a:p>
        </p:txBody>
      </p:sp>
      <p:sp>
        <p:nvSpPr>
          <p:cNvPr id="17" name="Rectangle 16"/>
          <p:cNvSpPr/>
          <p:nvPr/>
        </p:nvSpPr>
        <p:spPr>
          <a:xfrm>
            <a:off x="457200" y="6473952"/>
            <a:ext cx="11274552" cy="9144"/>
          </a:xfrm>
          <a:prstGeom prst="rect">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56032"/>
            <a:ext cx="7772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02</a:t>
            </a:r>
          </a:p>
        </p:txBody>
      </p:sp>
      <p:sp>
        <p:nvSpPr>
          <p:cNvPr id="5" name="TextBox 4"/>
          <p:cNvSpPr txBox="1"/>
          <p:nvPr/>
        </p:nvSpPr>
        <p:spPr>
          <a:xfrm>
            <a:off x="1417320" y="146304"/>
            <a:ext cx="10241280" cy="365760"/>
          </a:xfrm>
          <a:prstGeom prst="rect">
            <a:avLst/>
          </a:prstGeom>
          <a:noFill/>
        </p:spPr>
        <p:txBody>
          <a:bodyPr wrap="square">
            <a:spAutoFit/>
          </a:bodyPr>
          <a:lstStyle/>
          <a:p>
            <a:pPr algn="l"/>
            <a:r>
              <a:rPr sz="1200" b="1">
                <a:solidFill>
                  <a:srgbClr val="14B8A6"/>
                </a:solidFill>
                <a:latin typeface="맑은 고딕"/>
                <a:ea typeface="맑은 고딕"/>
                <a:cs typeface="맑은 고딕"/>
              </a:rPr>
              <a:t>PART 2 · Ingress란?</a:t>
            </a:r>
          </a:p>
        </p:txBody>
      </p:sp>
      <p:sp>
        <p:nvSpPr>
          <p:cNvPr id="6" name="TextBox 5"/>
          <p:cNvSpPr txBox="1"/>
          <p:nvPr/>
        </p:nvSpPr>
        <p:spPr>
          <a:xfrm>
            <a:off x="1417320" y="457200"/>
            <a:ext cx="10241280" cy="548640"/>
          </a:xfrm>
          <a:prstGeom prst="rect">
            <a:avLst/>
          </a:prstGeom>
          <a:noFill/>
        </p:spPr>
        <p:txBody>
          <a:bodyPr wrap="square">
            <a:spAutoFit/>
          </a:bodyPr>
          <a:lstStyle/>
          <a:p>
            <a:pPr algn="l"/>
            <a:r>
              <a:rPr sz="2500" b="1">
                <a:solidFill>
                  <a:srgbClr val="FFFFFF"/>
                </a:solidFill>
                <a:latin typeface="맑은 고딕"/>
                <a:ea typeface="맑은 고딕"/>
                <a:cs typeface="맑은 고딕"/>
              </a:rPr>
              <a:t>라우팅 규칙의 두 가지 방식</a:t>
            </a:r>
          </a:p>
        </p:txBody>
      </p:sp>
      <p:sp>
        <p:nvSpPr>
          <p:cNvPr id="7" name="TextBox 6"/>
          <p:cNvSpPr txBox="1"/>
          <p:nvPr/>
        </p:nvSpPr>
        <p:spPr>
          <a:xfrm>
            <a:off x="640080" y="1508760"/>
            <a:ext cx="10881360" cy="4297680"/>
          </a:xfrm>
          <a:prstGeom prst="rect">
            <a:avLst/>
          </a:prstGeom>
          <a:noFill/>
        </p:spPr>
        <p:txBody>
          <a:bodyPr wrap="square">
            <a:spAutoFit/>
          </a:bodyPr>
          <a:lstStyle/>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도메인 기반: blog.mysite.com → Service A, shop.mysite.com → Service B</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경로 기반: mysite.com/ko → 한국어 서비스, mysite.com/en → 영어 서비스</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Ingress 리소스에 이 규칙들을 YAML로 선언하면, Ingress 컨트롤러가 실제로 트래픽을 분배</a:t>
            </a:r>
          </a:p>
        </p:txBody>
      </p:sp>
      <p:sp>
        <p:nvSpPr>
          <p:cNvPr id="8" name="TextBox 7"/>
          <p:cNvSpPr txBox="1"/>
          <p:nvPr/>
        </p:nvSpPr>
        <p:spPr>
          <a:xfrm>
            <a:off x="457200" y="6528816"/>
            <a:ext cx="731520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클라우드인프라관리  ·  7주차 1차시</a:t>
            </a:r>
          </a:p>
        </p:txBody>
      </p:sp>
      <p:sp>
        <p:nvSpPr>
          <p:cNvPr id="9" name="TextBox 8"/>
          <p:cNvSpPr txBox="1"/>
          <p:nvPr/>
        </p:nvSpPr>
        <p:spPr>
          <a:xfrm>
            <a:off x="10607040" y="6528816"/>
            <a:ext cx="118872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08 / 12</a:t>
            </a:r>
          </a:p>
        </p:txBody>
      </p:sp>
      <p:sp>
        <p:nvSpPr>
          <p:cNvPr id="10" name="Rectangle 9"/>
          <p:cNvSpPr/>
          <p:nvPr/>
        </p:nvSpPr>
        <p:spPr>
          <a:xfrm>
            <a:off x="457200" y="6473952"/>
            <a:ext cx="11274552" cy="9144"/>
          </a:xfrm>
          <a:prstGeom prst="rect">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56032"/>
            <a:ext cx="7772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03</a:t>
            </a:r>
          </a:p>
        </p:txBody>
      </p:sp>
      <p:sp>
        <p:nvSpPr>
          <p:cNvPr id="5" name="TextBox 4"/>
          <p:cNvSpPr txBox="1"/>
          <p:nvPr/>
        </p:nvSpPr>
        <p:spPr>
          <a:xfrm>
            <a:off x="1417320" y="146304"/>
            <a:ext cx="10241280" cy="365760"/>
          </a:xfrm>
          <a:prstGeom prst="rect">
            <a:avLst/>
          </a:prstGeom>
          <a:noFill/>
        </p:spPr>
        <p:txBody>
          <a:bodyPr wrap="square">
            <a:spAutoFit/>
          </a:bodyPr>
          <a:lstStyle/>
          <a:p>
            <a:pPr algn="l"/>
            <a:r>
              <a:rPr sz="1200" b="1">
                <a:solidFill>
                  <a:srgbClr val="14B8A6"/>
                </a:solidFill>
                <a:latin typeface="맑은 고딕"/>
                <a:ea typeface="맑은 고딕"/>
                <a:cs typeface="맑은 고딕"/>
              </a:rPr>
              <a:t>실습 안내</a:t>
            </a:r>
          </a:p>
        </p:txBody>
      </p:sp>
      <p:sp>
        <p:nvSpPr>
          <p:cNvPr id="6" name="TextBox 5"/>
          <p:cNvSpPr txBox="1"/>
          <p:nvPr/>
        </p:nvSpPr>
        <p:spPr>
          <a:xfrm>
            <a:off x="1417320" y="457200"/>
            <a:ext cx="10241280" cy="548640"/>
          </a:xfrm>
          <a:prstGeom prst="rect">
            <a:avLst/>
          </a:prstGeom>
          <a:noFill/>
        </p:spPr>
        <p:txBody>
          <a:bodyPr wrap="square">
            <a:spAutoFit/>
          </a:bodyPr>
          <a:lstStyle/>
          <a:p>
            <a:pPr algn="l"/>
            <a:r>
              <a:rPr sz="2500" b="1">
                <a:solidFill>
                  <a:srgbClr val="FFFFFF"/>
                </a:solidFill>
                <a:latin typeface="맑은 고딕"/>
                <a:ea typeface="맑은 고딕"/>
                <a:cs typeface="맑은 고딕"/>
              </a:rPr>
              <a:t>Killercoda — Ingress 존재 확인·구조 탐색</a:t>
            </a:r>
          </a:p>
        </p:txBody>
      </p:sp>
      <p:sp>
        <p:nvSpPr>
          <p:cNvPr id="7" name="TextBox 6"/>
          <p:cNvSpPr txBox="1"/>
          <p:nvPr/>
        </p:nvSpPr>
        <p:spPr>
          <a:xfrm>
            <a:off x="640080" y="1508760"/>
            <a:ext cx="10881360" cy="4297680"/>
          </a:xfrm>
          <a:prstGeom prst="rect">
            <a:avLst/>
          </a:prstGeom>
          <a:noFill/>
        </p:spPr>
        <p:txBody>
          <a:bodyPr wrap="square">
            <a:spAutoFit/>
          </a:bodyPr>
          <a:lstStyle/>
          <a:p>
            <a:pPr>
              <a:lnSpc>
                <a:spcPct val="149500"/>
              </a:lnSpc>
            </a:pPr>
            <a:r>
              <a:rPr sz="1700" b="1">
                <a:solidFill>
                  <a:srgbClr val="0D9488"/>
                </a:solidFill>
                <a:latin typeface="맑은 고딕"/>
                <a:ea typeface="맑은 고딕"/>
                <a:cs typeface="맑은 고딕"/>
              </a:rPr>
              <a:t>●  (VM은 minikube addons enable ingress) 여기는 kubeadm이라 매니페스트로 직접 설치</a:t>
            </a:r>
          </a:p>
          <a:p>
            <a:pPr>
              <a:lnSpc>
                <a:spcPct val="149500"/>
              </a:lnSpc>
            </a:pPr>
            <a:r>
              <a:rPr sz="1700" b="1">
                <a:solidFill>
                  <a:srgbClr val="0D9488"/>
                </a:solidFill>
                <a:latin typeface="맑은 고딕"/>
                <a:ea typeface="맑은 고딕"/>
                <a:cs typeface="맑은 고딕"/>
              </a:rPr>
              <a:t>●  kubectl apply -f .../ingress-nginx/.../baremetal/deploy.yaml</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kubectl get pods -n ingress-nginx 로 컨트롤러 Pod 확인</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기존 ingress-nginx 예제 YAML을 kubectl explain ingress로 구조 살펴보기</a:t>
            </a:r>
          </a:p>
        </p:txBody>
      </p:sp>
      <p:sp>
        <p:nvSpPr>
          <p:cNvPr id="8" name="TextBox 7"/>
          <p:cNvSpPr txBox="1"/>
          <p:nvPr/>
        </p:nvSpPr>
        <p:spPr>
          <a:xfrm>
            <a:off x="457200" y="6528816"/>
            <a:ext cx="731520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클라우드인프라관리  ·  7주차 1차시</a:t>
            </a:r>
          </a:p>
        </p:txBody>
      </p:sp>
      <p:sp>
        <p:nvSpPr>
          <p:cNvPr id="9" name="TextBox 8"/>
          <p:cNvSpPr txBox="1"/>
          <p:nvPr/>
        </p:nvSpPr>
        <p:spPr>
          <a:xfrm>
            <a:off x="10607040" y="6528816"/>
            <a:ext cx="118872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09 / 12</a:t>
            </a:r>
          </a:p>
        </p:txBody>
      </p:sp>
      <p:sp>
        <p:nvSpPr>
          <p:cNvPr id="10" name="Rectangle 9"/>
          <p:cNvSpPr/>
          <p:nvPr/>
        </p:nvSpPr>
        <p:spPr>
          <a:xfrm>
            <a:off x="457200" y="6473952"/>
            <a:ext cx="11274552" cy="9144"/>
          </a:xfrm>
          <a:prstGeom prst="rect">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56032"/>
            <a:ext cx="7772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03</a:t>
            </a:r>
          </a:p>
        </p:txBody>
      </p:sp>
      <p:sp>
        <p:nvSpPr>
          <p:cNvPr id="5" name="TextBox 4"/>
          <p:cNvSpPr txBox="1"/>
          <p:nvPr/>
        </p:nvSpPr>
        <p:spPr>
          <a:xfrm>
            <a:off x="1417320" y="146304"/>
            <a:ext cx="10241280" cy="365760"/>
          </a:xfrm>
          <a:prstGeom prst="rect">
            <a:avLst/>
          </a:prstGeom>
          <a:noFill/>
        </p:spPr>
        <p:txBody>
          <a:bodyPr wrap="square">
            <a:spAutoFit/>
          </a:bodyPr>
          <a:lstStyle/>
          <a:p>
            <a:pPr algn="l"/>
            <a:r>
              <a:rPr sz="1200" b="1">
                <a:solidFill>
                  <a:srgbClr val="14B8A6"/>
                </a:solidFill>
                <a:latin typeface="맑은 고딕"/>
                <a:ea typeface="맑은 고딕"/>
                <a:cs typeface="맑은 고딕"/>
              </a:rPr>
              <a:t>실습 안내</a:t>
            </a:r>
          </a:p>
        </p:txBody>
      </p:sp>
      <p:sp>
        <p:nvSpPr>
          <p:cNvPr id="6" name="TextBox 5"/>
          <p:cNvSpPr txBox="1"/>
          <p:nvPr/>
        </p:nvSpPr>
        <p:spPr>
          <a:xfrm>
            <a:off x="1417320" y="457200"/>
            <a:ext cx="10241280" cy="548640"/>
          </a:xfrm>
          <a:prstGeom prst="rect">
            <a:avLst/>
          </a:prstGeom>
          <a:noFill/>
        </p:spPr>
        <p:txBody>
          <a:bodyPr wrap="square">
            <a:spAutoFit/>
          </a:bodyPr>
          <a:lstStyle/>
          <a:p>
            <a:pPr algn="l"/>
            <a:r>
              <a:rPr sz="2500" b="1">
                <a:solidFill>
                  <a:srgbClr val="FFFFFF"/>
                </a:solidFill>
                <a:latin typeface="맑은 고딕"/>
                <a:ea typeface="맑은 고딕"/>
                <a:cs typeface="맑은 고딕"/>
              </a:rPr>
              <a:t>VM 안내</a:t>
            </a:r>
          </a:p>
        </p:txBody>
      </p:sp>
      <p:sp>
        <p:nvSpPr>
          <p:cNvPr id="7" name="TextBox 6"/>
          <p:cNvSpPr txBox="1"/>
          <p:nvPr/>
        </p:nvSpPr>
        <p:spPr>
          <a:xfrm>
            <a:off x="640080" y="1508760"/>
            <a:ext cx="10881360" cy="4297680"/>
          </a:xfrm>
          <a:prstGeom prst="rect">
            <a:avLst/>
          </a:prstGeom>
          <a:noFill/>
        </p:spPr>
        <p:txBody>
          <a:bodyPr wrap="square">
            <a:spAutoFit/>
          </a:bodyPr>
          <a:lstStyle/>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개인 VM에서도 minikube addons enable ingress 실행</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kubectl get pods -n ingress-nginx 로 컨트롤러가 Running인지 확인 후 캡처</a:t>
            </a:r>
          </a:p>
          <a:p>
            <a:pPr>
              <a:lnSpc>
                <a:spcPct val="149500"/>
              </a:lnSpc>
            </a:pPr>
            <a:r>
              <a:rPr sz="1700" b="1">
                <a:solidFill>
                  <a:srgbClr val="0D9488"/>
                </a:solidFill>
                <a:latin typeface="맑은 고딕"/>
                <a:ea typeface="맑은 고딕"/>
                <a:cs typeface="맑은 고딕"/>
              </a:rPr>
              <a:t>●  </a:t>
            </a:r>
            <a:r>
              <a:rPr sz="1700" b="0">
                <a:solidFill>
                  <a:srgbClr val="222733"/>
                </a:solidFill>
                <a:latin typeface="맑은 고딕"/>
                <a:ea typeface="맑은 고딕"/>
                <a:cs typeface="맑은 고딕"/>
              </a:rPr>
              <a:t>다음 2차시에 이 컨트롤러를 이용해 실제 라우팅 규칙을 만들어봅니다</a:t>
            </a:r>
          </a:p>
        </p:txBody>
      </p:sp>
      <p:sp>
        <p:nvSpPr>
          <p:cNvPr id="8" name="TextBox 7"/>
          <p:cNvSpPr txBox="1"/>
          <p:nvPr/>
        </p:nvSpPr>
        <p:spPr>
          <a:xfrm>
            <a:off x="457200" y="6528816"/>
            <a:ext cx="731520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클라우드인프라관리  ·  7주차 1차시</a:t>
            </a:r>
          </a:p>
        </p:txBody>
      </p:sp>
      <p:sp>
        <p:nvSpPr>
          <p:cNvPr id="9" name="TextBox 8"/>
          <p:cNvSpPr txBox="1"/>
          <p:nvPr/>
        </p:nvSpPr>
        <p:spPr>
          <a:xfrm>
            <a:off x="10607040" y="6528816"/>
            <a:ext cx="1188720" cy="274320"/>
          </a:xfrm>
          <a:prstGeom prst="rect">
            <a:avLst/>
          </a:prstGeom>
          <a:noFill/>
        </p:spPr>
        <p:txBody>
          <a:bodyPr wrap="square">
            <a:spAutoFit/>
          </a:bodyPr>
          <a:lstStyle/>
          <a:p>
            <a:pPr algn="l"/>
            <a:r>
              <a:rPr sz="900" b="0">
                <a:solidFill>
                  <a:srgbClr val="5B6373"/>
                </a:solidFill>
                <a:latin typeface="맑은 고딕"/>
                <a:ea typeface="맑은 고딕"/>
                <a:cs typeface="맑은 고딕"/>
              </a:rPr>
              <a:t>10 / 12</a:t>
            </a:r>
          </a:p>
        </p:txBody>
      </p:sp>
      <p:sp>
        <p:nvSpPr>
          <p:cNvPr id="10" name="Rectangle 9"/>
          <p:cNvSpPr/>
          <p:nvPr/>
        </p:nvSpPr>
        <p:spPr>
          <a:xfrm>
            <a:off x="457200" y="6473952"/>
            <a:ext cx="11274552" cy="9144"/>
          </a:xfrm>
          <a:prstGeom prst="rect">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058400" cy="548640"/>
          </a:xfrm>
          <a:prstGeom prst="rect">
            <a:avLst/>
          </a:prstGeom>
          <a:noFill/>
        </p:spPr>
        <p:txBody>
          <a:bodyPr wrap="square">
            <a:spAutoFit/>
          </a:bodyPr>
          <a:lstStyle/>
          <a:p>
            <a:pPr algn="l"/>
            <a:r>
              <a:rPr sz="2800" b="1">
                <a:solidFill>
                  <a:srgbClr val="FFFFFF"/>
                </a:solidFill>
                <a:latin typeface="맑은 고딕"/>
                <a:ea typeface="맑은 고딕"/>
                <a:cs typeface="맑은 고딕"/>
              </a:rPr>
              <a:t>오늘의 정리</a:t>
            </a:r>
          </a:p>
        </p:txBody>
      </p:sp>
      <p:sp>
        <p:nvSpPr>
          <p:cNvPr id="5" name="Rectangle 4"/>
          <p:cNvSpPr/>
          <p:nvPr/>
        </p:nvSpPr>
        <p:spPr>
          <a:xfrm>
            <a:off x="822960" y="1645920"/>
            <a:ext cx="457200" cy="4572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1</a:t>
            </a:r>
          </a:p>
        </p:txBody>
      </p:sp>
      <p:sp>
        <p:nvSpPr>
          <p:cNvPr id="6" name="TextBox 5"/>
          <p:cNvSpPr txBox="1"/>
          <p:nvPr/>
        </p:nvSpPr>
        <p:spPr>
          <a:xfrm>
            <a:off x="1463040" y="1691640"/>
            <a:ext cx="9601200" cy="548640"/>
          </a:xfrm>
          <a:prstGeom prst="rect">
            <a:avLst/>
          </a:prstGeom>
          <a:noFill/>
        </p:spPr>
        <p:txBody>
          <a:bodyPr wrap="square">
            <a:spAutoFit/>
          </a:bodyPr>
          <a:lstStyle/>
          <a:p>
            <a:pPr algn="l"/>
            <a:r>
              <a:rPr sz="1800" b="1">
                <a:solidFill>
                  <a:srgbClr val="FFFFFF"/>
                </a:solidFill>
                <a:latin typeface="맑은 고딕"/>
                <a:ea typeface="맑은 고딕"/>
                <a:cs typeface="맑은 고딕"/>
              </a:rPr>
              <a:t>Ingress는 클러스터 외부 요청을 도메인/경로 규칙에 따라 알맞은 Service로 안내한다</a:t>
            </a:r>
          </a:p>
        </p:txBody>
      </p:sp>
      <p:sp>
        <p:nvSpPr>
          <p:cNvPr id="7" name="Rectangle 6"/>
          <p:cNvSpPr/>
          <p:nvPr/>
        </p:nvSpPr>
        <p:spPr>
          <a:xfrm>
            <a:off x="822960" y="2423160"/>
            <a:ext cx="457200" cy="4572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4213D"/>
                </a:solidFill>
                <a:latin typeface="맑은 고딕"/>
                <a:ea typeface="맑은 고딕"/>
                <a:cs typeface="맑은 고딕"/>
              </a:rPr>
              <a:t>2</a:t>
            </a:r>
          </a:p>
        </p:txBody>
      </p:sp>
      <p:sp>
        <p:nvSpPr>
          <p:cNvPr id="8" name="TextBox 7"/>
          <p:cNvSpPr txBox="1"/>
          <p:nvPr/>
        </p:nvSpPr>
        <p:spPr>
          <a:xfrm>
            <a:off x="1463040" y="2468879"/>
            <a:ext cx="9601200" cy="548640"/>
          </a:xfrm>
          <a:prstGeom prst="rect">
            <a:avLst/>
          </a:prstGeom>
          <a:noFill/>
        </p:spPr>
        <p:txBody>
          <a:bodyPr wrap="square">
            <a:spAutoFit/>
          </a:bodyPr>
          <a:lstStyle/>
          <a:p>
            <a:pPr algn="l"/>
            <a:r>
              <a:rPr sz="1800" b="1">
                <a:solidFill>
                  <a:srgbClr val="FFFFFF"/>
                </a:solidFill>
                <a:latin typeface="맑은 고딕"/>
                <a:ea typeface="맑은 고딕"/>
                <a:cs typeface="맑은 고딕"/>
              </a:rPr>
              <a:t>외부에서는 Ingress 하나의 주소만 알면, 여러 Service를 포트 번호 없이 이용할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058400" cy="548640"/>
          </a:xfrm>
          <a:prstGeom prst="rect">
            <a:avLst/>
          </a:prstGeom>
          <a:noFill/>
        </p:spPr>
        <p:txBody>
          <a:bodyPr wrap="square">
            <a:spAutoFit/>
          </a:bodyPr>
          <a:lstStyle/>
          <a:p>
            <a:pPr algn="l"/>
            <a:r>
              <a:rPr sz="2800" b="1">
                <a:solidFill>
                  <a:srgbClr val="FFFFFF"/>
                </a:solidFill>
                <a:latin typeface="맑은 고딕"/>
                <a:ea typeface="맑은 고딕"/>
                <a:cs typeface="맑은 고딕"/>
              </a:rPr>
              <a:t>다음 차시 예고</a:t>
            </a:r>
          </a:p>
        </p:txBody>
      </p:sp>
      <p:sp>
        <p:nvSpPr>
          <p:cNvPr id="5" name="TextBox 4"/>
          <p:cNvSpPr txBox="1"/>
          <p:nvPr/>
        </p:nvSpPr>
        <p:spPr>
          <a:xfrm>
            <a:off x="1051560" y="1645920"/>
            <a:ext cx="9875520" cy="365760"/>
          </a:xfrm>
          <a:prstGeom prst="rect">
            <a:avLst/>
          </a:prstGeom>
          <a:noFill/>
        </p:spPr>
        <p:txBody>
          <a:bodyPr wrap="square">
            <a:spAutoFit/>
          </a:bodyPr>
          <a:lstStyle/>
          <a:p>
            <a:pPr algn="l"/>
            <a:r>
              <a:rPr sz="1500" b="1">
                <a:solidFill>
                  <a:srgbClr val="14B8A6"/>
                </a:solidFill>
                <a:latin typeface="맑은 고딕"/>
                <a:ea typeface="맑은 고딕"/>
                <a:cs typeface="맑은 고딕"/>
              </a:rPr>
              <a:t>다음 차시 예고 — 7주차 2차시</a:t>
            </a:r>
          </a:p>
        </p:txBody>
      </p:sp>
      <p:sp>
        <p:nvSpPr>
          <p:cNvPr id="6" name="TextBox 5"/>
          <p:cNvSpPr txBox="1"/>
          <p:nvPr/>
        </p:nvSpPr>
        <p:spPr>
          <a:xfrm>
            <a:off x="1051560" y="2103120"/>
            <a:ext cx="9875520" cy="914400"/>
          </a:xfrm>
          <a:prstGeom prst="rect">
            <a:avLst/>
          </a:prstGeom>
          <a:noFill/>
        </p:spPr>
        <p:txBody>
          <a:bodyPr wrap="square">
            <a:spAutoFit/>
          </a:bodyPr>
          <a:lstStyle/>
          <a:p>
            <a:pPr algn="l"/>
            <a:r>
              <a:rPr sz="1700" b="0">
                <a:solidFill>
                  <a:srgbClr val="FFFFFF"/>
                </a:solidFill>
                <a:latin typeface="맑은 고딕"/>
                <a:ea typeface="맑은 고딕"/>
                <a:cs typeface="맑은 고딕"/>
              </a:rPr>
              <a:t>오늘 활성화한 Ingress 컨트롤러를 이용해, hosts 파일로 가짜 도메인을 만들고 실제로 도메인 주소로 서비스에 접속하는 라우팅 규칙을 직접 작성합니다.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