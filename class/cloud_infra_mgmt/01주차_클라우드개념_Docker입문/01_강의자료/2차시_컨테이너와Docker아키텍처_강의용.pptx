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</a:rPr>
              <a:t>클라우드인프라관리  ·  1주차 2차시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컨테이너와 Docker 아키텍처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</a:rPr>
              <a:t>VM vs Container · Image·Container·Registry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담당교수  김지윤</a:t>
            </a:r>
          </a:p>
        </p:txBody>
      </p:sp>
      <p:sp>
        <p:nvSpPr>
          <p:cNvPr id="9" name="Rectangle 8"/>
          <p:cNvSpPr/>
          <p:nvPr/>
        </p:nvSpPr>
        <p:spPr>
          <a:xfrm>
            <a:off x="9509760" y="5943600"/>
            <a:ext cx="18288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4213D"/>
                </a:solidFill>
                <a:latin typeface="맑은 고딕"/>
              </a:rPr>
              <a:t>강의용(교수자 시연)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0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2000" b="0">
                <a:solidFill>
                  <a:srgbClr val="222733"/>
                </a:solidFill>
                <a:latin typeface="맑은 고딕"/>
              </a:rPr>
              <a:t>1.  컨테이너가 VM의 한계를 어떻게 해결하는가</a:t>
            </a:r>
          </a:p>
          <a:p>
            <a:pPr>
              <a:lnSpc>
                <a:spcPct val="115000"/>
              </a:lnSpc>
            </a:pPr>
            <a:r>
              <a:rPr sz="20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2000" b="0">
                <a:solidFill>
                  <a:srgbClr val="222733"/>
                </a:solidFill>
                <a:latin typeface="맑은 고딕"/>
              </a:rPr>
              <a:t>2.  VM과 컨테이너를 정확히 비교할 수 있다</a:t>
            </a:r>
          </a:p>
          <a:p>
            <a:pPr>
              <a:lnSpc>
                <a:spcPct val="115000"/>
              </a:lnSpc>
            </a:pPr>
            <a:r>
              <a:rPr sz="20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2000" b="0">
                <a:solidFill>
                  <a:srgbClr val="222733"/>
                </a:solidFill>
                <a:latin typeface="맑은 고딕"/>
              </a:rPr>
              <a:t>3.  Docker 아키텍처(Image·Container·Registry)를 이해한다</a:t>
            </a:r>
          </a:p>
          <a:p>
            <a:pPr>
              <a:lnSpc>
                <a:spcPct val="115000"/>
              </a:lnSpc>
            </a:pPr>
            <a:r>
              <a:rPr sz="20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2000" b="0">
                <a:solidFill>
                  <a:srgbClr val="222733"/>
                </a:solidFill>
                <a:latin typeface="맑은 고딕"/>
              </a:rPr>
              <a:t>4.  Killercoda에서 첫 Docker 명령어를 실행해본다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1주차 2차시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02 / 11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진행 순서 (60분)</a:t>
            </a:r>
          </a:p>
        </p:txBody>
      </p:sp>
      <p:sp>
        <p:nvSpPr>
          <p:cNvPr id="6" name="Rectangle 5"/>
          <p:cNvSpPr/>
          <p:nvPr/>
        </p:nvSpPr>
        <p:spPr>
          <a:xfrm>
            <a:off x="1177747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7747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4907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① 개념 설명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4907" y="2834640"/>
            <a:ext cx="1773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9488"/>
                </a:solidFill>
                <a:latin typeface="맑은 고딕"/>
              </a:rPr>
              <a:t>25분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4907" y="356616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강의자료 기반 직접 강의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30828" y="3273552"/>
            <a:ext cx="128016" cy="21945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63670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763670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00830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② Killercoda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00830" y="2834640"/>
            <a:ext cx="1773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9488"/>
                </a:solidFill>
                <a:latin typeface="맑은 고딕"/>
              </a:rPr>
              <a:t>15분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00830" y="356616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docker run hello-world 실습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16751" y="3273552"/>
            <a:ext cx="128016" cy="21945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9593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49593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86753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③ VM 안내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6753" y="2834640"/>
            <a:ext cx="1773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9488"/>
                </a:solidFill>
                <a:latin typeface="맑은 고딕"/>
              </a:rPr>
              <a:t>5분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6753" y="356616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VM에서 동일 실습 안내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02675" y="3273552"/>
            <a:ext cx="128016" cy="21945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35516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35516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72676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④ 결과 제출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72676" y="2834640"/>
            <a:ext cx="1773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9488"/>
                </a:solidFill>
                <a:latin typeface="맑은 고딕"/>
              </a:rPr>
              <a:t>5분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72676" y="356616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체크리스트 제출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1주차 2차시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03 / 11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컨테이너란?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OS 커널을 공유하는 가벼운 가상화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컨테이너란?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컨테이너 구조 — OS 커널을 공유한다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OS를 복제하지 않고, 커널만 공유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컨테이너 = 앱 + 필요한 라이브러리만 포함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결과: 수십 MB, 부팅 1초 내외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컨테이너 구조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App 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App 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App 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3822191"/>
            <a:ext cx="4846320" cy="548640"/>
          </a:xfrm>
          <a:prstGeom prst="rect">
            <a:avLst/>
          </a:prstGeom>
          <a:solidFill>
            <a:srgbClr val="22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822191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Docker Engine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4379976"/>
            <a:ext cx="4846320" cy="54864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379976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Host OS / 물리 서버(Hardware)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1주차 2차시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05 / 11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컨테이너란?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VM vs 컨테이너, 한눈에 비교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600200"/>
            <a:ext cx="2377440" cy="56692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00200"/>
            <a:ext cx="23774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구분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600200"/>
            <a:ext cx="4206240" cy="566928"/>
          </a:xfrm>
          <a:prstGeom prst="rect">
            <a:avLst/>
          </a:prstGeom>
          <a:solidFill>
            <a:srgbClr val="22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1600200"/>
            <a:ext cx="42062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가상머신 (VM)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1600200"/>
            <a:ext cx="4206240" cy="56692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1600200"/>
            <a:ext cx="42062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컨테이너 (Container)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2167128"/>
            <a:ext cx="2377440" cy="5669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2167128"/>
            <a:ext cx="21579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가상화 단위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2167128"/>
            <a:ext cx="4206240" cy="5669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10128" y="2167128"/>
            <a:ext cx="3986783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하드웨어 전체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06640" y="2167128"/>
            <a:ext cx="4206240" cy="5669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16367" y="2167128"/>
            <a:ext cx="3986783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운영체제(OS) 커널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2734056"/>
            <a:ext cx="23774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2734056"/>
            <a:ext cx="21579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포함 요소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2734056"/>
            <a:ext cx="4206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10128" y="2734056"/>
            <a:ext cx="3986783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OS 전체 + 애플리케이션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06640" y="2734056"/>
            <a:ext cx="4206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16367" y="2734056"/>
            <a:ext cx="3986783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애플리케이션 + 필요한 라이브러리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3300984"/>
            <a:ext cx="2377440" cy="5669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3300984"/>
            <a:ext cx="21579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용량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0" y="3300984"/>
            <a:ext cx="4206240" cy="5669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10128" y="3300984"/>
            <a:ext cx="3986783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수 GB ~ 수십 GB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06640" y="3300984"/>
            <a:ext cx="4206240" cy="5669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16367" y="3300984"/>
            <a:ext cx="3986783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수십 MB ~ 수백 MB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3867912"/>
            <a:ext cx="23774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3867912"/>
            <a:ext cx="21579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부팅 속도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0" y="3867912"/>
            <a:ext cx="4206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10128" y="3867912"/>
            <a:ext cx="3986783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수십 초 ~ 수 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06640" y="3867912"/>
            <a:ext cx="4206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16367" y="3867912"/>
            <a:ext cx="3986783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1초 내외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" y="4434840"/>
            <a:ext cx="2377440" cy="5669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8" y="4434840"/>
            <a:ext cx="21579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격리 수준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0" y="4434840"/>
            <a:ext cx="4206240" cy="5669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10128" y="4434840"/>
            <a:ext cx="3986783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강함 (완전 격리)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06640" y="4434840"/>
            <a:ext cx="4206240" cy="5669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16367" y="4434840"/>
            <a:ext cx="3986783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상대적으로 약함 (커널 공유)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960" y="5001768"/>
            <a:ext cx="23774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2688" y="5001768"/>
            <a:ext cx="21579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대표 기술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0" y="5001768"/>
            <a:ext cx="4206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310128" y="5001768"/>
            <a:ext cx="3986783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VMware, VirtualBox, Hyper-V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06640" y="5001768"/>
            <a:ext cx="4206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16367" y="5001768"/>
            <a:ext cx="3986783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Docker, Podman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1주차 2차시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06 / 11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Docker 아키텍처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Image · Container · Registry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Docker 아키텍처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Docker 아키텍처 — Image, Container, Registry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Docker Engine – 컨테이너를 만들고 실행하는 핵심 엔진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Image – 컨테이너 실행에 필요한 모든 것을 담은 "설계도" (읽기 전용)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Container – Image를 실제로 실행한 상태 = "실체"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Registry (Docker Hub) – Image를 저장하고 공유하는 저장소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🥞  비유로 이해하기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Image = 붕어빵 틀 (설계도)   /   Container = 실제로 구워진 붕어빵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→ 같은 틀(Image) 하나로 여러 개의 붕어빵(Container)을 동시에 구울 수 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1주차 2차시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08 / 11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Killercoda 소개 &amp; 오늘 실행할 명령어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브라우저에서 바로 실습, 설치 불필요 (이미 Docker 설치된 상태로 제공)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⚠ 60분 시간 제한 있음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docker run hello-world — 첫 컨테이너 실행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docker images — 받아진 이미지 확인 (내 붕어빵 틀 목록)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docker ps -a — 실행된 컨테이너 목록 확인 (구워진 붕어빵 목록)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09 / 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VM에서도 동일하게 실습하기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0주차 배포받은 개인 VM(cloud-lab)에 로그인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docker run hello-world 실행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docker images / docker ps -a 로 결과 확인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Killercoda와 결과가 똑같이 나오는지 비교해보기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10 / 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컨테이너 = OS 커널을 공유해 가볍고 빠른 가상화 방식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Docker = Image를 Container로 실행하는 도구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다음 차시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</a:rPr>
              <a:t>다음 차시 예고 — 1주차 3차시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</a:rPr>
              <a:t>Docker 데몬이 실제로 컨테이너를 어떻게 다루는지 더 깊이 살펴보고, nginx 웹 서버 컨테이너를 직접 실행·점검(inspect)해보는 심화 실습을 진행합니다.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