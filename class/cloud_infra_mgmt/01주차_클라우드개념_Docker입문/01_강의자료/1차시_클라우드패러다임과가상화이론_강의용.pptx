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인사 및 도입. "안녕하세요, 클라우드인프라관리 1주차 1차시를 시작하겠습니다. 오늘은 우리가 왜 Docker와 Kubernetes 같은 기술을 배워야 하는지, 그 뿌리가 되는 클라우드와 가상화 개념부터 짚고 넘어가겠습니다." 전체 대본은 02_강의대본 문서 참고.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가지 목표를 빠르게 읽어준다. 특히 5번 '오늘 직접 실습해본다'는 점을 강조해 동기 부여. 이론이 지루하지 않도록 '오늘 배운 걸 조금 뒤에 바로 눈으로 확인할 것'이라고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1시간이 어떻게 구성되는지 안내. 특히 Killercoda가 60분 제한이 있다는 점, 초기화되어도 로컬 VM에서 이어갈 수 있다는 안전장치를 미리 언급해 학생들의 불안을 줄인다.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쇼핑몰 세일 예시를 학생들에게 익숙한 상황(수강신청, 콘서트 티켓 예매 등)으로 바꿔 설명하면 공감도가 높다.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NIST의 클라우드 5대 특징을 쉬운 말로 풀어 설명. 전기요금 비유(쓴 만큼 낸다)가 종량제 이해에 효과적.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행을 빠르게 훑되, 학생들이 실감하기 쉬운 '확장성'과 '과금 방식' 행에서 잠시 멈춰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오른쪽 그림을 가리키며 설명: '가장 아래가 실제 하드웨어, 그 위에 Hypervisor가 있고, 그 위에 가상머신 3개가 각각 자기만의 OS를 가지고 올라가 있습니다. 문제는 - 저 파란 박스 하나하나가 전부 완전한 OS라는 것.' 다음 슬라이드에서 이 문제를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가지 한계를 하나씩 짚은 뒤 마지막 강조 문구를 읽어준다. 학생들에게 '실제로 여러분 노트북에 VM 3~4개를 띄우면 팬이 엄청 돌아가는 걸 경험해본 적 있을 것' 같은 공감 유도 멘트 활용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방식의 다이어그램을 앞 슬라이드와 나란히 비교하듯 설명. 'OS가 사라지고 그 자리에 앱만 남았다'는 시각적 대비를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표를 위에서 아래로 짚어가며 읽는다. 특히 '용량'과 '부팅 속도' 행에서 학생들이 가장 크게 체감하므로 강조. '격리 수준'에서는 컨테이너가 무조건 좋은 것은 아니라는 균형 잡힌 시각 전달.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 구성요소를 순서대로 설명 후, 붕어빵 비유로 마무리. '이따 Killercoda에서 docker images 치면 그게 붕어빵 틀 목록, docker ps 치면 지금 구워지고 있는 붕어빵 목록이라고 생각하면 됩니다' 라고 예고하며 다음 슬라이드로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Killercoda 링크는 05_Killercoda_링크 폴더에서 확인. 화면 공유로 실제 브라우저를 열어 hello-world 실행 결과를 함께 보여준다. 이미지가 없으면 자동으로 pull 하는 과정을 짚어준다.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VM 점검은 오늘 수업의 '숙제 확인'이 아니라 안전장치임을 강조. 아직 0주차를 완료하지 못한 학생이 있다면 이번 주 안에 반드시 완료하도록 안내하고 LMS 공지의 사양 요구사항(디스크 30GB, RAM 8GB)을 재환기.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3가지를 학생들과 함께 소리내어 복기시키면 좋다. 다음 차시 예고 후 오늘 실습(Killercoda)으로 넘어간다는 것을 명확히 안내하며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00584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B8A6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맑은 고딕"/>
              </a:rPr>
              <a:t>클라우드 컴퓨팅 패러다임과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맑은 고딕"/>
              </a:rPr>
              <a:t>가상화 기술의 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9D3E6"/>
                </a:solidFill>
                <a:latin typeface="맑은 고딕"/>
              </a:rPr>
              <a:t>Hypervisor vs Container · Docker 아키텍처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59436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20000"/>
              </a:lnSpc>
              <a:spcAft>
                <a:spcPts val="2200"/>
              </a:spcAft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클라우드 vs 온프레미스, 무엇이 다른가</a:t>
            </a:r>
          </a:p>
          <a:p>
            <a:pPr marL="0" indent="0">
              <a:lnSpc>
                <a:spcPct val="120000"/>
              </a:lnSpc>
              <a:spcAft>
                <a:spcPts val="2200"/>
              </a:spcAft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가상화(Virtualization)가 필요한 이유</a:t>
            </a:r>
          </a:p>
          <a:p>
            <a:pPr marL="0" indent="0">
              <a:lnSpc>
                <a:spcPct val="120000"/>
              </a:lnSpc>
              <a:spcAft>
                <a:spcPts val="2200"/>
              </a:spcAft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가상머신(VM) vs 컨테이너(Container)</a:t>
            </a:r>
          </a:p>
          <a:p>
            <a:pPr marL="0" indent="0">
              <a:lnSpc>
                <a:spcPct val="120000"/>
              </a:lnSpc>
              <a:spcAft>
                <a:spcPts val="2200"/>
              </a:spcAft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4.  Docker 아키텍처 한눈에 보기</a:t>
            </a:r>
          </a:p>
          <a:p>
            <a:pPr marL="0" indent="0">
              <a:lnSpc>
                <a:spcPct val="120000"/>
              </a:lnSpc>
              <a:spcAft>
                <a:spcPts val="2200"/>
              </a:spcAft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5.  Killercoda 첫 실습 미리보기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02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7747" y="1828800"/>
            <a:ext cx="2044598" cy="3108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4598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02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02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B8A6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02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B637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Chevron 10"/>
          <p:cNvSpPr/>
          <p:nvPr/>
        </p:nvSpPr>
        <p:spPr>
          <a:xfrm>
            <a:off x="3430828" y="3273552"/>
            <a:ext cx="128016" cy="219456"/>
          </a:xfrm>
          <a:prstGeom prst="chevron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63670" y="1828800"/>
            <a:ext cx="2044598" cy="3108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4598" cy="109728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02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213D"/>
                </a:solidFill>
                <a:latin typeface="맑은 고딕"/>
              </a:rPr>
              <a:t>② Killercoda 따라하기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02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2335C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02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B6373"/>
                </a:solidFill>
                <a:latin typeface="맑은 고딕"/>
              </a:rPr>
              <a:t>hello-world 실습</a:t>
            </a:r>
          </a:p>
        </p:txBody>
      </p:sp>
      <p:sp>
        <p:nvSpPr>
          <p:cNvPr id="17" name="Chevron 16"/>
          <p:cNvSpPr/>
          <p:nvPr/>
        </p:nvSpPr>
        <p:spPr>
          <a:xfrm>
            <a:off x="6016752" y="3273552"/>
            <a:ext cx="128016" cy="219456"/>
          </a:xfrm>
          <a:prstGeom prst="chevron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9593" y="1828800"/>
            <a:ext cx="2044598" cy="3108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4598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02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213D"/>
                </a:solidFill>
                <a:latin typeface="맑은 고딕"/>
              </a:rPr>
              <a:t>③ VM 과제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02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02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B6373"/>
                </a:solidFill>
                <a:latin typeface="맑은 고딕"/>
              </a:rPr>
              <a:t>0주차 VM 점검</a:t>
            </a:r>
          </a:p>
        </p:txBody>
      </p:sp>
      <p:sp>
        <p:nvSpPr>
          <p:cNvPr id="23" name="Chevron 22"/>
          <p:cNvSpPr/>
          <p:nvPr/>
        </p:nvSpPr>
        <p:spPr>
          <a:xfrm>
            <a:off x="8602675" y="3273552"/>
            <a:ext cx="128016" cy="219456"/>
          </a:xfrm>
          <a:prstGeom prst="chevron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35516" y="1828800"/>
            <a:ext cx="2044598" cy="3108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4598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02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02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59E0B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02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B637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03 / 19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9456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맑은 고딕"/>
              </a:rPr>
              <a:t>클라우드 컴퓨팅이란?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9D3E6"/>
                </a:solidFill>
                <a:latin typeface="맑은 고딕"/>
              </a:rPr>
              <a:t>On-Premise에서 Cloud로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1 · 클라우드 컴퓨팅이란?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기존 온프레미스 방식의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서버를 직접 구매·설치·운영</a:t>
            </a:r>
          </a:p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장애 발생 시 즉각 대응 어려움</a:t>
            </a:r>
          </a:p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트래픽 급증에 유연하게 대응 못함</a:t>
            </a:r>
          </a:p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초기 투자 비용이 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05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1 · 클라우드 컴퓨팅이란?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클라우드 컴퓨팅의 정의와 특징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정의: 인터넷으로 필요한 만큼 자원을 빌려쓰는 방식</a:t>
            </a:r>
          </a:p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① 온디맨드 셀프서비스</a:t>
            </a:r>
          </a:p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② 광범위한 네트워크 접근</a:t>
            </a:r>
          </a:p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③ 자원 풀링(공유)</a:t>
            </a:r>
          </a:p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④ 신속한 확장성</a:t>
            </a:r>
          </a:p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⑤ 종량제 과금 (Pay-as-you-go)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06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1 · 클라우드 컴퓨팅이란?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온프레미스 vs 클라우드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2377440" cy="7132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237744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4206240" cy="713232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00200"/>
            <a:ext cx="420624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온프레미스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600200"/>
            <a:ext cx="4206240" cy="7132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600200"/>
            <a:ext cx="420624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클라우드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13432"/>
            <a:ext cx="23774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313432"/>
            <a:ext cx="21579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초기 비용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313432"/>
            <a:ext cx="42062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313432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높음 (서버·장비 구매)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313432"/>
            <a:ext cx="42062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2313432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낮음 (초기 투자 없음)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026664"/>
            <a:ext cx="2377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026664"/>
            <a:ext cx="21579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확장성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026664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026664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제한적, 증설에 시간 소요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026664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8" y="3026664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즉시 확장/축소 가능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739896"/>
            <a:ext cx="23774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739896"/>
            <a:ext cx="21579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유지보수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739896"/>
            <a:ext cx="42062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739896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자체 인력·시간 필요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739896"/>
            <a:ext cx="42062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8" y="3739896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클라우드 사업자가 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453128"/>
            <a:ext cx="2377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453128"/>
            <a:ext cx="21579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장애 대응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453128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4453128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직접 하드웨어 점검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4453128"/>
            <a:ext cx="4206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4453128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자동 복구·이중화 지원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5166360"/>
            <a:ext cx="23774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166360"/>
            <a:ext cx="21579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과금 방식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5166360"/>
            <a:ext cx="42062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10128" y="5166360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고정 자산 투자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5166360"/>
            <a:ext cx="42062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16368" y="5166360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사용한 만큼 종량제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07 / 19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9456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맑은 고딕"/>
              </a:rPr>
              <a:t>가상화 기술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9D3E6"/>
                </a:solidFill>
                <a:latin typeface="맑은 고딕"/>
              </a:rPr>
              <a:t>Hypervisor 기반 가상머신(VM)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2 · 가상화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가상화란? — Hypervisor 기반 VM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물리 서버 한 대를 여러 대처럼 쪼개 쓰는 기술</a:t>
            </a:r>
          </a:p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Hypervisor가 하드웨어 자원을 나눠 각 VM에 배분</a:t>
            </a:r>
          </a:p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VM마다 자체 OS(Guest OS)를 통째로 가짐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4213D"/>
                </a:solidFill>
                <a:latin typeface="맑은 고딕"/>
              </a:rPr>
              <a:t>VM 구조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148840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Guest OS +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752344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52344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Guest OS +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355848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355848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Guest OS +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959352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959352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Hypervisor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562856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562856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Host OS / 물리 서버(Hardware)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09 / 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2 · 가상화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VM 방식의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무겁다</a:t>
            </a:r>
          </a:p>
          <a:p>
            <a:pPr marL="274320" indent="0">
              <a:lnSpc>
                <a:spcPct val="130000"/>
              </a:lnSpc>
              <a:spcAft>
                <a:spcPts val="1400"/>
              </a:spcAft>
            </a:pPr>
            <a:r>
              <a:rPr sz="1600" b="1">
                <a:solidFill>
                  <a:srgbClr val="5B6373"/>
                </a:solidFill>
                <a:latin typeface="맑은 고딕"/>
              </a:rPr>
              <a:t>–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VM마다 완전한 OS 포함 → 용량 수 GB~수십 GB</a:t>
            </a:r>
          </a:p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느리다</a:t>
            </a:r>
          </a:p>
          <a:p>
            <a:pPr marL="274320" indent="0">
              <a:lnSpc>
                <a:spcPct val="130000"/>
              </a:lnSpc>
              <a:spcAft>
                <a:spcPts val="1400"/>
              </a:spcAft>
            </a:pPr>
            <a:r>
              <a:rPr sz="1600" b="1">
                <a:solidFill>
                  <a:srgbClr val="5B6373"/>
                </a:solidFill>
                <a:latin typeface="맑은 고딕"/>
              </a:rPr>
              <a:t>–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OS 부팅 필요 → 수십 초~수 분 소요</a:t>
            </a:r>
          </a:p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낭비된다</a:t>
            </a:r>
          </a:p>
          <a:p>
            <a:pPr marL="274320" indent="0">
              <a:lnSpc>
                <a:spcPct val="130000"/>
              </a:lnSpc>
              <a:spcAft>
                <a:spcPts val="1400"/>
              </a:spcAft>
            </a:pPr>
            <a:r>
              <a:rPr sz="1600" b="1">
                <a:solidFill>
                  <a:srgbClr val="5B6373"/>
                </a:solidFill>
                <a:latin typeface="맑은 고딕"/>
              </a:rPr>
              <a:t>–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여러 VM 동시 실행 시 CPU/메모리 중복 소모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49240"/>
            <a:ext cx="10881360" cy="82296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04688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💬  "앱 하나 실행하려고 OS를 통째로 복제해야 할까?"  →  이 질문에서 컨테이너 기술이 시작됩니다.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10 /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9456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맑은 고딕"/>
              </a:rPr>
              <a:t>컨테이너와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9D3E6"/>
                </a:solidFill>
                <a:latin typeface="맑은 고딕"/>
              </a:rPr>
              <a:t>가볍고 빠른 다음 세대 가상화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3 · 컨테이너와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컨테이너 구조 — OS 커널을 공유한다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OS를 복제하지 않고, 커널만 공유</a:t>
            </a:r>
          </a:p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컨테이너 = 앱 + 필요한 라이브러리만 포함</a:t>
            </a:r>
          </a:p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결과: 수십 MB, 부팅 1초 내외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4213D"/>
                </a:solidFill>
                <a:latin typeface="맑은 고딕"/>
              </a:rPr>
              <a:t>컨테이너 구조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148840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App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752344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52344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App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355848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355848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App 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959352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959352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Docker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562856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562856"/>
            <a:ext cx="4846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Host OS / 물리 서버(Hardware)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12 / 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3 · 컨테이너와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VM vs 컨테이너, 한눈에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2377440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4206240" cy="566928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00200"/>
            <a:ext cx="4206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가상머신 (VM)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600200"/>
            <a:ext cx="420624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600200"/>
            <a:ext cx="4206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컨테이너 (Container)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167128"/>
            <a:ext cx="23774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16712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가상화 단위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167128"/>
            <a:ext cx="4206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167128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하드웨어 전체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167128"/>
            <a:ext cx="4206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2167128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운영체제(OS) 커널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734056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734056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포함 요소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734056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2734056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OS 전체 + 애플리케이션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734056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8" y="2734056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애플리케이션 + 필요한 라이브러리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300984"/>
            <a:ext cx="23774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300984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용량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300984"/>
            <a:ext cx="4206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300984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수 GB ~ 수십 GB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300984"/>
            <a:ext cx="4206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8" y="3300984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수십 MB ~ 수백 MB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867912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867912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부팅 속도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3867912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3867912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수십 초 ~ 수 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3867912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3867912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1초 내외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434840"/>
            <a:ext cx="23774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434840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격리 수준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4434840"/>
            <a:ext cx="4206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10128" y="4434840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강함 (완전 격리)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4434840"/>
            <a:ext cx="42062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16368" y="4434840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상대적으로 약함 (커널 공유)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5001768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500176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맑은 고딕"/>
              </a:rPr>
              <a:t>대표 기술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5001768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10128" y="5001768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VMware, VirtualBox, Hyper-V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5001768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16368" y="5001768"/>
            <a:ext cx="39867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Docker, Podman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13 / 19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3 · 컨테이너와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Docker 아키텍처 — Image, Container, 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Docker Engine</a:t>
            </a:r>
          </a:p>
          <a:p>
            <a:pPr marL="274320" indent="0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5B6373"/>
                </a:solidFill>
                <a:latin typeface="맑은 고딕"/>
              </a:rPr>
              <a:t>–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컨테이너를 만들고 실행하는 핵심 엔진</a:t>
            </a:r>
          </a:p>
          <a:p>
            <a:pPr marL="0" indent="0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Image</a:t>
            </a:r>
          </a:p>
          <a:p>
            <a:pPr marL="274320" indent="0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5B6373"/>
                </a:solidFill>
                <a:latin typeface="맑은 고딕"/>
              </a:rPr>
              <a:t>–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컨테이너 실행에 필요한 모든 것을 담은 "설계도"</a:t>
            </a:r>
          </a:p>
          <a:p>
            <a:pPr marL="0" indent="0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Container</a:t>
            </a:r>
          </a:p>
          <a:p>
            <a:pPr marL="274320" indent="0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5B6373"/>
                </a:solidFill>
                <a:latin typeface="맑은 고딕"/>
              </a:rPr>
              <a:t>–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Image를 실제로 실행한 상태 = "실체"</a:t>
            </a:r>
          </a:p>
          <a:p>
            <a:pPr marL="0" indent="0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Registry (Docker Hub)</a:t>
            </a:r>
          </a:p>
          <a:p>
            <a:pPr marL="274320" indent="0"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5B6373"/>
                </a:solidFill>
                <a:latin typeface="맑은 고딕"/>
              </a:rPr>
              <a:t>–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Image를 저장하고 공유하는 저장소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🥞  비유로 이해하기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</a:rPr>
              <a:t>Image = 붕어빵 틀 (설계도)   /   Container = 실제 구워진 붕어빵 (실행된 결과)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</a:rPr>
              <a:t>→ 같은 틀(Image) 하나로 여러 개의 붕어빵(Container)을 동시에 구울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14 /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9456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맑은 고딕"/>
              </a:rPr>
              <a:t>오늘의 실습 미리보기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9D3E6"/>
                </a:solidFill>
                <a:latin typeface="맑은 고딕"/>
              </a:rPr>
              <a:t>Killercoda + 로컬 VM 점검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4 · 오늘의 실습 미리보기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Killercoda 소개 &amp; 오늘 실행할 명령어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212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브라우저에서 바로 실습, 설치 불필요</a:t>
            </a:r>
          </a:p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이미 Docker가 설치된 상태로 제공</a:t>
            </a:r>
          </a:p>
          <a:p>
            <a:pPr marL="0" indent="0">
              <a:lnSpc>
                <a:spcPct val="130000"/>
              </a:lnSpc>
              <a:spcAft>
                <a:spcPts val="1400"/>
              </a:spcAft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⚠ 60분 시간 제한 있음</a:t>
            </a:r>
          </a:p>
          <a:p>
            <a:pPr marL="274320" indent="0">
              <a:lnSpc>
                <a:spcPct val="130000"/>
              </a:lnSpc>
              <a:spcAft>
                <a:spcPts val="1400"/>
              </a:spcAft>
            </a:pPr>
            <a:r>
              <a:rPr sz="1400" b="1">
                <a:solidFill>
                  <a:srgbClr val="5B6373"/>
                </a:solidFill>
                <a:latin typeface="맑은 고딕"/>
              </a:rPr>
              <a:t>–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초기화돼도 로컬 VM에서 이어가면 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B8A6"/>
                </a:solidFill>
                <a:latin typeface="맑은 고딕"/>
              </a:rPr>
              <a:t>오늘 실행할 명령어 (Killercoda)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945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Consolas"/>
              </a:rPr>
              <a:t>$ docker run hello-world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9D3E6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Consolas"/>
              </a:rPr>
              <a:t>$ docker images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9D3E6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4B8A6"/>
                </a:solidFill>
                <a:latin typeface="Consolas"/>
              </a:rPr>
              <a:t>$ docker ps -a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16 / 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맑은 고딕"/>
              </a:rPr>
              <a:t>PART 4 · 오늘의 실습 미리보기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맑은 고딕"/>
              </a:rPr>
              <a:t>로컬 VM 환경 최종 점검 (0주차 확인)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0주차에 만든 개인 VM(cloud-lab) 접속</a:t>
            </a:r>
          </a:p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docker --version 정상 출력 확인</a:t>
            </a:r>
          </a:p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git --version 정상 출력 확인</a:t>
            </a:r>
          </a:p>
          <a:p>
            <a:pPr marL="0" indent="0">
              <a:lnSpc>
                <a:spcPct val="130000"/>
              </a:lnSpc>
              <a:spcAft>
                <a:spcPts val="1600"/>
              </a:spcAft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문제 발생 시 → 06_로컬VM_과제복습 / 07_오류FAQ 참고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Consolas"/>
              </a:rPr>
              <a:t>multipass shell cloud-lab   →   docker --version   →   git --version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클라우드인프라관리  ·  1주차 1차시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3"/>
                </a:solidFill>
                <a:latin typeface="맑은 고딕"/>
              </a:rPr>
              <a:t>17 /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73952"/>
            <a:ext cx="112745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</a:rPr>
              <a:t>클라우드 = 필요한 만큼 빌려쓰는 컴퓨팅 자원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68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</a:rPr>
              <a:t>VM은 무겁고 느리다, Container는 가볍고 빠르다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4213D"/>
                </a:solidFill>
                <a:latin typeface="맑은 고딕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461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</a:rPr>
              <a:t>Docker = Image를 Container로 실행하는 도구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645920"/>
            <a:ext cx="10332720" cy="1371600"/>
          </a:xfrm>
          <a:prstGeom prst="roundRect">
            <a:avLst>
              <a:gd name="adj" fmla="val 8000"/>
            </a:avLst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2880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B8A6"/>
                </a:solidFill>
                <a:latin typeface="맑은 고딕"/>
              </a:rPr>
              <a:t>다음 차시 예고 — 1주차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945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맑은 고딕"/>
              </a:rPr>
              <a:t>Docker 컨테이너 생명주기와 데이터 보존 (볼륨 마운트로 웹 서버 직접 띄워보기)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