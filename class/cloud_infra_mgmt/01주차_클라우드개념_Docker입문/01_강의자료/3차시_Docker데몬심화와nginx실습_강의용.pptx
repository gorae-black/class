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331720"/>
            <a:ext cx="1005840" cy="6400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4B8A6"/>
                </a:solidFill>
                <a:latin typeface="맑은 고딕"/>
              </a:rPr>
              <a:t>클라우드인프라관리  ·  1주차 3차시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514600"/>
            <a:ext cx="103327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맑은 고딕"/>
              </a:rPr>
              <a:t>Docker 데몬 동작 원리와</a:t>
            </a:r>
          </a:p>
          <a:p>
            <a:pPr algn="l"/>
            <a:r>
              <a:rPr sz="4400" b="1">
                <a:solidFill>
                  <a:srgbClr val="FFFFFF"/>
                </a:solidFill>
                <a:latin typeface="맑은 고딕"/>
              </a:rPr>
              <a:t>nginx 컨테이너 실습 심화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6052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C9D3E6"/>
                </a:solidFill>
                <a:latin typeface="맑은 고딕"/>
              </a:rPr>
              <a:t>컨테이너 = 격리된 프로세스 · docker inspect로 들여다보기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9893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맑은 고딕"/>
              </a:rPr>
              <a:t>담당교수  김지윤</a:t>
            </a:r>
          </a:p>
        </p:txBody>
      </p:sp>
      <p:sp>
        <p:nvSpPr>
          <p:cNvPr id="9" name="Rectangle 8"/>
          <p:cNvSpPr/>
          <p:nvPr/>
        </p:nvSpPr>
        <p:spPr>
          <a:xfrm>
            <a:off x="9509760" y="5943600"/>
            <a:ext cx="18288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4213D"/>
                </a:solidFill>
                <a:latin typeface="맑은 고딕"/>
              </a:rPr>
              <a:t>강의용(교수자 시연)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오늘의 학습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881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</a:rPr>
              <a:t>1.  Docker 데몬이 이미지 실행 요청을 어떻게 처리하는지 이해한다</a:t>
            </a:r>
          </a:p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</a:rPr>
              <a:t>2.  컨테이너가 결국 '격리된 프로세스'라는 것을 이해한다</a:t>
            </a:r>
          </a:p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</a:rPr>
              <a:t>3.  nginx 컨테이너를 실행하고 docker inspect로 내부를 점검한다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1주차 3차시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02 / 13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오늘의 진행 순서 (60분)</a:t>
            </a:r>
          </a:p>
        </p:txBody>
      </p:sp>
      <p:sp>
        <p:nvSpPr>
          <p:cNvPr id="6" name="Rectangle 5"/>
          <p:cNvSpPr/>
          <p:nvPr/>
        </p:nvSpPr>
        <p:spPr>
          <a:xfrm>
            <a:off x="2571292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Isosceles Triangle 6"/>
          <p:cNvSpPr/>
          <p:nvPr/>
        </p:nvSpPr>
        <p:spPr>
          <a:xfrm rot="5400000">
            <a:off x="3495751" y="1673352"/>
            <a:ext cx="146304" cy="146304"/>
          </a:xfrm>
          <a:prstGeom prst="triangl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96865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Isosceles Triangle 8"/>
          <p:cNvSpPr/>
          <p:nvPr/>
        </p:nvSpPr>
        <p:spPr>
          <a:xfrm rot="5400000">
            <a:off x="6021324" y="1673352"/>
            <a:ext cx="146304" cy="146304"/>
          </a:xfrm>
          <a:prstGeom prst="triangl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22438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Isosceles Triangle 10"/>
          <p:cNvSpPr/>
          <p:nvPr/>
        </p:nvSpPr>
        <p:spPr>
          <a:xfrm rot="5400000">
            <a:off x="8546896" y="1673352"/>
            <a:ext cx="146304" cy="146304"/>
          </a:xfrm>
          <a:prstGeom prst="triangl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040940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40940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263700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292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개념 설명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428292" y="3017520"/>
            <a:ext cx="521208" cy="310896"/>
          </a:xfrm>
          <a:prstGeom prst="roundRect">
            <a:avLst>
              <a:gd name="adj" fmla="val 50000"/>
            </a:avLst>
          </a:prstGeom>
          <a:solidFill>
            <a:srgbClr val="E3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28292" y="3017520"/>
            <a:ext cx="521208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0D9488"/>
                </a:solidFill>
                <a:latin typeface="맑은 고딕"/>
              </a:rPr>
              <a:t>25분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28292" y="3474720"/>
            <a:ext cx="1755648" cy="1572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강의자료 기반 직접 강의</a:t>
            </a:r>
          </a:p>
        </p:txBody>
      </p:sp>
      <p:sp>
        <p:nvSpPr>
          <p:cNvPr id="19" name="Oval 18"/>
          <p:cNvSpPr/>
          <p:nvPr/>
        </p:nvSpPr>
        <p:spPr>
          <a:xfrm>
            <a:off x="4566513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66513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789273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953865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Killercoda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953865" y="3017520"/>
            <a:ext cx="521208" cy="310896"/>
          </a:xfrm>
          <a:prstGeom prst="roundRect">
            <a:avLst>
              <a:gd name="adj" fmla="val 50000"/>
            </a:avLst>
          </a:prstGeom>
          <a:solidFill>
            <a:srgbClr val="E3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953865" y="3017520"/>
            <a:ext cx="521208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0D9488"/>
                </a:solidFill>
                <a:latin typeface="맑은 고딕"/>
              </a:rPr>
              <a:t>15분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53865" y="3474720"/>
            <a:ext cx="1755648" cy="1572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nginx 실행·inspect 실습</a:t>
            </a:r>
          </a:p>
        </p:txBody>
      </p:sp>
      <p:sp>
        <p:nvSpPr>
          <p:cNvPr id="26" name="Oval 25"/>
          <p:cNvSpPr/>
          <p:nvPr/>
        </p:nvSpPr>
        <p:spPr>
          <a:xfrm>
            <a:off x="7092086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092086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314846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79438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VM 안내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79438" y="3017520"/>
            <a:ext cx="420623" cy="310896"/>
          </a:xfrm>
          <a:prstGeom prst="roundRect">
            <a:avLst>
              <a:gd name="adj" fmla="val 50000"/>
            </a:avLst>
          </a:prstGeom>
          <a:solidFill>
            <a:srgbClr val="E3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79438" y="3017520"/>
            <a:ext cx="420623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0D9488"/>
                </a:solidFill>
                <a:latin typeface="맑은 고딕"/>
              </a:rPr>
              <a:t>5분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79438" y="3474720"/>
            <a:ext cx="1755648" cy="1572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VM에서 동일 실습 수행</a:t>
            </a:r>
          </a:p>
        </p:txBody>
      </p:sp>
      <p:sp>
        <p:nvSpPr>
          <p:cNvPr id="33" name="Oval 32"/>
          <p:cNvSpPr/>
          <p:nvPr/>
        </p:nvSpPr>
        <p:spPr>
          <a:xfrm>
            <a:off x="9617659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617659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840419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005011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결과 제출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005011" y="3017520"/>
            <a:ext cx="420623" cy="310896"/>
          </a:xfrm>
          <a:prstGeom prst="roundRect">
            <a:avLst>
              <a:gd name="adj" fmla="val 50000"/>
            </a:avLst>
          </a:prstGeom>
          <a:solidFill>
            <a:srgbClr val="E3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005011" y="3017520"/>
            <a:ext cx="420623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0D9488"/>
                </a:solidFill>
                <a:latin typeface="맑은 고딕"/>
              </a:rPr>
              <a:t>5분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005011" y="3474720"/>
            <a:ext cx="1755648" cy="1572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체크리스트 제출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1주차 3차시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03 / 13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Docker 데몬은 실제로 무엇을 하는가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컨테이너 = 격리된 프로세스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1 · Docker 데몬의 동작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docker run 실행 시 벌어지는 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0">
                <a:solidFill>
                  <a:srgbClr val="222733"/>
                </a:solidFill>
                <a:latin typeface="맑은 고딕"/>
              </a:rPr>
              <a:t>① 이미지가 로컬에 있는지 확인 (없으면 Registry에서 pull)</a:t>
            </a:r>
          </a:p>
          <a:p>
            <a:pPr>
              <a:lnSpc>
                <a:spcPct val="115000"/>
              </a:lnSpc>
            </a:pPr>
            <a:r>
              <a:rPr sz="1800" b="0">
                <a:solidFill>
                  <a:srgbClr val="222733"/>
                </a:solidFill>
                <a:latin typeface="맑은 고딕"/>
              </a:rPr>
              <a:t>② 이미지로부터 컨테이너용 파일시스템 준비</a:t>
            </a:r>
          </a:p>
          <a:p>
            <a:pPr>
              <a:lnSpc>
                <a:spcPct val="115000"/>
              </a:lnSpc>
            </a:pPr>
            <a:r>
              <a:rPr sz="1800" b="0">
                <a:solidFill>
                  <a:srgbClr val="222733"/>
                </a:solidFill>
                <a:latin typeface="맑은 고딕"/>
              </a:rPr>
              <a:t>③ 격리된 실행 공간(네임스페이스) 생성</a:t>
            </a:r>
          </a:p>
          <a:p>
            <a:pPr>
              <a:lnSpc>
                <a:spcPct val="115000"/>
              </a:lnSpc>
            </a:pPr>
            <a:r>
              <a:rPr sz="1800" b="0">
                <a:solidFill>
                  <a:srgbClr val="222733"/>
                </a:solidFill>
                <a:latin typeface="맑은 고딕"/>
              </a:rPr>
              <a:t>④ 그 공간 안에서 지정된 프로세스(예: nginx) 실행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1주차 3차시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05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1 · Docker 데몬의 동작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컨테이너 = '격리된' 일반 프로세스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8813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컨테이너는 특별한 게 아니라, 호스트 OS 위에서 돌아가는 일반 프로세스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다만 자기만의 파일시스템 · 네트워크 · 프로세스 목록을 '보게' 격리되어 있음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그래서 컨테이너 안에서 ps를 치면 그 컨테이너의 프로세스만 보임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5074920"/>
            <a:ext cx="10881360" cy="11430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93792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맑은 고딕"/>
              </a:rPr>
              <a:t>💡  핵심 한 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57784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맑은 고딕"/>
              </a:rPr>
              <a:t>컨테이너를 지우는 것 = 그 격리된 프로세스를 종료하는 것 (VM처럼 별도 OS를 끄는 게 아님)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1주차 3차시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06 / 13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nginx 컨테이너 실습 심화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docker inspect로 들여다보기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2 · nginx 실습 심화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오늘 실행할 명령어 미리보기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docker run -d --name web nginx  — 백그라운드(-d)로, 이름을 지정(--name)해서 실행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docker ps  — 실행 중인 컨테이너 목록 확인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docker inspect web  — 컨테이너의 모든 설정 정보를 JSON으로 확인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docker inspect web | grep IPAddress  — 그중 컨테이너에 할당된 IP만 확인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1주차 3차시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08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2 · nginx 실습 심화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docker inspect가 왜 중요한가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8813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컨테이너는 기본적으로 격리되어 있어 밖에서 내부 상태가 안 보임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inspect는 그 컨테이너의 IP, 마운트된 볼륨, 환경변수, 상태 등을 전부 보여줌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실무에서 컨테이너가 이상하게 동작할 때 가장 먼저 확인하는 명령어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5074920"/>
            <a:ext cx="10881360" cy="11430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93792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맑은 고딕"/>
              </a:rPr>
              <a:t>🔍  오늘의 목표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57784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맑은 고딕"/>
              </a:rPr>
              <a:t>nginx 컨테이너를 실행하고, inspect로 그 컨테이너의 IP 주소를 직접 찾아낸다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1주차 3차시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09 / 13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Killercoda 실습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docker run -d --name web nginx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docker ps  — web 컨테이너가 Up 상태인지 확인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docker inspect web | grep IPAddress  — 할당된 IP 확인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⚠ Killercoda 60분 제한 — 초기화돼도 VM에서 이어가면 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1주차 3차시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10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VM 과제 — 동일 실습 + 제출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개인 VM(cloud-lab)에 로그인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docker run -d --name web nginx / docker ps / docker inspect web | grep IPAddress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Killercoda와 VM에서 나온 IP가 다른 이유를 생각해보기 (서로 다른 격리 환경)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실행 결과 캡처 또는 GitHub 링크를 LMS 과제 게시판에 제출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1주차 3차시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11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오늘의 정리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64592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169164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컨테이너 = 격리된 일반 프로세스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42316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246887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docker inspect = 컨테이너 내부 상태를 들여다보는 창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다음 주 예고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1645920"/>
            <a:ext cx="9875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B8A6"/>
                </a:solidFill>
                <a:latin typeface="맑은 고딕"/>
              </a:rPr>
              <a:t>다음 차시 예고 — 2주차 — Docker 컨테이너 생명주기와 데이터 보존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103120"/>
            <a:ext cx="9875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  <a:latin typeface="맑은 고딕"/>
              </a:rPr>
              <a:t>컨테이너 명령어(run/ps/stop/rm)를 더 깊이 다루고, 볼륨(Volume)으로 컨테이너 데이터를 VM에 영구 저장하는 방법을 배웁니다.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