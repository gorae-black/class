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2331720"/>
            <a:ext cx="1005840" cy="64008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4173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4B8A6"/>
                </a:solidFill>
                <a:latin typeface="맑은 고딕"/>
              </a:rPr>
              <a:t>클라우드인프라관리  ·  1주차 2차시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514600"/>
            <a:ext cx="103327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맑은 고딕"/>
              </a:rPr>
              <a:t>컨테이너와 Docker 아키텍처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16052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C9D3E6"/>
                </a:solidFill>
                <a:latin typeface="맑은 고딕"/>
              </a:rPr>
              <a:t>VM vs Container · Image·Container·Registry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</a:rPr>
              <a:t>SESSION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</a:rPr>
              <a:t>오늘의 학습 목표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54480"/>
            <a:ext cx="108813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2000" b="0">
                <a:solidFill>
                  <a:srgbClr val="222733"/>
                </a:solidFill>
                <a:latin typeface="맑은 고딕"/>
              </a:rPr>
              <a:t>1.  컨테이너가 VM의 한계를 어떻게 해결하는가</a:t>
            </a:r>
          </a:p>
          <a:p>
            <a:pPr>
              <a:lnSpc>
                <a:spcPct val="115000"/>
              </a:lnSpc>
            </a:pPr>
            <a:r>
              <a:rPr sz="2000" b="0">
                <a:solidFill>
                  <a:srgbClr val="222733"/>
                </a:solidFill>
                <a:latin typeface="맑은 고딕"/>
              </a:rPr>
              <a:t>2.  VM과 컨테이너를 정확히 비교할 수 있다</a:t>
            </a:r>
          </a:p>
          <a:p>
            <a:pPr>
              <a:lnSpc>
                <a:spcPct val="115000"/>
              </a:lnSpc>
            </a:pPr>
            <a:r>
              <a:rPr sz="2000" b="0">
                <a:solidFill>
                  <a:srgbClr val="222733"/>
                </a:solidFill>
                <a:latin typeface="맑은 고딕"/>
              </a:rPr>
              <a:t>3.  Docker 아키텍처(Image·Container·Registry)를 이해한다</a:t>
            </a:r>
          </a:p>
          <a:p>
            <a:pPr>
              <a:lnSpc>
                <a:spcPct val="115000"/>
              </a:lnSpc>
            </a:pPr>
            <a:r>
              <a:rPr sz="2000" b="0">
                <a:solidFill>
                  <a:srgbClr val="222733"/>
                </a:solidFill>
                <a:latin typeface="맑은 고딕"/>
              </a:rPr>
              <a:t>4.  Killercoda에서 첫 Docker 명령어를 실행해본다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클라우드인프라관리  ·  1주차 2차시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02 / 11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</a:rPr>
              <a:t>SESSION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</a:rPr>
              <a:t>1주차 2차시 진행 순서</a:t>
            </a:r>
          </a:p>
        </p:txBody>
      </p:sp>
      <p:sp>
        <p:nvSpPr>
          <p:cNvPr id="6" name="Rectangle 5"/>
          <p:cNvSpPr/>
          <p:nvPr/>
        </p:nvSpPr>
        <p:spPr>
          <a:xfrm>
            <a:off x="2571292" y="1730959"/>
            <a:ext cx="1995220" cy="31089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Isosceles Triangle 6"/>
          <p:cNvSpPr/>
          <p:nvPr/>
        </p:nvSpPr>
        <p:spPr>
          <a:xfrm rot="5400000">
            <a:off x="3495751" y="1673352"/>
            <a:ext cx="146304" cy="146304"/>
          </a:xfrm>
          <a:prstGeom prst="triangl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96865" y="1730959"/>
            <a:ext cx="1995220" cy="31089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Isosceles Triangle 8"/>
          <p:cNvSpPr/>
          <p:nvPr/>
        </p:nvSpPr>
        <p:spPr>
          <a:xfrm rot="5400000">
            <a:off x="6021324" y="1673352"/>
            <a:ext cx="146304" cy="146304"/>
          </a:xfrm>
          <a:prstGeom prst="triangl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22438" y="1730959"/>
            <a:ext cx="1995220" cy="31089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Isosceles Triangle 10"/>
          <p:cNvSpPr/>
          <p:nvPr/>
        </p:nvSpPr>
        <p:spPr>
          <a:xfrm rot="5400000">
            <a:off x="8546896" y="1673352"/>
            <a:ext cx="146304" cy="146304"/>
          </a:xfrm>
          <a:prstGeom prst="triangl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2040940" y="1481328"/>
            <a:ext cx="530352" cy="530352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040940" y="1481328"/>
            <a:ext cx="530352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맑은 고딕"/>
              </a:rPr>
              <a:t>1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263700" y="2304288"/>
            <a:ext cx="2084831" cy="2880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28292" y="2487168"/>
            <a:ext cx="175564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4213D"/>
                </a:solidFill>
                <a:latin typeface="맑은 고딕"/>
              </a:rPr>
              <a:t>개념 설명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28292" y="3081528"/>
            <a:ext cx="1755648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222733"/>
                </a:solidFill>
                <a:latin typeface="맑은 고딕"/>
              </a:rPr>
              <a:t>강의자료 기반 직접 강의</a:t>
            </a:r>
          </a:p>
        </p:txBody>
      </p:sp>
      <p:sp>
        <p:nvSpPr>
          <p:cNvPr id="17" name="Oval 16"/>
          <p:cNvSpPr/>
          <p:nvPr/>
        </p:nvSpPr>
        <p:spPr>
          <a:xfrm>
            <a:off x="4566513" y="1481328"/>
            <a:ext cx="530352" cy="530352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66513" y="1481328"/>
            <a:ext cx="530352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맑은 고딕"/>
              </a:rPr>
              <a:t>2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789273" y="2304288"/>
            <a:ext cx="2084831" cy="2880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953865" y="2487168"/>
            <a:ext cx="175564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4213D"/>
                </a:solidFill>
                <a:latin typeface="맑은 고딕"/>
              </a:rPr>
              <a:t>Killercoda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953865" y="3081528"/>
            <a:ext cx="1755648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222733"/>
                </a:solidFill>
                <a:latin typeface="맑은 고딕"/>
              </a:rPr>
              <a:t>docker run hello-world 실습</a:t>
            </a:r>
          </a:p>
        </p:txBody>
      </p:sp>
      <p:sp>
        <p:nvSpPr>
          <p:cNvPr id="22" name="Oval 21"/>
          <p:cNvSpPr/>
          <p:nvPr/>
        </p:nvSpPr>
        <p:spPr>
          <a:xfrm>
            <a:off x="7092086" y="1481328"/>
            <a:ext cx="530352" cy="530352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092086" y="1481328"/>
            <a:ext cx="530352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맑은 고딕"/>
              </a:rPr>
              <a:t>3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314846" y="2304288"/>
            <a:ext cx="2084831" cy="2880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79438" y="2487168"/>
            <a:ext cx="175564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4213D"/>
                </a:solidFill>
                <a:latin typeface="맑은 고딕"/>
              </a:rPr>
              <a:t>VM 안내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79438" y="3081528"/>
            <a:ext cx="1755648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222733"/>
                </a:solidFill>
                <a:latin typeface="맑은 고딕"/>
              </a:rPr>
              <a:t>VM에서 동일 실습 안내</a:t>
            </a:r>
          </a:p>
        </p:txBody>
      </p:sp>
      <p:sp>
        <p:nvSpPr>
          <p:cNvPr id="27" name="Oval 26"/>
          <p:cNvSpPr/>
          <p:nvPr/>
        </p:nvSpPr>
        <p:spPr>
          <a:xfrm>
            <a:off x="9617659" y="1481328"/>
            <a:ext cx="530352" cy="530352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617659" y="1481328"/>
            <a:ext cx="530352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맑은 고딕"/>
              </a:rPr>
              <a:t>4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840419" y="2304288"/>
            <a:ext cx="2084831" cy="2880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005011" y="2487168"/>
            <a:ext cx="175564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4213D"/>
                </a:solidFill>
                <a:latin typeface="맑은 고딕"/>
              </a:rPr>
              <a:t>결과 제출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005011" y="3081528"/>
            <a:ext cx="1755648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222733"/>
                </a:solidFill>
                <a:latin typeface="맑은 고딕"/>
              </a:rPr>
              <a:t>체크리스트 제출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클라우드인프라관리  ·  1주차 2차시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03 / 11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2194560"/>
            <a:ext cx="137160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PART 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971800"/>
            <a:ext cx="10058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맑은 고딕"/>
              </a:rPr>
              <a:t>컨테이너란?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977639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C9D3E6"/>
                </a:solidFill>
                <a:latin typeface="맑은 고딕"/>
              </a:rPr>
              <a:t>OS 커널을 공유하는 가벼운 가상화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56032"/>
            <a:ext cx="77724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</a:rPr>
              <a:t>PART 1 · 컨테이너란?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</a:rPr>
              <a:t>컨테이너 구조 — OS 커널을 공유한다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53949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5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500" b="0">
                <a:solidFill>
                  <a:srgbClr val="222733"/>
                </a:solidFill>
                <a:latin typeface="맑은 고딕"/>
              </a:rPr>
              <a:t>OS를 복제하지 않고, 커널만 공유</a:t>
            </a:r>
          </a:p>
          <a:p>
            <a:pPr>
              <a:lnSpc>
                <a:spcPct val="115000"/>
              </a:lnSpc>
            </a:pPr>
            <a:r>
              <a:rPr sz="15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500" b="0">
                <a:solidFill>
                  <a:srgbClr val="222733"/>
                </a:solidFill>
                <a:latin typeface="맑은 고딕"/>
              </a:rPr>
              <a:t>컨테이너 = 앱 + 필요한 라이브러리만 포함</a:t>
            </a:r>
          </a:p>
          <a:p>
            <a:pPr>
              <a:lnSpc>
                <a:spcPct val="115000"/>
              </a:lnSpc>
            </a:pPr>
            <a:r>
              <a:rPr sz="15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500" b="0">
                <a:solidFill>
                  <a:srgbClr val="222733"/>
                </a:solidFill>
                <a:latin typeface="맑은 고딕"/>
              </a:rPr>
              <a:t>결과: 수십 MB, 부팅 1초 내외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92240" y="1764792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4213D"/>
                </a:solidFill>
                <a:latin typeface="맑은 고딕"/>
              </a:rPr>
              <a:t>컨테이너 구조</a:t>
            </a:r>
          </a:p>
        </p:txBody>
      </p:sp>
      <p:sp>
        <p:nvSpPr>
          <p:cNvPr id="9" name="Rectangle 8"/>
          <p:cNvSpPr/>
          <p:nvPr/>
        </p:nvSpPr>
        <p:spPr>
          <a:xfrm>
            <a:off x="6492240" y="2148840"/>
            <a:ext cx="4846320" cy="54864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2148840"/>
            <a:ext cx="48463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</a:rPr>
              <a:t>App 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92240" y="2706624"/>
            <a:ext cx="4846320" cy="54864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2706624"/>
            <a:ext cx="48463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</a:rPr>
              <a:t>App B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92240" y="3264408"/>
            <a:ext cx="4846320" cy="54864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3264408"/>
            <a:ext cx="48463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</a:rPr>
              <a:t>App C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92240" y="3822191"/>
            <a:ext cx="4846320" cy="548640"/>
          </a:xfrm>
          <a:prstGeom prst="rect">
            <a:avLst/>
          </a:prstGeom>
          <a:solidFill>
            <a:srgbClr val="2233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92240" y="3822191"/>
            <a:ext cx="48463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</a:rPr>
              <a:t>Docker Engine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92240" y="4379976"/>
            <a:ext cx="4846320" cy="54864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92240" y="4379976"/>
            <a:ext cx="48463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</a:rPr>
              <a:t>Host OS / 물리 서버(Hardware)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클라우드인프라관리  ·  1주차 2차시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05 / 11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56032"/>
            <a:ext cx="77724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</a:rPr>
              <a:t>PART 1 · 컨테이너란?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</a:rPr>
              <a:t>VM vs 컨테이너, 한눈에 비교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1600200"/>
            <a:ext cx="2377440" cy="566928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600200"/>
            <a:ext cx="237744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맑은 고딕"/>
              </a:rPr>
              <a:t>구분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0" y="1600200"/>
            <a:ext cx="4206240" cy="566928"/>
          </a:xfrm>
          <a:prstGeom prst="rect">
            <a:avLst/>
          </a:prstGeom>
          <a:solidFill>
            <a:srgbClr val="2233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00400" y="1600200"/>
            <a:ext cx="420624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맑은 고딕"/>
              </a:rPr>
              <a:t>가상머신 (VM)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06640" y="1600200"/>
            <a:ext cx="4206240" cy="566928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06640" y="1600200"/>
            <a:ext cx="4206240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맑은 고딕"/>
              </a:rPr>
              <a:t>컨테이너 (Container)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" y="2167128"/>
            <a:ext cx="2377440" cy="566928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32688" y="2167128"/>
            <a:ext cx="2157984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14213D"/>
                </a:solidFill>
                <a:latin typeface="맑은 고딕"/>
              </a:rPr>
              <a:t>가상화 단위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00400" y="2167128"/>
            <a:ext cx="4206240" cy="566928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310128" y="2167128"/>
            <a:ext cx="3986783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222733"/>
                </a:solidFill>
                <a:latin typeface="맑은 고딕"/>
              </a:rPr>
              <a:t>하드웨어 전체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06640" y="2167128"/>
            <a:ext cx="4206240" cy="566928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516367" y="2167128"/>
            <a:ext cx="3986783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222733"/>
                </a:solidFill>
                <a:latin typeface="맑은 고딕"/>
              </a:rPr>
              <a:t>운영체제(OS) 커널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2960" y="2734056"/>
            <a:ext cx="2377440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2688" y="2734056"/>
            <a:ext cx="2157984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14213D"/>
                </a:solidFill>
                <a:latin typeface="맑은 고딕"/>
              </a:rPr>
              <a:t>포함 요소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00400" y="2734056"/>
            <a:ext cx="4206240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310128" y="2734056"/>
            <a:ext cx="3986783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222733"/>
                </a:solidFill>
                <a:latin typeface="맑은 고딕"/>
              </a:rPr>
              <a:t>OS 전체 + 애플리케이션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06640" y="2734056"/>
            <a:ext cx="4206240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516367" y="2734056"/>
            <a:ext cx="3986783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222733"/>
                </a:solidFill>
                <a:latin typeface="맑은 고딕"/>
              </a:rPr>
              <a:t>애플리케이션 + 필요한 라이브러리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22960" y="3300984"/>
            <a:ext cx="2377440" cy="566928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32688" y="3300984"/>
            <a:ext cx="2157984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14213D"/>
                </a:solidFill>
                <a:latin typeface="맑은 고딕"/>
              </a:rPr>
              <a:t>용량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200400" y="3300984"/>
            <a:ext cx="4206240" cy="566928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310128" y="3300984"/>
            <a:ext cx="3986783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222733"/>
                </a:solidFill>
                <a:latin typeface="맑은 고딕"/>
              </a:rPr>
              <a:t>수 GB ~ 수십 GB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06640" y="3300984"/>
            <a:ext cx="4206240" cy="566928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516367" y="3300984"/>
            <a:ext cx="3986783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222733"/>
                </a:solidFill>
                <a:latin typeface="맑은 고딕"/>
              </a:rPr>
              <a:t>수십 MB ~ 수백 MB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22960" y="3867912"/>
            <a:ext cx="2377440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32688" y="3867912"/>
            <a:ext cx="2157984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14213D"/>
                </a:solidFill>
                <a:latin typeface="맑은 고딕"/>
              </a:rPr>
              <a:t>부팅 속도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200400" y="3867912"/>
            <a:ext cx="4206240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310128" y="3867912"/>
            <a:ext cx="3986783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222733"/>
                </a:solidFill>
                <a:latin typeface="맑은 고딕"/>
              </a:rPr>
              <a:t>수십 초 ~ 수 분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406640" y="3867912"/>
            <a:ext cx="4206240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516367" y="3867912"/>
            <a:ext cx="3986783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222733"/>
                </a:solidFill>
                <a:latin typeface="맑은 고딕"/>
              </a:rPr>
              <a:t>1초 내외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22960" y="4434840"/>
            <a:ext cx="2377440" cy="566928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32688" y="4434840"/>
            <a:ext cx="2157984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14213D"/>
                </a:solidFill>
                <a:latin typeface="맑은 고딕"/>
              </a:rPr>
              <a:t>격리 수준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200400" y="4434840"/>
            <a:ext cx="4206240" cy="566928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310128" y="4434840"/>
            <a:ext cx="3986783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222733"/>
                </a:solidFill>
                <a:latin typeface="맑은 고딕"/>
              </a:rPr>
              <a:t>강함 (완전 격리)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406640" y="4434840"/>
            <a:ext cx="4206240" cy="566928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516367" y="4434840"/>
            <a:ext cx="3986783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222733"/>
                </a:solidFill>
                <a:latin typeface="맑은 고딕"/>
              </a:rPr>
              <a:t>상대적으로 약함 (커널 공유)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22960" y="5001768"/>
            <a:ext cx="2377440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32688" y="5001768"/>
            <a:ext cx="2157984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14213D"/>
                </a:solidFill>
                <a:latin typeface="맑은 고딕"/>
              </a:rPr>
              <a:t>대표 기술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200400" y="5001768"/>
            <a:ext cx="4206240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310128" y="5001768"/>
            <a:ext cx="3986783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222733"/>
                </a:solidFill>
                <a:latin typeface="맑은 고딕"/>
              </a:rPr>
              <a:t>VMware, VirtualBox, Hyper-V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406640" y="5001768"/>
            <a:ext cx="4206240" cy="56692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516367" y="5001768"/>
            <a:ext cx="3986783" cy="56692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222733"/>
                </a:solidFill>
                <a:latin typeface="맑은 고딕"/>
              </a:rPr>
              <a:t>Docker, Podman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클라우드인프라관리  ·  1주차 2차시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06 / 11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2194560"/>
            <a:ext cx="137160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PART 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971800"/>
            <a:ext cx="10058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맑은 고딕"/>
              </a:rPr>
              <a:t>Docker 아키텍처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977639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C9D3E6"/>
                </a:solidFill>
                <a:latin typeface="맑은 고딕"/>
              </a:rPr>
              <a:t>Image · Container · Registry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56032"/>
            <a:ext cx="77724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</a:rPr>
              <a:t>PART 2 · Docker 아키텍처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</a:rPr>
              <a:t>Docker 아키텍처 — Image, Container, Registry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1088136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7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</a:rPr>
              <a:t>Docker Engine – 컨테이너를 만들고 실행하는 핵심 엔진</a:t>
            </a:r>
          </a:p>
          <a:p>
            <a:pPr>
              <a:lnSpc>
                <a:spcPct val="115000"/>
              </a:lnSpc>
            </a:pPr>
            <a:r>
              <a:rPr sz="17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</a:rPr>
              <a:t>Image – 컨테이너 실행에 필요한 모든 것을 담은 "설계도" (읽기 전용)</a:t>
            </a:r>
          </a:p>
          <a:p>
            <a:pPr>
              <a:lnSpc>
                <a:spcPct val="115000"/>
              </a:lnSpc>
            </a:pPr>
            <a:r>
              <a:rPr sz="17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</a:rPr>
              <a:t>Container – Image를 실제로 실행한 상태 = "실체"</a:t>
            </a:r>
          </a:p>
          <a:p>
            <a:pPr>
              <a:lnSpc>
                <a:spcPct val="115000"/>
              </a:lnSpc>
            </a:pPr>
            <a:r>
              <a:rPr sz="17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</a:rPr>
              <a:t>Registry (Docker Hub) – Image를 저장하고 공유하는 저장소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5074920"/>
            <a:ext cx="10881360" cy="11430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193792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맑은 고딕"/>
              </a:rPr>
              <a:t>🥞  비유로 이해하기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57784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맑은 고딕"/>
              </a:rPr>
              <a:t>Image = 붕어빵 틀 (설계도)   /   Container = 실제로 구워진 붕어빵</a:t>
            </a:r>
          </a:p>
          <a:p>
            <a:pPr algn="l"/>
            <a:r>
              <a:rPr sz="1300" b="0">
                <a:solidFill>
                  <a:srgbClr val="FFFFFF"/>
                </a:solidFill>
                <a:latin typeface="맑은 고딕"/>
              </a:rPr>
              <a:t>→ 같은 틀(Image) 하나로 여러 개의 붕어빵(Container)을 동시에 구울 수 있다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클라우드인프라관리  ·  1주차 2차시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08 / 11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56032"/>
            <a:ext cx="77724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</a:rPr>
              <a:t>실습 안내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</a:rPr>
              <a:t>Killercoda 소개 &amp; 오늘 실행할 명령어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08760"/>
            <a:ext cx="108813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브라우저에서 바로 실습, 설치 불필요 (이미 Docker 설치된 상태로 제공)</a:t>
            </a:r>
          </a:p>
          <a:p>
            <a:pPr>
              <a:lnSpc>
                <a:spcPct val="115000"/>
              </a:lnSpc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⚠ 60분 시간 제한 있음</a:t>
            </a:r>
          </a:p>
          <a:p>
            <a:pPr>
              <a:lnSpc>
                <a:spcPct val="115000"/>
              </a:lnSpc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docker run hello-world — 첫 컨테이너 실행</a:t>
            </a:r>
          </a:p>
          <a:p>
            <a:pPr>
              <a:lnSpc>
                <a:spcPct val="115000"/>
              </a:lnSpc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docker images — 받아진 이미지 확인 (내 붕어빵 틀 목록)</a:t>
            </a:r>
          </a:p>
          <a:p>
            <a:pPr>
              <a:lnSpc>
                <a:spcPct val="115000"/>
              </a:lnSpc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docker ps -a — 실행된 컨테이너 목록 확인 (구워진 붕어빵 목록)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클라우드인프라관리  ·  1주차 2차시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09 / 11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56032"/>
            <a:ext cx="77724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</a:rPr>
              <a:t>실습 안내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</a:rPr>
              <a:t>VM에서도 동일하게 실습하기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08760"/>
            <a:ext cx="108813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0주차 배포받은 개인 VM(cloud-lab)에 로그인</a:t>
            </a:r>
          </a:p>
          <a:p>
            <a:pPr>
              <a:lnSpc>
                <a:spcPct val="115000"/>
              </a:lnSpc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docker run hello-world 실행</a:t>
            </a:r>
          </a:p>
          <a:p>
            <a:pPr>
              <a:lnSpc>
                <a:spcPct val="115000"/>
              </a:lnSpc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docker images / docker ps -a 로 결과 확인</a:t>
            </a:r>
          </a:p>
          <a:p>
            <a:pPr>
              <a:lnSpc>
                <a:spcPct val="115000"/>
              </a:lnSpc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Killercoda와 결과가 똑같이 나오는지 비교해보기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클라우드인프라관리  ·  1주차 2차시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10 / 11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400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맑은 고딕"/>
              </a:rPr>
              <a:t>오늘의 정리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645920"/>
            <a:ext cx="457200" cy="4572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169164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맑은 고딕"/>
              </a:rPr>
              <a:t>컨테이너 = OS 커널을 공유해 가볍고 빠른 가상화 방식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2423160"/>
            <a:ext cx="457200" cy="4572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2468879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맑은 고딕"/>
              </a:rPr>
              <a:t>Docker = Image를 Container로 실행하는 도구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400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맑은 고딕"/>
              </a:rPr>
              <a:t>다음 차시 예고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1645920"/>
            <a:ext cx="9875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4B8A6"/>
                </a:solidFill>
                <a:latin typeface="맑은 고딕"/>
              </a:rPr>
              <a:t>다음 차시 예고 — 1주차 3차시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2103120"/>
            <a:ext cx="9875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  <a:latin typeface="맑은 고딕"/>
              </a:rPr>
              <a:t>Docker 데몬이 실제로 컨테이너를 어떻게 다루는지 더 깊이 살펴보고, nginx 웹 서버 컨테이너를 직접 실행·점검(inspect)해보는 심화 실습을 진행합니다.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