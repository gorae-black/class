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</a:t>
            </a:r>
          </a:p>
          <a:p/>
          <a:p>
            <a:r>
              <a:t>"1주차 마지막 시간, 3차시를 시작하겠습니다.</a:t>
            </a:r>
          </a:p>
          <a:p/>
          <a:p>
            <a:r>
              <a:t>지금까지 클라우드와 가상화(1차시), 컨테이너와 Docker 아키텍처(2차시)를 배웠습니다. 오늘은 두 가지를</a:t>
            </a:r>
          </a:p>
          <a:p>
            <a:r>
              <a:t>합니다. 첫째, Docker 데몬이 `docker run`을 실행했을 때 실제로 어떤 일을 하는지 한 걸음 더 들어가 보고,</a:t>
            </a:r>
          </a:p>
          <a:p>
            <a:r>
              <a:t>둘째 — 오늘의 핵심인데 — nginx라는 실제 웹 서버 컨테이너를 직접 실행하고 `docker inspect`로 그 내부를</a:t>
            </a:r>
          </a:p>
          <a:p>
            <a:r>
              <a:t>점검하는 실습을 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학습 목표]</a:t>
            </a:r>
          </a:p>
          <a:p/>
          <a:p>
            <a:r>
              <a:t>"오늘 수업이 끝나면 여러분은 세 가지를 할 수 있게 됩니다.</a:t>
            </a:r>
          </a:p>
          <a:p/>
          <a:p>
            <a:r>
              <a:t>첫째, Docker 데몬이 이미지 실행 요청을 어떻게 처리하는지 설명할 수 있고,</a:t>
            </a:r>
          </a:p>
          <a:p>
            <a:r>
              <a:t>둘째, 컨테이너가 결국 '격리된 프로세스'라는 걸 이해하고,</a:t>
            </a:r>
          </a:p>
          <a:p>
            <a:r>
              <a:t>셋째 — 오늘 직접 해볼 건데 — nginx 컨테이너를 실행하고 inspect로 내부를 점검합니다."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진행 순서 (60분)]</a:t>
            </a:r>
          </a:p>
          <a:p/>
          <a:p>
            <a:r>
              <a:t>"오늘도 같은 구성입니다. 25분 개념 설명, 15분 Killercoda 실습, 5분 VM 안내, 5분 결과 제출.</a:t>
            </a:r>
          </a:p>
          <a:p>
            <a:r>
              <a:t>오늘 나오는 nginx 실습은 이번 주차 정식 과제이니 VM에서도 꼭 완료해서 제출까지 부탁드립니다."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1 섹션 표지 — Docker 데몬은 실제로 무엇을 하는가]</a:t>
            </a:r>
          </a:p>
          <a:p/>
          <a:p>
            <a:r>
              <a:t>"자, `docker run` 한 줄을 쳤을 때 뒤에서 무슨 일이 벌어지는지부터 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[docker run 실행 시 벌어지는 일]</a:t>
            </a:r>
          </a:p>
          <a:p/>
          <a:p>
            <a:r>
              <a:t>"`docker run nginx`라고 치는 순간, Docker 데몬은 네 단계를 거칩니다.</a:t>
            </a:r>
          </a:p>
          <a:p/>
          <a:p>
            <a:r>
              <a:t>첫째, 내 컴퓨터에 nginx 이미지가 이미 있는지 확인합니다. 없으면 Docker Hub 같은 Registry에서 내려받아요</a:t>
            </a:r>
          </a:p>
          <a:p>
            <a:r>
              <a:t>(pull).</a:t>
            </a:r>
          </a:p>
          <a:p>
            <a:r>
              <a:t>둘째, 그 이미지로부터 컨테이너가 쓸 파일시스템을 준비합니다.</a:t>
            </a:r>
          </a:p>
          <a:p>
            <a:r>
              <a:t>셋째, 격리된 실행 공간 — 리눅스의 '네임스페이스'라는 기술을 이용해서 — 을 만듭니다.</a:t>
            </a:r>
          </a:p>
          <a:p>
            <a:r>
              <a:t>넷째, 그 격리된 공간 안에서 nginx 프로세스를 실제로 실행합니다.</a:t>
            </a:r>
          </a:p>
          <a:p/>
          <a:p>
            <a:r>
              <a:t>**(쉬운 설명)** 네임스페이스가 어려운 용어인데, 지금은 '이 컨테이너 안에서만 보이는 방 하나를 만든다'</a:t>
            </a:r>
          </a:p>
          <a:p>
            <a:r>
              <a:t>정도로 이해하시면 충분합니다."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[컨테이너 = '격리된' 일반 프로세스]</a:t>
            </a:r>
          </a:p>
          <a:p/>
          <a:p>
            <a:r>
              <a:t>"이게 오늘 가장 중요한 개념인데요. **컨테이너는 사실 특별한 게 아니라, 호스트 OS 위에서 돌아가는 그냥</a:t>
            </a:r>
          </a:p>
          <a:p>
            <a:r>
              <a:t>일반 프로세스입니다.** 다만 자기만의 파일시스템·네트워크·프로세스 목록을 '보게' 격리되어 있을 뿐이에요.</a:t>
            </a:r>
          </a:p>
          <a:p/>
          <a:p>
            <a:r>
              <a:t>그래서 컨테이너 안에 들어가서 `ps`를 치면 그 컨테이너 안의 프로세스만 보입니다. 호스트의 다른 프로세스는</a:t>
            </a:r>
          </a:p>
          <a:p>
            <a:r>
              <a:t>안 보여요. 반대로 호스트에서 보면, 컨테이너는 그냥 프로세스 하나로 보입니다.</a:t>
            </a:r>
          </a:p>
          <a:p/>
          <a:p>
            <a:r>
              <a:t>**(핵심 강조)** 그래서 컨테이너를 지운다는 건 VM처럼 별도의 OS를 끄는 게 아니라, 그냥 이 격리된</a:t>
            </a:r>
          </a:p>
          <a:p>
            <a:r>
              <a:t>프로세스를 종료하는 겁니다. 이게 컨테이너가 VM보다 훨씬 빠르고 가벼운 근본적인 이유예요."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2 섹션 표지 — nginx 컨테이너 실습 심화]</a:t>
            </a:r>
          </a:p>
          <a:p/>
          <a:p>
            <a:r>
              <a:t>"이제 이론은 끝났고, 실전으로 들어가겠습니다."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 실행할 명령어 미리보기]</a:t>
            </a:r>
          </a:p>
          <a:p/>
          <a:p>
            <a:r>
              <a:t>"오늘 실행할 명령어 네 개를 먼저 보여드릴게요.</a:t>
            </a:r>
          </a:p>
          <a:p/>
          <a:p>
            <a:r>
              <a:t>`docker run -d --name web nginx` — `-d`는 백그라운드로 실행하라는 뜻이고, `--name web`은 컨테이너에</a:t>
            </a:r>
          </a:p>
          <a:p>
            <a:r>
              <a:t>'web'이라는 이름을 붙이는 겁니다. 이름을 안 붙이면 Docker가 랜덤한 이름을 자동으로 붙여줘요.</a:t>
            </a:r>
          </a:p>
          <a:p/>
          <a:p>
            <a:r>
              <a:t>`docker ps`로 실행 중인 컨테이너 목록을 확인하고,</a:t>
            </a:r>
          </a:p>
          <a:p>
            <a:r>
              <a:t>`docker inspect web`으로 이 컨테이너의 모든 설정 정보를 JSON 형태로 확인합니다.</a:t>
            </a:r>
          </a:p>
          <a:p>
            <a:r>
              <a:t>그 정보가 굉장히 많으니까, `docker inspect web | grep IPAddress`로 그중 IP 주소만 뽑아서 볼 거예요."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[docker inspect가 왜 중요한가]</a:t>
            </a:r>
          </a:p>
          <a:p/>
          <a:p>
            <a:r>
              <a:t>"`inspect`가 왜 중요하냐면, 컨테이너는 기본적으로 격리되어 있어서 밖에서 내부 상태가 잘 안 보입니다.</a:t>
            </a:r>
          </a:p>
          <a:p>
            <a:r>
              <a:t>`inspect`는 그 컨테이너의 IP 주소, 마운트된 볼륨, 환경변수, 현재 상태 같은 걸 전부 보여주는 명령어예요.</a:t>
            </a:r>
          </a:p>
          <a:p/>
          <a:p>
            <a:r>
              <a:t>**(실무 연결)** 실무에서 컨테이너가 이상하게 동작할 때 가장 먼저 치는 명령어가 바로 이 `docker inspect`</a:t>
            </a:r>
          </a:p>
          <a:p>
            <a:r>
              <a:t>입니다. 오늘 목표는 nginx 컨테이너를 실행하고, inspect로 그 컨테이너의 IP 주소를 직접 찾아내는 겁니다."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[Killercoda 실습]</a:t>
            </a:r>
          </a:p>
          <a:p/>
          <a:p>
            <a:r>
              <a:t>"자, 이제 직접 해보겠습니다.</a:t>
            </a:r>
          </a:p>
          <a:p/>
          <a:p>
            <a:r>
              <a:t>`docker run -d --name web nginx`를 실행하고, `docker ps`로 web 컨테이너가 'Up' 상태인지 확인하세요.</a:t>
            </a:r>
          </a:p>
          <a:p>
            <a:r>
              <a:t>그다음 `docker inspect web | grep IPAddress`로 할당된 IP 주소를 확인해보세요.</a:t>
            </a:r>
          </a:p>
          <a:p/>
          <a:p>
            <a:r>
              <a:t>**(60분 제한 재확인)** Killercoda 60분 제한 있는 거 아시죠. 초기화돼도 VM에서 이어가시면 됩니다.</a:t>
            </a:r>
          </a:p>
          <a:p/>
          <a:p>
            <a:r>
              <a:t>**(화면 공유해 실제로 시연)** 제가 먼저 화면으로 보여드릴게요."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[VM 과제 — 동일 실습 + 제출]</a:t>
            </a:r>
          </a:p>
          <a:p/>
          <a:p>
            <a:r>
              <a:t>"이번엔 여러분의 개인 VM(cloud-lab)에서 똑같이 해보겠습니다.</a:t>
            </a:r>
          </a:p>
          <a:p/>
          <a:p>
            <a:r>
              <a:t>`docker run -d --name web nginx`, `docker ps`, `docker inspect web | grep IPAddress` 순서로 실행하세요.</a:t>
            </a:r>
          </a:p>
          <a:p/>
          <a:p>
            <a:r>
              <a:t>**(생각해볼 질문)** Killercoda에서 나온 IP와 VM에서 나온 IP가 다를 텐데, 왜 다를까요? 정답은 — 서로 다른</a:t>
            </a:r>
          </a:p>
          <a:p>
            <a:r>
              <a:t>컨테이너 환경이라 각자 독립적인 네트워크 공간을 갖기 때문입니다. 오늘 배운 '격리'라는 개념이 여기서도</a:t>
            </a:r>
          </a:p>
          <a:p>
            <a:r>
              <a:t>그대로 적용되는 거예요.</a:t>
            </a:r>
          </a:p>
          <a:p/>
          <a:p>
            <a:r>
              <a:t>이번 주차 정식 과제이니, 실행 결과를 캡처하거나 GitHub 링크로 LMS 과제 게시판에 꼭 제출해주세요."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정리]</a:t>
            </a:r>
          </a:p>
          <a:p/>
          <a:p>
            <a:r>
              <a:t>"오늘 배운 내용, 두 가지로 정리하겠습니다.</a:t>
            </a:r>
          </a:p>
          <a:p/>
          <a:p>
            <a:r>
              <a:t>첫째, **컨테이너는 격리된 일반 프로세스**다.</a:t>
            </a:r>
          </a:p>
          <a:p>
            <a:r>
              <a:t>둘째, **docker inspect는 컨테이너 내부 상태를 들여다보는 창**이다."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[다음 주 예고]</a:t>
            </a:r>
          </a:p>
          <a:p/>
          <a:p>
            <a:r>
              <a:t>"1주차 수고 많으셨습니다. 다음 주 2주차에서는 `docker run`, `ps`, `stop`, `rm` 같은 컨테이너 명령어를</a:t>
            </a:r>
          </a:p>
          <a:p>
            <a:r>
              <a:t>더 깊이 다루고, 볼륨(Volume)이라는 기능으로 컨테이너의 데이터를 VM에 영구적으로 저장하는 방법을</a:t>
            </a:r>
          </a:p>
          <a:p>
            <a:r>
              <a:t>배우겠습니다. 지금은 컨테이너를 지우면 안의 데이터도 같이 사라지는데, 다음 주엔 그 문제를 해결하는</a:t>
            </a:r>
          </a:p>
          <a:p>
            <a:r>
              <a:t>방법을 배우는 거예요.</a:t>
            </a:r>
          </a:p>
          <a:p/>
          <a:p>
            <a:r>
              <a:t>**(가벼운 예고, 짧게만 언급)** 그리고 참고로, 0주차에서 살짝 말씀드렸던 것처럼 3주차부터는</a:t>
            </a:r>
          </a:p>
          <a:p>
            <a:r>
              <a:t>GitHub·Docker Hub 계정이 필요해집니다. 지금 당장은 아니니 부담 갖지 않으셔도 되고, 2주차 마지막</a:t>
            </a:r>
          </a:p>
          <a:p>
            <a:r>
              <a:t>시간에 다시 한번 상기시켜드릴게요.</a:t>
            </a:r>
          </a:p>
          <a:p/>
          <a:p>
            <a:r>
              <a:t>오늘 수업은 여기까지입니다. Killercoda와 VM 실습 모두 완료해서 제출해주시고, 궁금한 점은 LMS Q&amp;A</a:t>
            </a:r>
          </a:p>
          <a:p>
            <a:r>
              <a:t>게시판에 남겨주세요."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[1주차를 마치며]</a:t>
            </a:r>
          </a:p>
          <a:p/>
          <a:p>
            <a:r>
              <a:t>"(화면의 '수고하셨습니다!' 문구를 보며 짧게 마무리합니다.)</a:t>
            </a:r>
          </a:p>
          <a:p/>
          <a:p>
            <a:r>
              <a:t>1주차 수고 많으셨습니다! 클라우드가 왜 필요한지부터 시작해서, 가상화의 한계, 그리고 그 한계를</a:t>
            </a:r>
          </a:p>
          <a:p>
            <a:r>
              <a:t>해결하는 컨테이너와 Docker까지 — 이 과목 전체를 관통하는 가장 중요한 배경지식을 오늘 다</a:t>
            </a:r>
          </a:p>
          <a:p>
            <a:r>
              <a:t>다루셨습니다. 다음 주에도 함께해요!"</a:t>
            </a:r>
          </a:p>
          <a:p/>
          <a:p>
            <a:r>
              <a:t>---</a:t>
            </a:r>
          </a:p>
          <a:p/>
          <a:p>
            <a:r>
              <a:t>## 강의자 참고 — 예상 질문 &amp; 답변</a:t>
            </a:r>
          </a:p>
          <a:p/>
          <a:p>
            <a:r>
              <a:t>| 예상 질문 | 답변 가이드 |</a:t>
            </a:r>
          </a:p>
          <a:p>
            <a:r>
              <a:t>|---|---|</a:t>
            </a:r>
          </a:p>
          <a:p>
            <a:r>
              <a:t>| "네임스페이스가 정확히 뭔가요?" | 리눅스 커널 기능으로, 프로세스가 볼 수 있는 자원(파일시스템, 네트워크, 프로세스 목록 등)을 격리시켜주는 기술입니다. 지금 단계에서는 "컨테이너만의 독립된 공간을 만드는 기술" 정도로 이해하면 충분하며, 심화 내용은 다루지 않습니다. |</a:t>
            </a:r>
          </a:p>
          <a:p>
            <a:r>
              <a:t>| "docker inspect 결과가 너무 길어서 뭐가 뭔지 모르겠어요" | 정상입니다. 처음엔 grep으로 필요한 항목만 뽑아보는 것부터 익숙해지면 됩니다. 전체 구조를 다 외울 필요는 없습니다. |</a:t>
            </a:r>
          </a:p>
          <a:p>
            <a:r>
              <a:t>| "컨테이너 지우면 데이터도 사라지나요?" | 네, 기본적으로 그렇습니다. 컨테이너 안에 저장한 데이터는 컨테이너를 지우면 함께 사라집니다. 이 문제를 해결하는 방법(볼륨)을 다음 주에 배웁니다.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클라우드인프라관리  ·  1주차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Docker 데몬 동작 원리와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nginx 컨테이너 실습 심화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컨테이너 = 격리된 프로세스 · docker inspect로 들여다보기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영남이공대학교 김지윤교수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1.  Docker 데몬이 이미지 실행 요청을 어떻게 처리하는지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2.  컨테이너가 결국 '격리된 프로세스'라는 것을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3.  nginx 컨테이너를 실행하고 docker inspect로 내부를 점검한다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1주차 3차시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02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개념 설명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강의자료 기반 직접 강의</a:t>
            </a:r>
          </a:p>
        </p:txBody>
      </p:sp>
      <p:sp>
        <p:nvSpPr>
          <p:cNvPr id="14" name="Oval 13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Killercoda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nginx 실행·inspect 실습</a:t>
            </a:r>
          </a:p>
        </p:txBody>
      </p:sp>
      <p:sp>
        <p:nvSpPr>
          <p:cNvPr id="19" name="Oval 18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VM 안내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VM에서 동일 실습 수행</a:t>
            </a:r>
          </a:p>
        </p:txBody>
      </p:sp>
      <p:sp>
        <p:nvSpPr>
          <p:cNvPr id="24" name="Oval 23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결과 제출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체크리스트 제출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1주차 3차시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03 / 14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Docker 데몬은 실제로 무엇을 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컨테이너 = 격리된 프로세스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1 · Docker 데몬의 동작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docker run 실행 시 벌어지는 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① 이미지가 로컬에 있는지 확인 (없으면 Registry에서 pull)</a:t>
            </a:r>
          </a:p>
          <a:p>
            <a:pPr>
              <a:lnSpc>
                <a:spcPct val="149500"/>
              </a:lnSpc>
            </a:pP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② 이미지로부터 컨테이너용 파일시스템 준비</a:t>
            </a:r>
          </a:p>
          <a:p>
            <a:pPr>
              <a:lnSpc>
                <a:spcPct val="149500"/>
              </a:lnSpc>
            </a:pP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③ 격리된 실행 공간(네임스페이스) 생성</a:t>
            </a:r>
          </a:p>
          <a:p>
            <a:pPr>
              <a:lnSpc>
                <a:spcPct val="149500"/>
              </a:lnSpc>
            </a:pP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④ 그 공간 안에서 지정된 프로세스(예: nginx) 실행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05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1 · Docker 데몬의 동작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컨테이너 = '격리된' 일반 프로세스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컨테이너는 특별한 게 아니라, 호스트 OS 위에서 돌아가는 일반 프로세스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다만 자기만의 파일시스템 · 네트워크 · 프로세스 목록을 '보게' 격리되어 있음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그래서 컨테이너 안에서 ps를 치면 그 컨테이너의 프로세스만 보임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💡  핵심 한 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컨테이너를 지우는 것 = 그 격리된 프로세스를 종료하는 것 (VM처럼 별도 OS를 끄는 게 아님)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06 / 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nginx 컨테이너 실습 심화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docker inspect로 들여다보기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nginx 실습 심화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 실행할 명령어 미리보기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run -d --name web nginx  — 백그라운드(-d)로, 이름을 지정(--name)해서 실행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ps  — 실행 중인 컨테이너 목록 확인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inspect web  — 컨테이너의 모든 설정 정보를 JSON으로 확인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inspect web | grep IPAddress  — 그중 컨테이너에 할당된 IP만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08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nginx 실습 심화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docker inspect가 왜 중요한가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컨테이너는 기본적으로 격리되어 있어 밖에서 내부 상태가 안 보임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inspect는 그 컨테이너의 IP, 마운트된 볼륨, 환경변수, 상태 등을 전부 보여줌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실무에서 컨테이너가 이상하게 동작할 때 가장 먼저 확인하는 명령어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🔍  오늘의 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nginx 컨테이너를 실행하고, inspect로 그 컨테이너의 IP 주소를 직접 찾아낸다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09 / 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Killercoda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run -d --name web nginx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ps  — web 컨테이너가 Up 상태인지 확인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inspect web | grep IPAddress  — 할당된 IP 확인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DC2626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Killercoda 60분 제한 — 초기화돼도 VM에서 이어가면 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10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VM 과제 — 동일 실습 +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개인 VM(cloud-lab)에 로그인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run -d --name web nginx / docker ps / docker inspect web | grep IPAddress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Killercoda와 VM에서 나온 IP가 다른 이유를 생각해보기 (서로 다른 격리 환경)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실행 결과 캡처 또는 GitHub 링크를 LMS 과제 게시판에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11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컨테이너 = 격리된 일반 프로세스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docker inspect = 컨테이너 내부 상태를 들여다보는 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다음 차시 예고 — 2주차 — Docker 컨테이너 생명주기와 데이터 보존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컨테이너 명령어(run/ps/stop/rm)를 더 깊이 다루고, 볼륨(Volume)으로 컨테이너 데이터를 VM에 영구 저장하는 방법을 배웁니다.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7889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1주차를 마치며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수고하셨습니다!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클라우드·가상화 개념부터 Docker의 기본 동작 원리까지, 이 과목의 첫걸음을 잘 떼셨습니다. 다음 주에도 함께해요.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