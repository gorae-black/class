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**(밝고 환영하는 톤으로 시작)**</a:t>
            </a:r>
          </a:p>
          <a:p/>
          <a:p>
            <a:r>
              <a:t>"안녕하세요, 여러분. 클라우드인프라관리 1주차 1차시를 시작하겠습니다.</a:t>
            </a:r>
          </a:p>
          <a:p/>
          <a:p>
            <a:r>
              <a:t>오늘부터 우리는 앞으로 15주 동안 클라우드, Docker, Kubernetes, Terraform, Jenkins까지 현업에서 실제로 쓰이는</a:t>
            </a:r>
          </a:p>
          <a:p>
            <a:r>
              <a:t>인프라 자동화 기술들을 하나씩 배워나갈 겁니다. 그 첫 시작으로 오늘은 '왜 이런 기술들이 필요하게 되었는가'라는</a:t>
            </a:r>
          </a:p>
          <a:p>
            <a:r>
              <a:t>근본적인 질문부터 짚고 넘어가려고 합니다.</a:t>
            </a:r>
          </a:p>
          <a:p/>
          <a:p>
            <a:r>
              <a:t>제목 그대로, 오늘의 주제는 **클라우드 컴퓨팅 패러다임과 가상화 기술의 이해**입니다."</a:t>
            </a:r>
          </a:p>
          <a:p/>
          <a:p>
            <a:r>
              <a:t>**(화면 조작: 다음 슬라이드로 이동)**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두 가지를 할 수 있게 됩니다.</a:t>
            </a:r>
          </a:p>
          <a:p/>
          <a:p>
            <a:r>
              <a:t>첫째, 기존에 회사들이 서버를 운영하던 방식과 클라우드 컴퓨팅이 뭐가 다른지 설명할 수 있고,</a:t>
            </a:r>
          </a:p>
          <a:p>
            <a:r>
              <a:t>둘째, 가상화라는 기술이 왜 필요했는지, 그리고 그 한계가 무엇인지 이해하게 됩니다.</a:t>
            </a:r>
          </a:p>
          <a:p/>
          <a:p>
            <a:r>
              <a:t>오늘은 이론이 중심이지만, 실습 환경(Killercoda) 터미널에 접속해서 명령어를 직접 쳐보는 시간도 가질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 1시간은 이렇게 구성됩니다.</a:t>
            </a:r>
          </a:p>
          <a:p/>
          <a:p>
            <a:r>
              <a:t>먼저 제가 25분 동안 오늘 배울 핵심 개념을 직접 설명해드리고요, 그다음 15분 동안 Killercoda에서 터미널</a:t>
            </a:r>
          </a:p>
          <a:p>
            <a:r>
              <a:t>사용법을 익히는 실습을 하고, 5분 동안 로컬 VM 점검 방법을 안내해드린 뒤, 마지막 5분은 오늘 실습 결과를</a:t>
            </a:r>
          </a:p>
          <a:p>
            <a:r>
              <a:t>어떻게 제출하는지 안내하고 마무리하겠습니다.</a:t>
            </a:r>
          </a:p>
          <a:p/>
          <a:p>
            <a:r>
              <a:t>**(Killercoda 시간 제한 안내 — 반드시 언급)**</a:t>
            </a:r>
          </a:p>
          <a:p>
            <a:r>
              <a:t>한 가지 미리 말씀드릴 게 있는데, Killercoda는 한 세션당 60분 시간 제한이 있습니다. 혹시 실습 도중 시간이</a:t>
            </a:r>
          </a:p>
          <a:p>
            <a:r>
              <a:t>초과돼서 화면이 초기화되더라도 절대 당황하지 마세요. 오늘 배울 내용은 여러분 개인 로컬 VM에서도 똑같이</a:t>
            </a:r>
          </a:p>
          <a:p>
            <a:r>
              <a:t>연습할 수 있게 되어 있으니, 그쪽으로 넘어가서 이어가시면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클라우드 컴퓨팅이란?]</a:t>
            </a:r>
          </a:p>
          <a:p/>
          <a:p>
            <a:r>
              <a:t>**(짧게 전환 멘트)**</a:t>
            </a:r>
          </a:p>
          <a:p/>
          <a:p>
            <a:r>
              <a:t>"자, 그럼 첫 번째 파트, '클라우드 컴퓨팅이란 무엇인가'부터 시작하겠습니다."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[기존 온프레미스 방식의 한계]</a:t>
            </a:r>
          </a:p>
          <a:p/>
          <a:p>
            <a:r>
              <a:t>"클라우드를 이해하려면 먼저 클라우드가 나오기 전엔 어떻게 했는지를 알아야 합니다.</a:t>
            </a:r>
          </a:p>
          <a:p/>
          <a:p>
            <a:r>
              <a:t>예전에는, 그리고 지금도 일부 회사들은, 서버를 회사가 **직접 구매**해서 자체 전산실에 설치하고 운영합니다.</a:t>
            </a:r>
          </a:p>
          <a:p>
            <a:r>
              <a:t>이런 방식을 '온프레미스(On-premise)'라고 부릅니다. '현장에 있다'는 뜻이에요.</a:t>
            </a:r>
          </a:p>
          <a:p/>
          <a:p>
            <a:r>
              <a:t>이 방식의 문제가 뭐냐면— 예를 들어볼게요. 우리 학교 수강신청 시스템을 생각해보세요. 수강신청 기간에는</a:t>
            </a:r>
          </a:p>
          <a:p>
            <a:r>
              <a:t>평소보다 몇 배, 몇십 배의 트래픽이 몰립니다. 그런데 서버를 직접 운영한다면, 이 순간을 위해서 평소에는</a:t>
            </a:r>
          </a:p>
          <a:p>
            <a:r>
              <a:t>쓰지도 않을 만큼 넉넉한 서버를 미리 사둬야 해요. 안 그러면 수강신청 당일에 서버가 다운되겠죠.</a:t>
            </a:r>
          </a:p>
          <a:p/>
          <a:p>
            <a:r>
              <a:t>그런데 평소엔 그 비싼 서버가 놀고 있는 겁니다. 이게 바로 온프레미스 방식의 가장 큰 비효율입니다.</a:t>
            </a:r>
          </a:p>
          <a:p>
            <a:r>
              <a:t>게다가 서버에 장애가 나면 담당자가 직접 하드웨어를 뜯어봐야 하니 대응도 느립니다."</a:t>
            </a:r>
          </a:p>
          <a:p/>
          <a:p>
            <a:r>
              <a:t>**(질문 유도)** "여러분 중에 수강신청 때 서버 터지는 거 경험해보신 분 있으시죠? 바로 이런 이유 때문입니다."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[클라우드 컴퓨팅의 정의와 특징]</a:t>
            </a:r>
          </a:p>
          <a:p/>
          <a:p>
            <a:r>
              <a:t>"이 문제를 해결하기 위해 등장한 게 클라우드 컴퓨팅입니다.</a:t>
            </a:r>
          </a:p>
          <a:p/>
          <a:p>
            <a:r>
              <a:t>클라우드 컴퓨팅을 한 문장으로 정의하면, **인터넷을 통해서 서버, 저장공간, 네트워크 같은 컴퓨팅 자원을</a:t>
            </a:r>
          </a:p>
          <a:p>
            <a:r>
              <a:t>필요한 만큼 빌려 쓰는 방식**입니다. 여러분이 직접 서버를 사는 게 아니라, AWS나 Azure, GCP 같은 회사가</a:t>
            </a:r>
          </a:p>
          <a:p>
            <a:r>
              <a:t>이미 갖춰놓은 자원을 필요할 때 필요한 만큼 빌려 쓰는 거죠.</a:t>
            </a:r>
          </a:p>
          <a:p/>
          <a:p>
            <a:r>
              <a:t>특징이 다섯 가지 있는데 하나씩 빠르게 짚을게요.</a:t>
            </a:r>
          </a:p>
          <a:p/>
          <a:p>
            <a:r>
              <a:t>하나, **온디맨드 셀프서비스** — 사람한테 전화하거나 신청서 낼 필요 없이 클릭 몇 번으로 바로 서버를 만들 수 있습니다.</a:t>
            </a:r>
          </a:p>
          <a:p>
            <a:r>
              <a:t>둘, **광범위한 네트워크 접근** — 인터넷만 되면 어디서든 접속 가능합니다.</a:t>
            </a:r>
          </a:p>
          <a:p>
            <a:r>
              <a:t>셋, **자원 풀링** — 여러 사용자가 물리적인 자원을 공유하면서 필요한 만큼 나눠 씁니다.</a:t>
            </a:r>
          </a:p>
          <a:p>
            <a:r>
              <a:t>넷, **신속한 확장성** — 아까 수강신청 예시처럼 트래픽이 몰리면 순식간에 서버를 늘렸다가, 끝나면 다시 줄일 수 있어요.</a:t>
            </a:r>
          </a:p>
          <a:p>
            <a:r>
              <a:t>다섯, **종량제 과금** — 이게 제일 체감이 클 텐데, 전기요금처럼 **쓴 만큼만** 돈을 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[온프레미스 vs 클라우드 비교표]</a:t>
            </a:r>
          </a:p>
          <a:p/>
          <a:p>
            <a:r>
              <a:t>"표로 정리하면 이렇습니다. (표를 짚으며) 초기 비용, 확장성, 유지보수, 장애 대응, 과금 방식 다섯 가지 기준으로</a:t>
            </a:r>
          </a:p>
          <a:p>
            <a:r>
              <a:t>비교했을 때 클라우드가 왜 각광받는지 한눈에 보이시죠. 특히 '확장성'과 '과금 방식' 이 두 줄이 클라우드의 핵심입니다."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가상화 기술]</a:t>
            </a:r>
          </a:p>
          <a:p/>
          <a:p>
            <a:r>
              <a:t>"자, 클라우드가 뭔지 알았으니, 이제 그 클라우드를 실제로 가능하게 만든 기술, **가상화**로 넘어가겠습니다."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[가상화란? — Hypervisor 기반 VM 구조]</a:t>
            </a:r>
          </a:p>
          <a:p/>
          <a:p>
            <a:r>
              <a:t>"가상화가 뭐냐면, **물리 서버 한 대를 여러 대처럼 쪼개서 쓰는 기술**입니다.</a:t>
            </a:r>
          </a:p>
          <a:p/>
          <a:p>
            <a:r>
              <a:t>화면의 그림을 보시면, 맨 아래가 실제 하드웨어, 그 위에 '하이퍼바이저(Hypervisor)'라는 소프트웨어가 있고,</a:t>
            </a:r>
          </a:p>
          <a:p>
            <a:r>
              <a:t>그 위에 가상머신, 즉 VM이 여러 개 올라가 있습니다. 이 하이퍼바이저가 하는 일이 CPU, 메모리, 디스크 같은</a:t>
            </a:r>
          </a:p>
          <a:p>
            <a:r>
              <a:t>물리 자원을 나눠서 각 VM에게 배분해주는 겁니다.</a:t>
            </a:r>
          </a:p>
          <a:p/>
          <a:p>
            <a:r>
              <a:t>중요한 건, **VM 하나하나가 전부 자기만의 완전한 운영체제(Guest OS)를 가지고 있다**는 점입니다. 그래서 한</a:t>
            </a:r>
          </a:p>
          <a:p>
            <a:r>
              <a:t>물리 서버 위에서 Windows VM도 띄우고 Linux VM도 동시에 띄울 수 있는 거예요.</a:t>
            </a:r>
          </a:p>
          <a:p/>
          <a:p>
            <a:r>
              <a:t>**(참고)** 사실 여러분이 지금 쓰고 있는 이 실습 VM(cloud-lab)도 여러분의 Windows PC 위에서 VMware라는</a:t>
            </a:r>
          </a:p>
          <a:p>
            <a:r>
              <a:t>가상화 소프트웨어로 만들어진 VM입니다. 오늘 배우는 개념이 바로 지금 이 순간 여러분 눈앞에 있는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방식의 한계]</a:t>
            </a:r>
          </a:p>
          <a:p/>
          <a:p>
            <a:r>
              <a:t>"그런데 이 VM 방식에 문제가 있습니다. 세 가지로 정리할 수 있어요.</a:t>
            </a:r>
          </a:p>
          <a:p/>
          <a:p>
            <a:r>
              <a:t>첫째, **무겁습니다**. VM 하나마다 완전한 OS를 통째로 담고 있으니까, 이미지 용량이 수 GB에서 수십 GB까지 나갑니다.</a:t>
            </a:r>
          </a:p>
          <a:p>
            <a:r>
              <a:t>둘째, **느립니다**. VM을 켤 때마다 그 안의 OS를 처음부터 부팅해야 하니까 수십 초에서 몇 분씩 걸려요.</a:t>
            </a:r>
          </a:p>
          <a:p>
            <a:r>
              <a:t>셋째, **낭비됩니다**. VM을 여러 개 동시에 띄우면, 그 안의 OS들이 CPU랑 메모리를 계속 중복해서 잡아먹습니다.</a:t>
            </a:r>
          </a:p>
          <a:p/>
          <a:p>
            <a:r>
              <a:t>**(강조, 다음 차시로 연결)** 그래서 이런 질문이 나오게 됩니다 — '앱 하나 실행하려고 OS를 통째로 복제해야 할까?'</a:t>
            </a:r>
          </a:p>
          <a:p>
            <a:r>
              <a:t>이 질문에 대한 답을 다음 2차시에서 '컨테이너'라는 기술로 함께 알아볼 겁니다. 오늘은 여기까지만 기억해두세요:</a:t>
            </a:r>
          </a:p>
          <a:p>
            <a:r>
              <a:t>**VM은 무겁고 느리다.**"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실습 — Killercoda 터미널 익히기]</a:t>
            </a:r>
          </a:p>
          <a:p/>
          <a:p>
            <a:r>
              <a:t>"자, 이론은 여기까지입니다. 오늘은 아직 Docker를 다루지 않고, 앞으로 15주 동안 계속 쓰게 될 **터미널</a:t>
            </a:r>
          </a:p>
          <a:p>
            <a:r>
              <a:t>환경 자체에 먼저 익숙해지는 시간**을 갖겠습니다.</a:t>
            </a:r>
          </a:p>
          <a:p/>
          <a:p>
            <a:r>
              <a:t>오늘 실행할 명령어는 이렇습니다. `whoami`로 지금 내가 어떤 계정으로 접속했는지 확인하고, `uname -a`로</a:t>
            </a:r>
          </a:p>
          <a:p>
            <a:r>
              <a:t>이 리눅스 시스템 정보를 확인하고, `nproc`으로 CPU 코어 수를, `free -h`로 메모리 용량을 확인해볼 거예요.</a:t>
            </a:r>
          </a:p>
          <a:p/>
          <a:p>
            <a:r>
              <a:t>**(개념과 연결)** 재미있는 건, 이 Killercoda 터미널도, 여러분이 로그인한 로컬 VM도, 전부 오늘 배운</a:t>
            </a:r>
          </a:p>
          <a:p>
            <a:r>
              <a:t>가상화 기술로 만들어진 '가상 컴퓨터'라는 겁니다. `nproc`이나 `free -h`를 쳐보면 이 가상 환경에 할당된</a:t>
            </a:r>
          </a:p>
          <a:p>
            <a:r>
              <a:t>자원이 딱 정해져 있다는 걸 눈으로 확인할 수 있어요.</a:t>
            </a:r>
          </a:p>
          <a:p/>
          <a:p>
            <a:r>
              <a:t>**(화면 공유해 실제로 시연)** 제가 먼저 화면으로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[로컬 VM 환경 최종 점검 (0주차 확인)]</a:t>
            </a:r>
          </a:p>
          <a:p/>
          <a:p>
            <a:r>
              <a:t>"Killercoda 실습이 끝나면, 이번엔 여러분이 0주차에 배포받은 개인 로컬 VM을 마지막으로 점검하겠습니다.</a:t>
            </a:r>
          </a:p>
          <a:p/>
          <a:p>
            <a:r>
              <a:t>VM에 로그인한 상태에서, `docker --version`이랑 `git --version`을 쳐서 버전이 정상적으로 출력되는지</a:t>
            </a:r>
          </a:p>
          <a:p>
            <a:r>
              <a:t>확인하시면 됩니다.</a:t>
            </a:r>
          </a:p>
          <a:p/>
          <a:p>
            <a:r>
              <a:t>**(안전장치라는 점 강조)** 이건 시험이 아니라 안전장치예요. 지금 확인해두면 다음 차시부터 이어지는 실습에서</a:t>
            </a:r>
          </a:p>
          <a:p>
            <a:r>
              <a:t>VM 문제로 고생하지 않습니다. 혹시 아직 0주차를 완료하지 못하신 분은 이번 주 안에 꼭 끝내주세요. 안 되면</a:t>
            </a:r>
          </a:p>
          <a:p>
            <a:r>
              <a:t>오류FAQ 문서 보시고, 그래도 안 풀리면 LMS Q&amp;A에 스크린샷과 함께 질문 남겨주세요. 48시간 안에 답변드립니다."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"자, 오늘 배운 내용, 딱 두 가지로 정리하겠습니다.</a:t>
            </a:r>
          </a:p>
          <a:p/>
          <a:p>
            <a:r>
              <a:t>첫째, **클라우드는 필요한 만큼 빌려 쓰는 컴퓨팅 자원**이다.</a:t>
            </a:r>
          </a:p>
          <a:p>
            <a:r>
              <a:t>둘째, **가상화(VM)는 물리 서버를 여러 대처럼 쪼개 쓰는 기술이지만, 무겁고 느리다는 한계가 있다.**"</a:t>
            </a:r>
          </a:p>
          <a:p/>
          <a:p>
            <a:r>
              <a:t>**(화면 조작: 다음 슬라이드로 이동)**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1주차 2차시에서는 오늘 마지막에 던진 질문 — '앱 하나 실행하려고 OS를 통째로 복제해야 할까?' —</a:t>
            </a:r>
          </a:p>
          <a:p>
            <a:r>
              <a:t>에 대한 답, 즉 **컨테이너와 Docker**를 처음으로 다뤄보겠습니다. 오늘 이론으로만 배운 내용을 바탕으로,</a:t>
            </a:r>
          </a:p>
          <a:p>
            <a:r>
              <a:t>2차시부터는 직접 `docker run` 명령어를 실행해보게 됩니다.</a:t>
            </a:r>
          </a:p>
          <a:p/>
          <a:p>
            <a:r>
              <a:t>오늘 수업은 여기까지입니다. 이제 Killercoda로 넘어가서 직접 실습해보시고,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"가상화가 클라우드랑 무슨 관계인가요?" | 클라우드 사업자(AWS 등)가 물리 서버 한 대를 여러 고객에게 나눠서 빌려줄 수 있는 이유가 바로 가상화 기술 덕분입니다. 가상화가 클라우드를 기술적으로 가능하게 만드는 핵심 기반입니다. |</a:t>
            </a:r>
          </a:p>
          <a:p>
            <a:r>
              <a:t>| "그럼 컨테이너는 언제 배우나요?" | 다음 2차시에 다룹니다. 오늘은 컨테이너가 왜 필요한지에 대한 '문제 제기'까지만 하고, 실제 기술은 다음 시간에 배웁니다. |</a:t>
            </a:r>
          </a:p>
          <a:p>
            <a:r>
              <a:t>| "제 노트북 사양이 부족한데 VM을 꼭 만들어야 하나요?" | 최소 사양(디스크 15GB 이상, RAM 8GB 이상)을 다시 확인해주시고, 정말 어려운 경우 조교/교수자에게 개별 상담을 요청하도록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컴퓨팅 패러다임과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가상화 기술의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On-Premise vs Cloud · Hypervisor 기반 가상화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</a:t>
            </a:r>
            <a:r>
              <a:rPr sz="20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클라우드 vs 온프레미스</a:t>
            </a: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, 무엇이 다른가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</a:t>
            </a:r>
            <a:r>
              <a:rPr sz="20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가상화(Virtualization)</a:t>
            </a: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가 왜 필요했고, 어떤 한계가 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터미널 기본 명령어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0주차 VM 점검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On-Premise에서 Cloud로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온프레미스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서버를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직접 구매·설치·운영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장애 발생 시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즉각 대응 어려움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트래픽 급증에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유연하게 대응 못함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초기 투자 비용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컴퓨팅의 정의와 특징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정의: 인터넷으로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필요한 만큼 자원을 빌려쓰는 방식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온디맨드 셀프서비스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광범위한 네트워크 접근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자원 풀링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(공유)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신속한 확장성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종량제 과금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(Pay-as-you-go)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온프레미스 vs 클라우드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온프레미스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6712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6712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초기 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높음 (서버·장비 구매)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낮음 (초기 투자 없음)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3405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3405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확장성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제한적, 증설에 시간 소요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즉시 확장/축소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0098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0098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유지보수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자체 인력·시간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클라우드 사업자가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6791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6791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장애 대응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직접 하드웨어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자동 복구·이중화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3484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과금 방식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고정 자산 투자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7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사용한 만큼 종량제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Hypervisor 기반 가상머신(VM)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가상화란? — Hypervisor 기반 VM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물리 서버 한 대를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여러 대처럼 쪼개 쓰는 기술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Hypervisor가 하드웨어 자원을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나눠 각 VM에 배분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VM마다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자체 OS(Guest OS)를 통째로 가짐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Guest OS +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Guest OS +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Guest OS +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Hypervisor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무겁다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VM마다 완전한 OS 포함 → 용량 수 GB~수십 GB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느리다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OS 부팅 필요 → 수십 초~수 분 소요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낭비된다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여러 VM 동시 실행 시 CPU/메모리 중복 소모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💬  다음 시간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"앱 하나 실행하려고 OS를 통째로 복제해야 할까?"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이 질문의 답은 2차시 '컨테이너'에서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실습 — Killercoda 터미널 익히기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브라우저에서 바로 실습,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설치 불필요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60분 시간 제한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있음 (초기화돼도 로컬 VM에서 이어가면 OK)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whoami / uname -a / nproc / free -h 로 지금 접속한 가상 환경 살펴보기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→ 이 터미널도, 여러분의 로컬 VM도 모두 오늘 배운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가상화 기술의 결과물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로컬 VM 환경 최종 점검 (0주차 확인)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0주차에 배포받은 개인 VM(cloud-lab)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로그인 상태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--version 정상 출력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git --version 정상 출력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문제 발생 시 → LMS Q&amp;A 게시판에 스크린샷과 함께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= 필요한 만큼 빌려쓰는 컴퓨팅 자원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가상화(VM) = 물리 서버를 여러 대처럼 쪼개 쓰지만, 무겁고 느리다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"앱 하나 실행하려고 OS를 통째로 복제해야 할까?"에 대한 답 — 컨테이너와 Docker를 처음 다룹니다. 오늘부터는 직접 docker run 명령어를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