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1주차 2차시 시작하겠습니다.</a:t>
            </a:r>
          </a:p>
          <a:p/>
          <a:p>
            <a:r>
              <a:t>지난 시간에 클라우드와 가상화(VM)를 배우면서 이런 질문으로 마쳤죠 — '앱 하나 실행하려고 OS를 통째로</a:t>
            </a:r>
          </a:p>
          <a:p>
            <a:r>
              <a:t>복제해야 할까?' 오늘은 그 질문에 대한 답, **컨테이너와 Docker**를 다룹니다. 그리고 오늘부터는 이론만이</a:t>
            </a:r>
          </a:p>
          <a:p>
            <a:r>
              <a:t>아니라 실제로 `docker` 명령어를 여러분 손으로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네 가지를 할 수 있게 됩니다.</a:t>
            </a:r>
          </a:p>
          <a:p/>
          <a:p>
            <a:r>
              <a:t>첫째, 컨테이너가 VM의 어떤 한계를 어떻게 해결하는지 설명할 수 있고,</a:t>
            </a:r>
          </a:p>
          <a:p>
            <a:r>
              <a:t>둘째, VM과 컨테이너를 표로 정확하게 비교할 수 있고,</a:t>
            </a:r>
          </a:p>
          <a:p>
            <a:r>
              <a:t>셋째, Docker를 구성하는 Image·Container·Registry 개념을 이해하고,</a:t>
            </a:r>
          </a:p>
          <a:p>
            <a:r>
              <a:t>넷째 — 이건 오늘 직접 해볼 건데 — Killercoda에서 첫 Docker 명령어를 실행해봅니다."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지난 시간과 같은 구성입니다. 25분 개념 설명, 15분 Killercoda 실습, 5분 VM 안내, 5분 결과 제출</a:t>
            </a:r>
          </a:p>
          <a:p>
            <a:r>
              <a:t>순서로 진행하겠습니다."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컨테이너란?]</a:t>
            </a:r>
          </a:p>
          <a:p/>
          <a:p>
            <a:r>
              <a:t>"자, 그럼 오늘의 주인공 컨테이너부터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구조 — OS 커널을 공유한다]</a:t>
            </a:r>
          </a:p>
          <a:p/>
          <a:p>
            <a:r>
              <a:t>"컨테이너는 VM과 발상 자체가 다릅니다. OS를 통째로 복제하지 않고, **호스트 OS의 커널을 여러 컨테이너가</a:t>
            </a:r>
          </a:p>
          <a:p>
            <a:r>
              <a:t>함께 공유**합니다.</a:t>
            </a:r>
          </a:p>
          <a:p/>
          <a:p>
            <a:r>
              <a:t>화면을 보시면 지난 시간 VM 그림과 거의 똑같은 구조인데, 딱 하나 다른 게 뭐냐면 — 파란 박스 안에 있던</a:t>
            </a:r>
          </a:p>
          <a:p>
            <a:r>
              <a:t>'Guest OS'가 사라지고 그냥 'App'만 남았습니다. 각 컨테이너는 앱을 실행하는 데 꼭 필요한 코드와</a:t>
            </a:r>
          </a:p>
          <a:p>
            <a:r>
              <a:t>라이브러리만 담고 있어요.</a:t>
            </a:r>
          </a:p>
          <a:p/>
          <a:p>
            <a:r>
              <a:t>그 결과 컨테이너는 수십 MB 정도로 작고, 시작하는 데 1초도 안 걸립니다. 지난 시간에 배운 VM의 세 가지</a:t>
            </a:r>
          </a:p>
          <a:p>
            <a:r>
              <a:t>단점(무겁다·느리다·낭비된다)이 전부 해결된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vs 컨테이너, 한눈에 비교]</a:t>
            </a:r>
          </a:p>
          <a:p/>
          <a:p>
            <a:r>
              <a:t>"이 표가 오늘 수업에서 가장 중요한 표입니다. 위에서부터 하나씩 짚어볼게요.</a:t>
            </a:r>
          </a:p>
          <a:p/>
          <a:p>
            <a:r>
              <a:t>가상화 단위: VM은 하드웨어 전체를, 컨테이너는 OS 커널만 가상화합니다.</a:t>
            </a:r>
          </a:p>
          <a:p>
            <a:r>
              <a:t>포함 요소: VM은 OS 전체와 앱을, 컨테이너는 앱과 필요한 라이브러리만 포함합니다.</a:t>
            </a:r>
          </a:p>
          <a:p>
            <a:r>
              <a:t>용량: 여기 차이가 크죠 — VM은 수 GB~수십 GB, 컨테이너는 수십 MB~수백 MB.</a:t>
            </a:r>
          </a:p>
          <a:p>
            <a:r>
              <a:t>부팅 속도: VM은 수십 초~수 분, 컨테이너는 1초 내외.</a:t>
            </a:r>
          </a:p>
          <a:p>
            <a:r>
              <a:t>격리 수준: 여기서는 VM이 더 강합니다 — VM은 완전히 격리되지만 컨테이너는 커널을 공유하는 만큼 격리가</a:t>
            </a:r>
          </a:p>
          <a:p>
            <a:r>
              <a:t>상대적으로 약합니다.</a:t>
            </a:r>
          </a:p>
          <a:p/>
          <a:p>
            <a:r>
              <a:t>**(균형 잡힌 시각 강조)** 그렇다고 컨테이너가 무조건 좋은 건 아닙니다. 격리가 중요한 상황에서는 VM을</a:t>
            </a:r>
          </a:p>
          <a:p>
            <a:r>
              <a:t>쓰기도 하고, 실무에서는 VM 위에 컨테이너를 올리는 방식도 많이 씁니다. 상황에 맞게 고르는 게 중요해요."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아키텍처]</a:t>
            </a:r>
          </a:p>
          <a:p/>
          <a:p>
            <a:r>
              <a:t>"이제 컨테이너를 실제로 다루는 도구, Docker로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아키텍처 — Image, Container, Registry]</a:t>
            </a:r>
          </a:p>
          <a:p/>
          <a:p>
            <a:r>
              <a:t>"Docker를 구성하는 네 가지 요소가 있어요.</a:t>
            </a:r>
          </a:p>
          <a:p/>
          <a:p>
            <a:r>
              <a:t>**Docker Engine** — 이미지를 내려받고, 컨테이너를 만들고 실행하고 관리하는 핵심 엔진입니다.</a:t>
            </a:r>
          </a:p>
          <a:p>
            <a:r>
              <a:t>**Image** — 컨테이너를 실행하는 데 필요한 모든 걸 담은 '설계도'예요. 읽기 전용입니다.</a:t>
            </a:r>
          </a:p>
          <a:p>
            <a:r>
              <a:t>**Container** — 그 설계도(Image)를 실제로 실행한 상태, 즉 '실체'입니다.</a:t>
            </a:r>
          </a:p>
          <a:p>
            <a:r>
              <a:t>**Registry**, 대표적으로 Docker Hub — 이런 이미지들을 저장하고 다른 사람과 공유하는 저장소입니다.</a:t>
            </a:r>
          </a:p>
          <a:p/>
          <a:p>
            <a:r>
              <a:t>**(비유로 마무리)** 이해하기 쉽게 비유하면, **Image는 붕어빵 틀, Container는 실제로 구워진 붕어빵**입니다.</a:t>
            </a:r>
          </a:p>
          <a:p>
            <a:r>
              <a:t>같은 틀 하나로 붕어빵을 여러 개 구울 수 있죠? 마찬가지로 이미지 하나로 컨테이너를 여러 개 동시에 실행할</a:t>
            </a:r>
          </a:p>
          <a:p>
            <a:r>
              <a:t>수 있습니다.</a:t>
            </a:r>
          </a:p>
          <a:p/>
          <a:p>
            <a:r>
              <a:t>이따 실습에서 `docker images`를 치면 그게 여러분이 갖고 있는 '붕어빵 틀 목록'이고, `docker ps`를 치면 지금</a:t>
            </a:r>
          </a:p>
          <a:p>
            <a:r>
              <a:t>'구워지고 있는 붕어빵 목록'이라고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소개 &amp; 오늘 실행할 명령어]</a:t>
            </a:r>
          </a:p>
          <a:p/>
          <a:p>
            <a:r>
              <a:t>"자, 이론은 여기까지입니다. 오늘 실습은 Killercoda라는 브라우저 기반 실습 환경에서 진행합니다. 설치가</a:t>
            </a:r>
          </a:p>
          <a:p>
            <a:r>
              <a:t>전혀 필요 없고, 이미 Docker가 설치되어 있는 상태로 제공됩니다.</a:t>
            </a:r>
          </a:p>
          <a:p/>
          <a:p>
            <a:r>
              <a:t>**(60분 제한 안내)** Killercoda는 60분 시간 제한이 있다는 것 기억해주세요.</a:t>
            </a:r>
          </a:p>
          <a:p/>
          <a:p>
            <a:r>
              <a:t>오늘 실행할 명령어는 딱 세 개입니다. `docker run hello-world`로 첫 컨테이너를 실행해보고, `docker images`로</a:t>
            </a:r>
          </a:p>
          <a:p>
            <a:r>
              <a:t>받아진 이미지를 확인하고, `docker ps -a`로 실행된 컨테이너 목록을 확인할 거예요.</a:t>
            </a:r>
          </a:p>
          <a:p/>
          <a:p>
            <a:r>
              <a:t>**(화면 공유해 실제로 시연)** 제가 먼저 화면으로 보여드릴게요. (Killercoda 열어서 `docker run hello-world`</a:t>
            </a:r>
          </a:p>
          <a:p>
            <a:r>
              <a:t>입력 → 결과 출력 확인 → `docker images` → `docker ps -a` 순서로 라이브 시연)"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[VM에서도 동일하게 실습하기]</a:t>
            </a:r>
          </a:p>
          <a:p/>
          <a:p>
            <a:r>
              <a:t>"Killercoda에서 해본 걸 이번엔 여러분의 로컬 VM에서도 똑같이 해보겠습니다.</a:t>
            </a:r>
          </a:p>
          <a:p/>
          <a:p>
            <a:r>
              <a:t>VM(cloud-lab)에 로그인한 상태에서 `docker run hello-world`를 실행하고, `docker images`와 `docker ps -a`로</a:t>
            </a:r>
          </a:p>
          <a:p>
            <a:r>
              <a:t>결과를 확인하세요. Killercoda와 결과가 똑같이 나오는지 비교해보시면 됩니다.</a:t>
            </a:r>
          </a:p>
          <a:p/>
          <a:p>
            <a:r>
              <a:t>**(의미 강조)** 이 과정이 왜 중요하냐면, 오늘 이후로 우리는 계속 이 개인 VM을 쓰게 됩니다. Killercoda는</a:t>
            </a:r>
          </a:p>
          <a:p>
            <a:r>
              <a:t>수업 중 빠른 체험용이고, 실제 과제와 심화 실습은 전부 이 VM에서 영구적으로 진행됩니다."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OS 커널을 공유해서 가볍고 빠르다**.</a:t>
            </a:r>
          </a:p>
          <a:p>
            <a:r>
              <a:t>둘째, **Docker는 Image를 Container로 실행하는 도구**다."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3차시에서는 Docker 데몬이 실제로 컨테이너를 어떻게 다루는지 좀 더 깊이 들여다보고, nginx라는</a:t>
            </a:r>
          </a:p>
          <a:p>
            <a:r>
              <a:t>실제 웹 서버 컨테이너를 직접 실행하고 `docker inspect`로 내부를 점검하는 심화 실습을 해보겠습니다.</a:t>
            </a:r>
          </a:p>
          <a:p/>
          <a:p>
            <a:r>
              <a:t>오늘 수업은 여기까지입니다.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"Killercoda가 초기화되면 지금까지 한 게 다 사라지나요?" | 네, Killercoda는 세션 기반이라 60분 후 초기화됩니다. 장기 보존이 필요한 과제는 로컬 VM에서 진행하도록 설계된 이유가 이것입니다. |</a:t>
            </a:r>
          </a:p>
          <a:p>
            <a:r>
              <a:t>| "저는 수업을 늦게 듣는데(온라인 비동기), 그때도 60분이 남아있나요?" | 네, 문제없습니다. 60분 타이머는 링크가 만들어진 시점이 아니라, 여러분이 그 링크를 눌러 시나리오를 '시작'한 순간부터 개별적으로 시작됩니다. 링크 자체는 만료되지 않으니, 언제 접속하든 그 순간부터 온전히 60분을 쓸 수 있습니다. |</a:t>
            </a:r>
          </a:p>
          <a:p>
            <a:r>
              <a:t>| "다른 학생과 같은 링크를 써도 실습 환경이 섞이지 않나요?" | 안 섞입니다. 같은 링크를 클릭해도 각자 독립된 환경이 새로 생성되고, 타이머도 각자 따로 돕니다. 다른 사람이 먼저 열었어도 내가 여는 환경에는 영향이 없습니다. |</a:t>
            </a:r>
          </a:p>
          <a:p>
            <a:r>
              <a:t>| "Docker Hub가 뭔가요? 회원가입 해야 하나요?" | Docker Hub는 이미지를 올리고 받을 수 있는 공개 저장소입니다. 오늘은 이미지를 받기만 하므로 회원가입이 필요 없습니다. 3주차부터 이미지를 올릴 때 계정이 필요합니다. |</a:t>
            </a:r>
          </a:p>
          <a:p>
            <a:r>
              <a:t>| "VM 위에 컨테이너를 올린다는 게 무슨 말이에요?" | 실제 클라우드 인프라(AWS EC2 등)는 VM으로 구성되어 있고, 그 VM 안에서 Docker 컨테이너를 실행하는 경우가 많습니다. 격리(VM)와 효율(컨테이너)을 동시에 얻기 위한 방식입니다.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 vs Container · Image·Container·Registry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컨테이너가 VM의 한계를 어떻게 해결하는가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VM과 컨테이너를 정확히 비교할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아키텍처(Image·Container·Registry)를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Killercoda에서 첫 Docker 명령어를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docker run hello-world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 – 컨테이너를 만들고 실행하는 핵심 엔진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 – 컨테이너 실행에 필요한 모든 것을 담은 "설계도" (읽기 전용)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 – Image를 실제로 실행한 상태 = "실체"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설치 불필요 (이미 Docker 설치된 상태로 제공)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— 첫 컨테이너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— 받아진 이미지 확인 (내 붕어빵 틀 목록)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 배포받은 개인 VM(cloud-lab)에 로그인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/ docker ps -a 로 결과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Killercoda와 결과가 똑같이 나오는지 비교해보기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