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005840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B8A6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맑은 고딕"/>
              </a:rPr>
              <a:t>클라우드 컴퓨팅 패러다임과</a:t>
            </a:r>
          </a:p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맑은 고딕"/>
              </a:rPr>
              <a:t>가상화 기술의 이해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9D3E6"/>
                </a:solidFill>
                <a:latin typeface="맑은 고딕"/>
              </a:rPr>
              <a:t>가상화(Hypervisor vs Container) 개념 이해 및 Docker 아키텍처 이론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59436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배포용(자기주도 학습)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1.  기존 온프레미스(On-premise) 서버 운영 방식과 클라우드 컴퓨팅의 차이를 설명할 수 있다.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2.  가상화(Virtualization) 기술이 왜 필요한지, 어떤 문제를 해결하는지 이해한다.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3.  Hypervisor 기반 가상머신(VM)과 컨테이너(Container)의 구조적 차이를 비교·설명할 수 있다.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4.  Docker Engine, Image, Container, Registry의 관계를 설명할 수 있다.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5.  Killercoda 브라우저 실습 환경에서 첫 Docker 명령어(docker run hello-world)를 실행해 본다.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10881360" cy="50292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91616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373"/>
                </a:solidFill>
                <a:latin typeface="맑은 고딕"/>
              </a:rPr>
              <a:t>Tip. 다섯 가지 목표 중 1~4는 이론, 5는 오늘 Killercoda에서 직접 손으로 확인합니다.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02 / 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7747" y="1828800"/>
            <a:ext cx="2044598" cy="3108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4598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02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02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4B8A6"/>
                </a:solidFill>
                <a:latin typeface="맑은 고딕"/>
              </a:rPr>
              <a:t>25분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907" y="3566160"/>
            <a:ext cx="177027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B637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1" name="Chevron 10"/>
          <p:cNvSpPr/>
          <p:nvPr/>
        </p:nvSpPr>
        <p:spPr>
          <a:xfrm>
            <a:off x="3430828" y="3273552"/>
            <a:ext cx="128016" cy="219456"/>
          </a:xfrm>
          <a:prstGeom prst="chevron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63670" y="1828800"/>
            <a:ext cx="2044598" cy="3108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3670" y="1828800"/>
            <a:ext cx="2044598" cy="109728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0830" y="2148840"/>
            <a:ext cx="17702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213D"/>
                </a:solidFill>
                <a:latin typeface="맑은 고딕"/>
              </a:rPr>
              <a:t>② Killercoda 따라하기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830" y="2834640"/>
            <a:ext cx="17702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2335C"/>
                </a:solidFill>
                <a:latin typeface="맑은 고딕"/>
              </a:rPr>
              <a:t>15분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0830" y="3566160"/>
            <a:ext cx="177027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B6373"/>
                </a:solidFill>
                <a:latin typeface="맑은 고딕"/>
              </a:rPr>
              <a:t>hello-world 실습</a:t>
            </a:r>
          </a:p>
        </p:txBody>
      </p:sp>
      <p:sp>
        <p:nvSpPr>
          <p:cNvPr id="17" name="Chevron 16"/>
          <p:cNvSpPr/>
          <p:nvPr/>
        </p:nvSpPr>
        <p:spPr>
          <a:xfrm>
            <a:off x="6016752" y="3273552"/>
            <a:ext cx="128016" cy="219456"/>
          </a:xfrm>
          <a:prstGeom prst="chevron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9593" y="1828800"/>
            <a:ext cx="2044598" cy="3108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9593" y="1828800"/>
            <a:ext cx="2044598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6753" y="2148840"/>
            <a:ext cx="17702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213D"/>
                </a:solidFill>
                <a:latin typeface="맑은 고딕"/>
              </a:rPr>
              <a:t>③ VM 과제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753" y="2834640"/>
            <a:ext cx="17702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753" y="3566160"/>
            <a:ext cx="177027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B6373"/>
                </a:solidFill>
                <a:latin typeface="맑은 고딕"/>
              </a:rPr>
              <a:t>0주차 VM 점검</a:t>
            </a:r>
          </a:p>
        </p:txBody>
      </p:sp>
      <p:sp>
        <p:nvSpPr>
          <p:cNvPr id="23" name="Chevron 22"/>
          <p:cNvSpPr/>
          <p:nvPr/>
        </p:nvSpPr>
        <p:spPr>
          <a:xfrm>
            <a:off x="8602675" y="3273552"/>
            <a:ext cx="128016" cy="219456"/>
          </a:xfrm>
          <a:prstGeom prst="chevron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35516" y="1828800"/>
            <a:ext cx="2044598" cy="3108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5516" y="1828800"/>
            <a:ext cx="2044598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2676" y="2148840"/>
            <a:ext cx="17702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676" y="2834640"/>
            <a:ext cx="17702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59E0B"/>
                </a:solidFill>
                <a:latin typeface="맑은 고딕"/>
              </a:rPr>
              <a:t>5분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676" y="3566160"/>
            <a:ext cx="177027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B637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257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B6373"/>
                </a:solidFill>
                <a:latin typeface="맑은 고딕"/>
              </a:rPr>
              <a:t>본 자료(강의자료 배포용)는 ①단계 개념 설명에서 교수자가 직접 강의할 때 사용합니다. ②단계 Killercoda 실습은 05_Killercoda_링크 폴더의 URL로 접속하고, ③단계 로컬 VM 점검은 06_로컬VM_과제복습 폴더의 가이드를 따라주세요.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03 / 19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19456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맑은 고딕"/>
              </a:rPr>
              <a:t>클라우드 컴퓨팅이란?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9D3E6"/>
                </a:solidFill>
                <a:latin typeface="맑은 고딕"/>
              </a:rPr>
              <a:t>On-Premise에서 Cloud로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PART 1 · 클라우드 컴퓨팅이란?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기존 온프레미스 방식의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1200"/>
              </a:spcAft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온프레미스(On-premise)란 회사가 서버를 직접 구매하여 자체 전산실(IDC)에 설치·운영하는 전통적인 방식입니다.</a:t>
            </a:r>
          </a:p>
          <a:p>
            <a:pPr marL="0" indent="0">
              <a:lnSpc>
                <a:spcPct val="130000"/>
              </a:lnSpc>
              <a:spcAft>
                <a:spcPts val="1200"/>
              </a:spcAft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서버 장애가 발생하면 담당자가 직접 하드웨어를 점검·교체해야 하므로 대응 시간이 오래 걸립니다.</a:t>
            </a:r>
          </a:p>
          <a:p>
            <a:pPr marL="0" indent="0">
              <a:lnSpc>
                <a:spcPct val="130000"/>
              </a:lnSpc>
              <a:spcAft>
                <a:spcPts val="1200"/>
              </a:spcAft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예: 쇼핑몰이 세일 기간에 트래픽이 평소의 10배로 늘어난다면? 서버를 미리 넉넉하게 사둬야 하고, 평소에는 그 서버 자원이 그대로 낭비됩니다.</a:t>
            </a:r>
          </a:p>
          <a:p>
            <a:pPr marL="0" indent="0">
              <a:lnSpc>
                <a:spcPct val="130000"/>
              </a:lnSpc>
              <a:spcAft>
                <a:spcPts val="1200"/>
              </a:spcAft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서버·네트워크 장비를 미리 구매해야 하므로 초기 투자 비용(CAPEX)이 크게 발생합니다.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05 /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PART 1 · 클라우드 컴퓨팅이란?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클라우드 컴퓨팅의 정의와 특징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1200"/>
              </a:spcAft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클라우드 컴퓨팅이란 인터넷을 통해 서버, 저장소, 네트워크 등 컴퓨팅 자원을 필요한 만큼 빌려 쓰는 방식을 말합니다.</a:t>
            </a:r>
          </a:p>
          <a:p>
            <a:pPr marL="0" indent="0">
              <a:lnSpc>
                <a:spcPct val="130000"/>
              </a:lnSpc>
              <a:spcAft>
                <a:spcPts val="1200"/>
              </a:spcAft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① 온디맨드 셀프서비스: 사람을 거치지 않고 필요할 때 스스로 자원을 신청·해제할 수 있습니다.</a:t>
            </a:r>
          </a:p>
          <a:p>
            <a:pPr marL="0" indent="0">
              <a:lnSpc>
                <a:spcPct val="130000"/>
              </a:lnSpc>
              <a:spcAft>
                <a:spcPts val="1200"/>
              </a:spcAft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② 광범위한 네트워크 접근: 인터넷만 되면 어디서든 표준 방식으로 접속할 수 있습니다.</a:t>
            </a:r>
          </a:p>
          <a:p>
            <a:pPr marL="0" indent="0">
              <a:lnSpc>
                <a:spcPct val="130000"/>
              </a:lnSpc>
              <a:spcAft>
                <a:spcPts val="1200"/>
              </a:spcAft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③ 자원 풀링: 여러 사용자가 물리 자원을 공유하며 필요에 따라 동적으로 할당받습니다.</a:t>
            </a:r>
          </a:p>
          <a:p>
            <a:pPr marL="0" indent="0">
              <a:lnSpc>
                <a:spcPct val="130000"/>
              </a:lnSpc>
              <a:spcAft>
                <a:spcPts val="1200"/>
              </a:spcAft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④ 신속한 확장성: 트래픽이 늘면 자원을 즉시 늘리고, 줄면 다시 줄일 수 있습니다.</a:t>
            </a:r>
          </a:p>
          <a:p>
            <a:pPr marL="0" indent="0">
              <a:lnSpc>
                <a:spcPct val="130000"/>
              </a:lnSpc>
              <a:spcAft>
                <a:spcPts val="1200"/>
              </a:spcAft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⑤ 종량제 과금: 사용한 만큼만 비용을 지불합니다 (전기 요금처럼).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06 /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PART 1 · 클라우드 컴퓨팅이란?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온프레미스 vs 클라우드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2377440" cy="71323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237744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4206240" cy="713232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00200"/>
            <a:ext cx="420624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온프레미스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600200"/>
            <a:ext cx="4206240" cy="7132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600200"/>
            <a:ext cx="420624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클라우드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313432"/>
            <a:ext cx="237744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313432"/>
            <a:ext cx="21579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초기 비용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313432"/>
            <a:ext cx="420624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313432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높음 (서버·장비 구매)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313432"/>
            <a:ext cx="420624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8" y="2313432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낮음 (초기 투자 없음)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026664"/>
            <a:ext cx="2377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026664"/>
            <a:ext cx="21579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확장성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026664"/>
            <a:ext cx="4206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026664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제한적, 증설에 시간 소요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3026664"/>
            <a:ext cx="4206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8" y="3026664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즉시 확장/축소 가능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739896"/>
            <a:ext cx="237744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739896"/>
            <a:ext cx="21579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유지보수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739896"/>
            <a:ext cx="420624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739896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자체 인력·시간 필요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739896"/>
            <a:ext cx="420624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8" y="3739896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클라우드 사업자가 관리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453128"/>
            <a:ext cx="2377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453128"/>
            <a:ext cx="21579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장애 대응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453128"/>
            <a:ext cx="4206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4453128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직접 하드웨어 점검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4453128"/>
            <a:ext cx="4206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8" y="4453128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자동 복구·이중화 지원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5166360"/>
            <a:ext cx="237744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5166360"/>
            <a:ext cx="21579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과금 방식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5166360"/>
            <a:ext cx="420624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10128" y="5166360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고정 자산 투자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5166360"/>
            <a:ext cx="420624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16368" y="5166360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사용한 만큼 종량제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07 / 19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19456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맑은 고딕"/>
              </a:rPr>
              <a:t>가상화 기술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9D3E6"/>
                </a:solidFill>
                <a:latin typeface="맑은 고딕"/>
              </a:rPr>
              <a:t>Hypervisor 기반 가상머신(VM)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PART 2 · 가상화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가상화란? — Hypervisor 기반 VM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가상화(Virtualization)란 하나의 물리 서버(Host) 위에 여러 개의 독립된 논리적 서버(가상머신)를 만드는 기술입니다.</a:t>
            </a:r>
          </a:p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Hypervisor(가상화 소프트웨어)가 CPU·메모리·디스크 같은 하드웨어 자원을 나누어 각 가상머신(VM)에 배분합니다.</a:t>
            </a:r>
          </a:p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각 VM은 자신만의 완전한 운영체제(Guest OS)를 가지고 있어, 서로 다른 OS(Windows/Linux 등)도 한 서버에서 동시에 운영할 수 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4213D"/>
                </a:solidFill>
                <a:latin typeface="맑은 고딕"/>
              </a:rPr>
              <a:t>VM 구조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148840"/>
            <a:ext cx="4846320" cy="54864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Guest OS +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752344"/>
            <a:ext cx="4846320" cy="54864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52344"/>
            <a:ext cx="4846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Guest OS +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355848"/>
            <a:ext cx="4846320" cy="54864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355848"/>
            <a:ext cx="4846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Guest OS + 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959352"/>
            <a:ext cx="4846320" cy="548640"/>
          </a:xfrm>
          <a:prstGeom prst="roundRect">
            <a:avLst>
              <a:gd name="adj" fmla="val 8000"/>
            </a:avLst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959352"/>
            <a:ext cx="4846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Hypervisor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562856"/>
            <a:ext cx="4846320" cy="54864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562856"/>
            <a:ext cx="4846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Host OS / 물리 서버(Hardware)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09 / 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PART 2 · 가상화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VM 방식의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무겁다 (Heavy)</a:t>
            </a:r>
          </a:p>
          <a:p>
            <a:pPr marL="274320" indent="0">
              <a:lnSpc>
                <a:spcPct val="130000"/>
              </a:lnSpc>
              <a:spcAft>
                <a:spcPts val="1400"/>
              </a:spcAft>
            </a:pPr>
            <a:r>
              <a:rPr sz="1400" b="1">
                <a:solidFill>
                  <a:srgbClr val="5B6373"/>
                </a:solidFill>
                <a:latin typeface="맑은 고딕"/>
              </a:rPr>
              <a:t>–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VM 하나마다 완전한 운영체제를 통째로 포함하기 때문에 이미지 용량이 수 GB에서 수십 GB에 이릅니다.</a:t>
            </a:r>
          </a:p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느리다 (Slow)</a:t>
            </a:r>
          </a:p>
          <a:p>
            <a:pPr marL="274320" indent="0">
              <a:lnSpc>
                <a:spcPct val="130000"/>
              </a:lnSpc>
              <a:spcAft>
                <a:spcPts val="1400"/>
              </a:spcAft>
            </a:pPr>
            <a:r>
              <a:rPr sz="1400" b="1">
                <a:solidFill>
                  <a:srgbClr val="5B6373"/>
                </a:solidFill>
                <a:latin typeface="맑은 고딕"/>
              </a:rPr>
              <a:t>–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VM을 켤 때마다 OS 자체를 부팅해야 하므로 수십 초에서 수 분이 걸립니다.</a:t>
            </a:r>
          </a:p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낭비된다 (Wasteful)</a:t>
            </a:r>
          </a:p>
          <a:p>
            <a:pPr marL="274320" indent="0">
              <a:lnSpc>
                <a:spcPct val="130000"/>
              </a:lnSpc>
              <a:spcAft>
                <a:spcPts val="1400"/>
              </a:spcAft>
            </a:pPr>
            <a:r>
              <a:rPr sz="1400" b="1">
                <a:solidFill>
                  <a:srgbClr val="5B6373"/>
                </a:solidFill>
                <a:latin typeface="맑은 고딕"/>
              </a:rPr>
              <a:t>–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VM을 여러 개 동시에 띄우면 각 VM의 OS가 CPU·메모리 자원을 중복해서 소모합니다.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49240"/>
            <a:ext cx="10881360" cy="82296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04688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💬  "앱 하나 실행하려고 OS를 통째로 복제해야 할까?"  →  이 질문에서 컨테이너 기술이 시작됩니다.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10 /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19456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맑은 고딕"/>
              </a:rPr>
              <a:t>컨테이너와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9D3E6"/>
                </a:solidFill>
                <a:latin typeface="맑은 고딕"/>
              </a:rPr>
              <a:t>가볍고 빠른 다음 세대 가상화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PART 3 · 컨테이너와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컨테이너 구조 — OS 커널을 공유한다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컨테이너는 VM과 달리 OS 전체를 복제하지 않고, Host OS의 커널(Kernel)을 여러 컨테이너가 함께 공유합니다.</a:t>
            </a:r>
          </a:p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각 컨테이너는 애플리케이션 실행에 꼭 필요한 코드와 라이브러리만 포함하므로 이미지 용량이 매우 작습니다.</a:t>
            </a:r>
          </a:p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그 결과 컨테이너는 수십 MB 수준의 크기와 1초 내외의 빠른 시작 속도를 갖습니다.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4213D"/>
                </a:solidFill>
                <a:latin typeface="맑은 고딕"/>
              </a:rPr>
              <a:t>컨테이너 구조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148840"/>
            <a:ext cx="4846320" cy="54864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App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752344"/>
            <a:ext cx="4846320" cy="54864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52344"/>
            <a:ext cx="4846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App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355848"/>
            <a:ext cx="4846320" cy="54864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355848"/>
            <a:ext cx="4846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App 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959352"/>
            <a:ext cx="4846320" cy="548640"/>
          </a:xfrm>
          <a:prstGeom prst="roundRect">
            <a:avLst>
              <a:gd name="adj" fmla="val 8000"/>
            </a:avLst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959352"/>
            <a:ext cx="4846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Docker 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562856"/>
            <a:ext cx="4846320" cy="54864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562856"/>
            <a:ext cx="4846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Host OS / 물리 서버(Hardware)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12 / 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PART 3 · 컨테이너와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VM vs 컨테이너, 한눈에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2377440" cy="5669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4206240" cy="566928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00200"/>
            <a:ext cx="4206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가상머신 (VM)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600200"/>
            <a:ext cx="4206240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600200"/>
            <a:ext cx="4206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컨테이너 (Container)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167128"/>
            <a:ext cx="23774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16712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가상화 단위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167128"/>
            <a:ext cx="42062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167128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하드웨어 전체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167128"/>
            <a:ext cx="42062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8" y="2167128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운영체제(OS) 커널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734056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734056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포함 요소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734056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2734056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OS 전체 + 애플리케이션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734056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8" y="2734056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애플리케이션 + 필요한 라이브러리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300984"/>
            <a:ext cx="23774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300984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용량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300984"/>
            <a:ext cx="42062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300984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수 GB ~ 수십 GB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300984"/>
            <a:ext cx="42062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8" y="3300984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수십 MB ~ 수백 MB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867912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3867912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부팅 속도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3867912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3867912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수십 초 ~ 수 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3867912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8" y="3867912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1초 내외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4434840"/>
            <a:ext cx="23774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434840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격리 수준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4434840"/>
            <a:ext cx="42062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10128" y="4434840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강함 (완전 격리)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4434840"/>
            <a:ext cx="42062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16368" y="4434840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상대적으로 약함 (커널 공유)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5001768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500176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대표 기술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5001768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10128" y="5001768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VMware, VirtualBox, Hyper-V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5001768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16368" y="5001768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Docker, Podman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373"/>
                </a:solidFill>
                <a:latin typeface="맑은 고딕"/>
              </a:rPr>
              <a:t>정리: 컨테이너는 VM보다 가볍고 빠르지만, 격리 수준은 VM이 더 강합니다. 그래서 실무에서는 상황에 따라 둘을 함께 사용하기도 합니다.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13 / 19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PART 3 · 컨테이너와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Docker 아키텍처 — Image, Container, 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Docker Engine</a:t>
            </a:r>
          </a:p>
          <a:p>
            <a:pPr marL="274320" indent="0"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5B6373"/>
                </a:solidFill>
                <a:latin typeface="맑은 고딕"/>
              </a:rPr>
              <a:t>–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이미지를 내려받고, 컨테이너를 생성·실행·관리하는 Docker의 핵심 실행 엔진입니다.</a:t>
            </a:r>
          </a:p>
          <a:p>
            <a:pPr marL="0" indent="0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Image (이미지)</a:t>
            </a:r>
          </a:p>
          <a:p>
            <a:pPr marL="274320" indent="0"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5B6373"/>
                </a:solidFill>
                <a:latin typeface="맑은 고딕"/>
              </a:rPr>
              <a:t>–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애플리케이션 실행에 필요한 코드, 라이브러리, 설정 파일을 모두 담은 읽기 전용 "설계도"입니다.</a:t>
            </a:r>
          </a:p>
          <a:p>
            <a:pPr marL="0" indent="0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Container (컨테이너)</a:t>
            </a:r>
          </a:p>
          <a:p>
            <a:pPr marL="274320" indent="0"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5B6373"/>
                </a:solidFill>
                <a:latin typeface="맑은 고딕"/>
              </a:rPr>
              <a:t>–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Image를 실제로 실행(instantiate)한 상태로, 우리가 실행/중지/삭제하는 대상입니다.</a:t>
            </a:r>
          </a:p>
          <a:p>
            <a:pPr marL="0" indent="0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Registry (예: Docker Hub)</a:t>
            </a:r>
          </a:p>
          <a:p>
            <a:pPr marL="274320" indent="0"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5B6373"/>
                </a:solidFill>
                <a:latin typeface="맑은 고딕"/>
              </a:rPr>
              <a:t>–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만들어진 Image를 저장하고 다른 사람과 공유할 수 있는 저장소입니다.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881360" cy="11430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🥞  비유로 이해하기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</a:rPr>
              <a:t>Image = 붕어빵 틀 (설계도)   /   Container = 실제 구워진 붕어빵 (실행된 결과)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</a:rPr>
              <a:t>→ 같은 틀(Image) 하나로 여러 개의 붕어빵(Container)을 동시에 구울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14 / 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19456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맑은 고딕"/>
              </a:rPr>
              <a:t>오늘의 실습 미리보기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9D3E6"/>
                </a:solidFill>
                <a:latin typeface="맑은 고딕"/>
              </a:rPr>
              <a:t>Killercoda + 로컬 VM 점검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PART 4 · 오늘의 실습 미리보기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Killercoda 소개 &amp; 오늘 실행할 명령어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2120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Killercoda는 브라우저에서 바로 실습할 수 있는 클라우드 실습 환경으로, 별도 설치가 전혀 필요 없습니다.</a:t>
            </a:r>
          </a:p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Docker가 이미 설치되어 있는 상태로 제공되므로, 접속 즉시 명령어를 입력할 수 있습니다.</a:t>
            </a:r>
          </a:p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⚠ 다만 세션당 60분의 시간 제한이 있습니다.</a:t>
            </a:r>
          </a:p>
          <a:p>
            <a:pPr marL="274320" indent="0">
              <a:lnSpc>
                <a:spcPct val="130000"/>
              </a:lnSpc>
              <a:spcAft>
                <a:spcPts val="1400"/>
              </a:spcAft>
            </a:pPr>
            <a:r>
              <a:rPr sz="1200" b="1">
                <a:solidFill>
                  <a:srgbClr val="5B6373"/>
                </a:solidFill>
                <a:latin typeface="맑은 고딕"/>
              </a:rPr>
              <a:t>–  </a:t>
            </a:r>
            <a:r>
              <a:rPr sz="1200" b="0">
                <a:solidFill>
                  <a:srgbClr val="222733"/>
                </a:solidFill>
                <a:latin typeface="맑은 고딕"/>
              </a:rPr>
              <a:t>시간이 초과되어 초기화되더라도 당황하지 마세요 — 영구 저장되는 개인 로컬 VM에서 과제를 이어가면 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B8A6"/>
                </a:solidFill>
                <a:latin typeface="맑은 고딕"/>
              </a:rPr>
              <a:t>오늘 실행할 명령어 (Killercoda)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945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Consolas"/>
              </a:rPr>
              <a:t>$ docker run hello-world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9D3E6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Consolas"/>
              </a:rPr>
              <a:t>$ docker images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9D3E6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Consolas"/>
              </a:rPr>
              <a:t>$ docker ps -a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16 / 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PART 4 · 오늘의 실습 미리보기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로컬 VM 환경 최종 점검 (0주차 확인)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16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0주차에 Multipass 또는 Vagrant로 만들어 둔 개인 로컬 VM(cloud-lab)에 접속되는지 다시 한 번 확인합니다.</a:t>
            </a:r>
          </a:p>
          <a:p>
            <a:pPr marL="0" indent="0">
              <a:lnSpc>
                <a:spcPct val="130000"/>
              </a:lnSpc>
              <a:spcAft>
                <a:spcPts val="16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VM 내부에서 docker --version 명령을 입력해 Docker가 정상적으로 설치되어 있는지 확인합니다.</a:t>
            </a:r>
          </a:p>
          <a:p>
            <a:pPr marL="0" indent="0">
              <a:lnSpc>
                <a:spcPct val="130000"/>
              </a:lnSpc>
              <a:spcAft>
                <a:spcPts val="16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VM 내부에서 git --version 명령을 입력해 Git이 정상적으로 설치되어 있는지 확인합니다.</a:t>
            </a:r>
          </a:p>
          <a:p>
            <a:pPr marL="0" indent="0">
              <a:lnSpc>
                <a:spcPct val="130000"/>
              </a:lnSpc>
              <a:spcAft>
                <a:spcPts val="16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접속이 안 되거나 명령어가 출력되지 않는다면, 해당 주차 폴더의 06_로컬VM_과제복습·07_오류FAQ 문서를 확인하고, 해결되지 않으면 LMS Q&amp;A 게시판에 오류 메시지 스크린샷과 함께 질문해 주세요 (48시간 내 답변).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881360" cy="114300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Consolas"/>
              </a:rPr>
              <a:t>multipass shell cloud-lab   →   docker --version   →   git --version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17 /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맑은 고딕"/>
              </a:rPr>
              <a:t>클라우드 = 필요한 만큼 빌려쓰는 컴퓨팅 자원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231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468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맑은 고딕"/>
              </a:rPr>
              <a:t>VM은 무겁고 느리다, Container는 가볍고 빠르다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4213D"/>
                </a:solidFill>
                <a:latin typeface="맑은 고딕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2461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맑은 고딕"/>
              </a:rPr>
              <a:t>Docker = Image를 Container로 실행하는 도구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645920"/>
            <a:ext cx="10332720" cy="1371600"/>
          </a:xfrm>
          <a:prstGeom prst="roundRect">
            <a:avLst>
              <a:gd name="adj" fmla="val 8000"/>
            </a:avLst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2880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B8A6"/>
                </a:solidFill>
                <a:latin typeface="맑은 고딕"/>
              </a:rPr>
              <a:t>다음 차시 예고 — 1주차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945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맑은 고딕"/>
              </a:rPr>
              <a:t>Docker 컨테이너 생명주기와 데이터 보존 (볼륨 마운트로 웹 서버 직접 띄워보기)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