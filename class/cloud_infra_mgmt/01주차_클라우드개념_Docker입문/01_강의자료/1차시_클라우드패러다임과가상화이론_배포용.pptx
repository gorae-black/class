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005840" cy="635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9D3E6"/>
                </a:solidFill>
                <a:latin typeface="맑은 고딕"/>
              </a:rPr>
              <a:t>가상화(Hypervisor vs Container) 개념 이해 및 Docker 아키텍처 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기존 온프레미스(On-premise) 서버 운영 방식과 클라우드 컴퓨팅의 차이를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가상화(Virtualization) 기술이 왜 필요한지, 어떤 문제를 해결하는지 이해한다.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Hypervisor 기반 가상머신(VM)과 컨테이너(Container)의 구조적 차이를 비교·설명할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4.  Docker Engine, Image, Container, Registry의 관계를 설명할 수 있다.</a:t>
            </a:r>
          </a:p>
          <a:p>
            <a:pPr marL="0" indent="0">
              <a:lnSpc>
                <a:spcPct val="120000"/>
              </a:lnSpc>
              <a:spcAft>
                <a:spcPts val="1600"/>
              </a:spcAft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5.  Killercoda 브라우저 실습 환경에서 첫 Docker 명령어(docker run hello-world)를 실행해 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806440"/>
            <a:ext cx="10881360" cy="502920"/>
          </a:xfrm>
          <a:prstGeom prst="roundRect">
            <a:avLst>
              <a:gd name="adj" fmla="val 1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91616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Tip. 다섯 가지 목표 중 1~4는 이론, 5는 오늘 Killercoda에서 직접 손으로 확인합니다.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02 / 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1주차 1차시 진행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77747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4598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283464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Chevron 10"/>
          <p:cNvSpPr/>
          <p:nvPr/>
        </p:nvSpPr>
        <p:spPr>
          <a:xfrm>
            <a:off x="3430828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63670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4598" cy="1097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② Killercoda 따라하기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283464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hello-world 실습</a:t>
            </a:r>
          </a:p>
        </p:txBody>
      </p:sp>
      <p:sp>
        <p:nvSpPr>
          <p:cNvPr id="17" name="Chevron 16"/>
          <p:cNvSpPr/>
          <p:nvPr/>
        </p:nvSpPr>
        <p:spPr>
          <a:xfrm>
            <a:off x="6016752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593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4598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③ VM 과제 안내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283464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3" name="Chevron 22"/>
          <p:cNvSpPr/>
          <p:nvPr/>
        </p:nvSpPr>
        <p:spPr>
          <a:xfrm>
            <a:off x="8602675" y="3273552"/>
            <a:ext cx="128016" cy="219456"/>
          </a:xfrm>
          <a:prstGeom prst="chevron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5516" y="1828800"/>
            <a:ext cx="2044598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459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02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2834640"/>
            <a:ext cx="177027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B637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03 / 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온프레미스(On-premise)란 회사가 서버를 직접 구매하여 자체 전산실(IDC)에 설치·운영하는 전통적인 방식입니다.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장애가 발생하면 담당자가 직접 하드웨어를 점검·교체해야 하므로 대응 시간이 오래 걸립니다.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예: 쇼핑몰이 세일 기간에 트래픽이 평소의 10배로 늘어난다면? 서버를 미리 넉넉하게 사둬야 하고, 평소에는 그 서버 자원이 그대로 낭비됩니다.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서버·네트워크 장비를 미리 구매해야 하므로 초기 투자 비용(CAPEX)이 크게 발생합니다.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05 /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클라우드 컴퓨팅이란 인터넷을 통해 서버, 저장소, 네트워크 등 컴퓨팅 자원을 필요한 만큼 빌려 쓰는 방식을 말합니다.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0">
                <a:solidFill>
                  <a:srgbClr val="222733"/>
                </a:solidFill>
                <a:latin typeface="맑은 고딕"/>
              </a:rPr>
              <a:t>① 온디맨드 셀프서비스: 사람을 거치지 않고 필요할 때 스스로 자원을 신청·해제할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0">
                <a:solidFill>
                  <a:srgbClr val="222733"/>
                </a:solidFill>
                <a:latin typeface="맑은 고딕"/>
              </a:rPr>
              <a:t>② 광범위한 네트워크 접근: 인터넷만 되면 어디서든 표준 방식으로 접속할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0">
                <a:solidFill>
                  <a:srgbClr val="222733"/>
                </a:solidFill>
                <a:latin typeface="맑은 고딕"/>
              </a:rPr>
              <a:t>③ 자원 풀링: 여러 사용자가 물리 자원을 공유하며 필요에 따라 동적으로 할당받습니다.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0">
                <a:solidFill>
                  <a:srgbClr val="222733"/>
                </a:solidFill>
                <a:latin typeface="맑은 고딕"/>
              </a:rPr>
              <a:t>④ 신속한 확장성: 트래픽이 늘면 자원을 즉시 늘리고, 줄면 다시 줄일 수 있습니다.</a:t>
            </a:r>
          </a:p>
          <a:p>
            <a:pPr marL="0" indent="0">
              <a:lnSpc>
                <a:spcPct val="130000"/>
              </a:lnSpc>
              <a:spcAft>
                <a:spcPts val="1200"/>
              </a:spcAft>
            </a:pPr>
            <a:r>
              <a:rPr sz="1600" b="0">
                <a:solidFill>
                  <a:srgbClr val="222733"/>
                </a:solidFill>
                <a:latin typeface="맑은 고딕"/>
              </a:rPr>
              <a:t>⑤ 종량제 과금: 사용한 만큼만 비용을 지불합니다 (전기 요금처럼).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06 /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13432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13432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13432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313432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26664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26664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26664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3026664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39896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39896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39896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739896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53128"/>
            <a:ext cx="2377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453128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453128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4453128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60"/>
            <a:ext cx="23774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166360"/>
            <a:ext cx="21579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166360"/>
            <a:ext cx="4206240" cy="713232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5166360"/>
            <a:ext cx="39867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07 / 19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가상화(Virtualization)란 하나의 물리 서버(Host) 위에 여러 개의 독립된 논리적 서버(가상머신)를 만드는 기술입니다.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Hypervisor(가상화 소프트웨어)가 CPU·메모리·디스크 같은 하드웨어 자원을 나누어 각 가상머신(VM)에 배분합니다.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VM은 자신만의 완전한 운영체제(Guest OS)를 가지고 있어, 서로 다른 OS(Windows/Linux 등)도 한 서버에서 동시에 운영할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09 / 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무겁다 (Heavy)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 하나마다 완전한 운영체제를 통째로 포함하기 때문에 이미지 용량이 수 GB에서 수십 GB에 이릅니다.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느리다 (Slow)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켤 때마다 OS 자체를 부팅해야 하므로 수십 초에서 수 분이 걸립니다.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낭비된다 (Wasteful)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VM을 여러 개 동시에 띄우면 각 VM의 OS가 CPU·메모리 자원을 중복해서 소모합니다.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04688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💬  "앱 하나 실행하려고 OS를 통째로 복제해야 할까?"  →  이 질문에서 컨테이너 기술이 시작됩니다.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10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컨테이너와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가볍고 빠른 다음 세대 가상화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컨테이너는 VM과 달리 OS 전체를 복제하지 않고, Host OS의 커널(Kernel)을 여러 컨테이너가 함께 공유합니다.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각 컨테이너는 애플리케이션 실행에 꼭 필요한 코드와 라이브러리만 포함하므로 이미지 용량이 매우 작습니다.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그 결과 컨테이너는 수십 MB 수준의 크기와 1초 내외의 빠른 시작 속도를 갖습니다.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48840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752344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52344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355848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55848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959352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59352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62856"/>
            <a:ext cx="4846320" cy="54864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562856"/>
            <a:ext cx="4846320" cy="5486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12 / 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216712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8" y="2734056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8" y="3300984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867912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8" y="4434840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5001768"/>
            <a:ext cx="39867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B6373"/>
                </a:solidFill>
                <a:latin typeface="맑은 고딕"/>
              </a:rPr>
              <a:t>정리: 컨테이너는 VM보다 가볍고 빠르지만, 격리 수준은 VM이 더 강합니다. 그래서 실무에서는 상황에 따라 둘을 함께 사용하기도 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13 / 19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3 · 컨테이너와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Engine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이미지를 내려받고, 컨테이너를 생성·실행·관리하는 Docker의 핵심 실행 엔진입니다.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Image (이미지)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애플리케이션 실행에 필요한 코드, 라이브러리, 설정 파일을 모두 담은 읽기 전용 "설계도"입니다.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Container (컨테이너)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Image를 실제로 실행(instantiate)한 상태로, 우리가 실행/중지/삭제하는 대상입니다.</a:t>
            </a:r>
          </a:p>
          <a:p>
            <a:pPr marL="0" indent="0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Registry (예: Docker Hub)</a:t>
            </a:r>
          </a:p>
          <a:p>
            <a:pPr marL="274320" indent="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300" b="0">
                <a:solidFill>
                  <a:srgbClr val="222733"/>
                </a:solidFill>
                <a:latin typeface="맑은 고딕"/>
              </a:rPr>
              <a:t>만들어진 Image를 저장하고 다른 사람과 공유할 수 있는 저장소입니다.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Image = 붕어빵 틀 (설계도)   /   Container = 실제 구워진 붕어빵 (실행된 결과)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14 / 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오늘의 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9D3E6"/>
                </a:solidFill>
                <a:latin typeface="맑은 고딕"/>
              </a:rPr>
              <a:t>Killercoda + 로컬 VM 점검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Killercoda는 브라우저에서 바로 실습할 수 있는 클라우드 실습 환경으로, 별도 설치가 전혀 필요 없습니다.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Docker가 이미 설치되어 있는 상태로 제공되므로, 접속 즉시 명령어를 입력할 수 있습니다.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⚠ 다만 세션당 60분의 시간 제한이 있습니다.</a:t>
            </a:r>
          </a:p>
          <a:p>
            <a:pPr marL="274320" indent="0">
              <a:lnSpc>
                <a:spcPct val="130000"/>
              </a:lnSpc>
              <a:spcAft>
                <a:spcPts val="1400"/>
              </a:spcAft>
            </a:pPr>
            <a:r>
              <a:rPr sz="1200" b="1">
                <a:solidFill>
                  <a:srgbClr val="5B6373"/>
                </a:solidFill>
                <a:latin typeface="맑은 고딕"/>
              </a:rPr>
              <a:t>–  </a:t>
            </a:r>
            <a:r>
              <a:rPr sz="1200" b="0">
                <a:solidFill>
                  <a:srgbClr val="222733"/>
                </a:solidFill>
                <a:latin typeface="맑은 고딕"/>
              </a:rPr>
              <a:t>시간이 초과되어 초기화되더라도 당황하지 마세요 — 영구 저장되는 개인 로컬 VM에서 과제를 이어가면 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오늘 실행할 명령어 (Killercoda)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run hello-world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images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9D3E6"/>
                </a:solidFill>
                <a:latin typeface="Consolas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Consolas"/>
              </a:rPr>
              <a:t>$ docker ps -a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16 / 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56032"/>
            <a:ext cx="777240" cy="54864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B8A6"/>
                </a:solidFill>
                <a:latin typeface="맑은 고딕"/>
              </a:rPr>
              <a:t>PART 4 · 오늘의 실습 미리보기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0주차에 Multipass 또는 Vagrant로 만들어 둔 개인 로컬 VM(cloud-lab)에 접속되는지 다시 한 번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docker --version 명령을 입력해 Docker가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 내부에서 git --version 명령을 입력해 Git이 정상적으로 설치되어 있는지 확인합니다.</a:t>
            </a:r>
          </a:p>
          <a:p>
            <a:pPr marL="0" indent="0">
              <a:lnSpc>
                <a:spcPct val="130000"/>
              </a:lnSpc>
              <a:spcAft>
                <a:spcPts val="1600"/>
              </a:spcAft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접속이 안 되거나 명령어가 출력되지 않는다면, 해당 주차 폴더의 06_로컬VM_과제복습·07_오류FAQ 문서를 확인하고, 해결되지 않으면 LMS Q&amp;A 게시판에 오류 메시지 스크린샷과 함께 질문해 주세요 (48시간 내 답변).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Consolas"/>
              </a:rPr>
              <a:t>multipass shell cloud-lab   →   docker --version   →   git --version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3"/>
                </a:solidFill>
                <a:latin typeface="맑은 고딕"/>
              </a:rPr>
              <a:t>17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73952"/>
            <a:ext cx="11274552" cy="9525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68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VM은 무겁고 느리다, Container는 가볍고 빠르다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64592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288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  <a:latin typeface="맑은 고딕"/>
              </a:rPr>
              <a:t>Docker 컨테이너 생명주기와 데이터 보존 (볼륨 마운트로 웹 서버 직접 띄워보기)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