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331720"/>
            <a:ext cx="1005840" cy="6400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14B8A6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5146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>
                <a:solidFill>
                  <a:srgbClr val="FFFFFF"/>
                </a:solidFill>
                <a:latin typeface="맑은 고딕"/>
              </a:rPr>
              <a:t>Kubernetes, 왜 필요한가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6052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C9D3E6"/>
                </a:solidFill>
                <a:latin typeface="맑은 고딕"/>
              </a:rPr>
              <a:t>오케스트레이션 개념과 아키텍처 개관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오늘의 학습 목표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1088136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1.  컨테이너를 여러 개 운영할 때의 어려움을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2.  Kubernetes(오케스트레이션)가 이 문제를 어떻게 해결하는지 이해한다</a:t>
            </a:r>
          </a:p>
          <a:p>
            <a:pPr>
              <a:lnSpc>
                <a:spcPct val="115000"/>
              </a:lnSpc>
            </a:pPr>
            <a:r>
              <a:rPr sz="20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2000" b="0">
                <a:solidFill>
                  <a:srgbClr val="222733"/>
                </a:solidFill>
                <a:latin typeface="맑은 고딕"/>
              </a:rPr>
              <a:t>3.  K8s의 큰 그림(Control Plane vs Node)을 이해한다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02 / 12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SESSION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4주차 1차시 진행 순서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7747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77747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314907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① 개념 설명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14907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강의자료 기반 직접 강의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30828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3670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763670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900830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② Killercoda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900830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멀티노드 클러스터 첫 접속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16751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349593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49593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6753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③ VM 안내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6753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minikube 기동 안내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02675" y="3273552"/>
            <a:ext cx="128016" cy="219456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935516" y="1828800"/>
            <a:ext cx="2048256" cy="31089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935516" y="1828800"/>
            <a:ext cx="2048256" cy="109728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072676" y="2148840"/>
            <a:ext cx="1773936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213D"/>
                </a:solidFill>
                <a:latin typeface="맑은 고딕"/>
              </a:rPr>
              <a:t>④ 결과 제출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72676" y="2834640"/>
            <a:ext cx="1773936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222733"/>
                </a:solidFill>
                <a:latin typeface="맑은 고딕"/>
              </a:rPr>
              <a:t>체크리스트 제출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03 / 12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왜 오케스트레이션이 필요한가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컨테이너가 100개라면?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컨테이너를 수동으로 관리한다면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1088136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 여러 대에 컨테이너를 하나하나 docker run으로 배포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컨테이너가 죽으면? 누군가 직접 확인하고 다시 실행해야 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트래픽이 몰리면? 직접 컨테이너 개수를 늘려야 함</a:t>
            </a:r>
          </a:p>
          <a:p>
            <a:pPr>
              <a:lnSpc>
                <a:spcPct val="115000"/>
              </a:lnSpc>
            </a:pPr>
            <a:r>
              <a:rPr sz="16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600" b="0">
                <a:solidFill>
                  <a:srgbClr val="222733"/>
                </a:solidFill>
                <a:latin typeface="맑은 고딕"/>
              </a:rPr>
              <a:t>서버 한 대가 고장나면? 그 위 컨테이너를 다른 서버로 직접 옮겨야 함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5074920"/>
            <a:ext cx="10881360" cy="114300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193792"/>
            <a:ext cx="10332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FFFFFF"/>
                </a:solidFill>
                <a:latin typeface="맑은 고딕"/>
              </a:rPr>
              <a:t>😰  컨테이너가 수십·수백 개라면?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5778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맑은 고딕"/>
              </a:rPr>
              <a:t>사람이 손으로 관리하는 건 불가능하다 — 그래서 '자동으로' 관리해주는 도구가 필요하다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05 / 12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1 · 왜 오케스트레이션인가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Kubernetes란?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여러 대의 서버(노드)에 걸쳐 컨테이너를 자동으로 배포·관리하는 오케스트레이션 도구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"몇 개가 떠 있어야 한다"를 선언하면, K8s가 실제로 그 상태를 유지해줌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컨테이너가 죽으면 자동으로 다시 띄우고(자가치유), 트래픽에 맞춰 개수를 조절(오토스케일링)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구글이 사내에서 쓰던 시스템을 오픈소스로 공개한 것이 시초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06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2194560"/>
            <a:ext cx="137160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PART 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971800"/>
            <a:ext cx="1005840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>
                <a:solidFill>
                  <a:srgbClr val="FFFFFF"/>
                </a:solidFill>
                <a:latin typeface="맑은 고딕"/>
              </a:rPr>
              <a:t>K8s 아키텍처 개관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97763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C9D3E6"/>
                </a:solidFill>
                <a:latin typeface="맑은 고딕"/>
              </a:rPr>
              <a:t>Control Plane과 Node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PART 2 · K8s 아키텍처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클러스터의 큰 그림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463040"/>
            <a:ext cx="539496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클러스터 = 여러 대의 서버(노드)를 하나로 묶은 것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Control Plane = 클러스터 전체를 지휘하는 '두뇌'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Worker Node = 실제로 컨테이너(Pod)가 돌아가는 '일꾼'</a:t>
            </a:r>
          </a:p>
          <a:p>
            <a:pPr>
              <a:lnSpc>
                <a:spcPct val="115000"/>
              </a:lnSpc>
            </a:pPr>
            <a:r>
              <a:rPr sz="15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500" b="0">
                <a:solidFill>
                  <a:srgbClr val="222733"/>
                </a:solidFill>
                <a:latin typeface="맑은 고딕"/>
              </a:rPr>
              <a:t>우리는 minikube로 이 클러스터 전체를 내 VM 한 대 안에 압축해서 씀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92240" y="1764792"/>
            <a:ext cx="48463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14213D"/>
                </a:solidFill>
                <a:latin typeface="맑은 고딕"/>
              </a:rPr>
              <a:t>클러스터 구조</a:t>
            </a:r>
          </a:p>
        </p:txBody>
      </p:sp>
      <p:sp>
        <p:nvSpPr>
          <p:cNvPr id="9" name="Rectangle 8"/>
          <p:cNvSpPr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92240" y="2148840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Control Plane (두뇌) — API Server · Scheduler · etcd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40" y="2706624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Worker Node 1 (일꾼)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solidFill>
            <a:srgbClr val="0D94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3264408"/>
            <a:ext cx="484632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1200" b="1">
                <a:solidFill>
                  <a:srgbClr val="FFFFFF"/>
                </a:solidFill>
                <a:latin typeface="맑은 고딕"/>
              </a:rPr>
              <a:t>Worker Node 2 (일꾼)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08 / 12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Killercoda — 클러스터 첫 접속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교수자가 미리 구동해 둔 멀티노드 K8s 클러스터에 접속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nodes  — 클러스터에 어떤 노드들이 있는지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cluster-info  — Control Plane 주소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지금은 명령어 결과를 눈으로 보는 것이 목표, 세부 문법은 다음 차시부터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09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36576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56032"/>
            <a:ext cx="777240" cy="54864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17320" y="146304"/>
            <a:ext cx="10241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>
                <a:solidFill>
                  <a:srgbClr val="14B8A6"/>
                </a:solidFill>
                <a:latin typeface="맑은 고딕"/>
              </a:rPr>
              <a:t>실습 안내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457200"/>
            <a:ext cx="102412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500" b="1">
                <a:solidFill>
                  <a:srgbClr val="FFFFFF"/>
                </a:solidFill>
                <a:latin typeface="맑은 고딕"/>
              </a:rPr>
              <a:t>VM 안내 — minikube 기동 (설치 완료 상태)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297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개인 VM(cloud-lab)에는 minikube가 이미 설치되어 있음 (별도 설치 불필요)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minikube start  — 로컬 1노드 클러스터 기동 (첫 실행은 1~2분 소요될 수 있음)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kubectl get nodes  — Ready 상태 확인</a:t>
            </a:r>
          </a:p>
          <a:p>
            <a:pPr>
              <a:lnSpc>
                <a:spcPct val="115000"/>
              </a:lnSpc>
            </a:pPr>
            <a:r>
              <a:rPr sz="1800" b="1">
                <a:solidFill>
                  <a:srgbClr val="0D9488"/>
                </a:solidFill>
                <a:latin typeface="맑은 고딕"/>
              </a:rPr>
              <a:t>●  </a:t>
            </a:r>
            <a:r>
              <a:rPr sz="1800" b="0">
                <a:solidFill>
                  <a:srgbClr val="222733"/>
                </a:solidFill>
                <a:latin typeface="맑은 고딕"/>
              </a:rPr>
              <a:t>다음 차시부터 이 클러스터를 계속 사용하니 minikube start만 미리 해두기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528816"/>
            <a:ext cx="7315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클라우드인프라관리  ·  4주차 1차시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607040" y="6528816"/>
            <a:ext cx="1188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>
                <a:solidFill>
                  <a:srgbClr val="5B6373"/>
                </a:solidFill>
                <a:latin typeface="맑은 고딕"/>
              </a:rPr>
              <a:t>10 / 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6473952"/>
            <a:ext cx="11274552" cy="9144"/>
          </a:xfrm>
          <a:prstGeom prst="rect">
            <a:avLst/>
          </a:prstGeom>
          <a:solidFill>
            <a:srgbClr val="E3E7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오늘의 정리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4592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63040" y="169164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K8s = 컨테이너를 자동으로 배포·관리해주는 오케스트레이션 도구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423160"/>
            <a:ext cx="457200" cy="4572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14213D"/>
                </a:solidFill>
                <a:latin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63040" y="2468879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맑은 고딕"/>
              </a:rPr>
              <a:t>클러스터 = Control Plane(두뇌) + Worker Node(일꾼)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21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64008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다음 차시 예고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" y="1645920"/>
            <a:ext cx="9875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4B8A6"/>
                </a:solidFill>
                <a:latin typeface="맑은 고딕"/>
              </a:rPr>
              <a:t>다음 차시 예고 — 4주차 2차시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" y="2103120"/>
            <a:ext cx="98755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맑은 고딕"/>
              </a:rPr>
              <a:t>K8s에서 가장 작은 배포 단위인 Pod 개념을 배우고, 첫 Pod를 직접 실행해봅니다.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