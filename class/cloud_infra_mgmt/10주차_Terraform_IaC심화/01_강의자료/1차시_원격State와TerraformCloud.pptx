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</a:t>
            </a:r>
          </a:p>
          <a:p/>
          <a:p>
            <a:r>
              <a:t>"10주차 1차시를 시작하겠습니다.</a:t>
            </a:r>
          </a:p>
          <a:p/>
          <a:p>
            <a:r>
              <a:t>지난 9주차 마지막에 로컬 State 파일의 한계를 잠깐 예고해드렸는데요, 오늘은 그 문제를 실제로</a:t>
            </a:r>
          </a:p>
          <a:p>
            <a:r>
              <a:t>해결하는 서비스, Terraform Cloud를 배웁니다."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학습 목표]</a:t>
            </a:r>
          </a:p>
          <a:p/>
          <a:p>
            <a:r>
              <a:t>"오늘 수업이 끝나면 여러분은 세 가지를 할 수 있게 됩니다.</a:t>
            </a:r>
          </a:p>
          <a:p/>
          <a:p>
            <a:r>
              <a:t>첫째, 로컬 State 방식의 문제를 다시 정리하고 원격 State의 필요성을 이해하고,</a:t>
            </a:r>
          </a:p>
          <a:p>
            <a:r>
              <a:t>둘째, Terraform Cloud가 무엇인지, 무엇을 대신 해주는지 이해하고,</a:t>
            </a:r>
          </a:p>
          <a:p>
            <a:r>
              <a:t>셋째, Terraform Cloud의 원격 실행 개념을 이해합니다."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진행 순서 (60분)]</a:t>
            </a:r>
          </a:p>
          <a:p/>
          <a:p>
            <a:r>
              <a:t>"오늘도 25분 개념 설명, 15분 Killercoda, 5분 안내, 5분 제출입니다. 오늘은 아직 계정을 만들지</a:t>
            </a:r>
          </a:p>
          <a:p>
            <a:r>
              <a:t>않으니, VM 안내 시간에는 다음 차시 예고만 드릴게요."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로컬 State, 다시 보는 문제]</a:t>
            </a:r>
          </a:p>
          <a:p/>
          <a:p>
            <a:r>
              <a:t>"지난 시간 예고했던 문제를 다시 한번 정리해보겠습니다."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[혼자 쓸 땐 몰랐던 문제들]</a:t>
            </a:r>
          </a:p>
          <a:p/>
          <a:p>
            <a:r>
              <a:t>"지난 주 배운 대로, 지금까지 State 파일은 전부 여러분의 VM 로컬 디스크에만 있었습니다. 혼자 쓸 땐</a:t>
            </a:r>
          </a:p>
          <a:p>
            <a:r>
              <a:t>문제가 없어 보이지만, 이 방식은 세 가지 문제를 가지고 있습니다.</a:t>
            </a:r>
          </a:p>
          <a:p/>
          <a:p>
            <a:r>
              <a:t>**협업 문제** — 여러 사람이 같은 인프라를 다루면, 각자의 State가 서로 달라 충돌이 날 수 있습니다.</a:t>
            </a:r>
          </a:p>
          <a:p>
            <a:r>
              <a:t>**보안 문제** — State 안에 비밀번호 같은 민감정보가 평문으로 포함될 수 있습니다.</a:t>
            </a:r>
          </a:p>
          <a:p>
            <a:r>
              <a:t>**실행 환경 문제** — 내 VM이 꺼지면, 아무도 그 인프라에 대해 apply를 실행할 수 없습니다.</a:t>
            </a:r>
          </a:p>
          <a:p/>
          <a:p>
            <a:r>
              <a:t>**(질문 던지기)** 그럼 State를 어딘가 '공용 장소'에 두면 어떨까요? 바로 이 아이디어가 오늘 배울</a:t>
            </a:r>
          </a:p>
          <a:p>
            <a:r>
              <a:t>**원격 백엔드(Remote Backend)**입니다."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2 섹션 표지 — Terraform Cloud]</a:t>
            </a:r>
          </a:p>
          <a:p/>
          <a:p>
            <a:r>
              <a:t>"이 문제를 해결해주는 HashiCorp의 공식 서비스가 Terraform Cloud입니다."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[Terraform Cloud가 대신 해주는 일]</a:t>
            </a:r>
          </a:p>
          <a:p/>
          <a:p>
            <a:r>
              <a:t>"Terraform Cloud는 크게 세 가지를 대신 해줍니다.</a:t>
            </a:r>
          </a:p>
          <a:p/>
          <a:p>
            <a:r>
              <a:t>**State 저장** — 여러 사람이 공유하는 안전한 원격 저장소에 State를 보관합니다.</a:t>
            </a:r>
          </a:p>
          <a:p>
            <a:r>
              <a:t>**원격 실행** — plan/apply를, 내 VM이 아니라 Terraform Cloud의 서버에서 실행합니다.</a:t>
            </a:r>
          </a:p>
          <a:p>
            <a:r>
              <a:t>**실행 이력** — 누가 언제 무엇을 바꿨는지 'Runs' 탭에서 전부 기록하고 조회할 수 있습니다.</a:t>
            </a:r>
          </a:p>
          <a:p/>
          <a:p>
            <a:r>
              <a:t>**(그림 설명)** 화면의 그림을 보시면, 내 VM은 코드를 작성하는 역할만 하고, 실제 State 저장과 실행은</a:t>
            </a:r>
          </a:p>
          <a:p>
            <a:r>
              <a:t>Terraform Cloud가 맡습니다."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[원격 실행(Remote Execution)이란]</a:t>
            </a:r>
          </a:p>
          <a:p/>
          <a:p>
            <a:r>
              <a:t>"조금 더 자세히 설명드릴게요. `terraform apply`를 실행해도, 실제 plan/apply 연산은 **내 VM이</a:t>
            </a:r>
          </a:p>
          <a:p>
            <a:r>
              <a:t>아니라 Terraform Cloud의 서버**에서 처리됩니다.</a:t>
            </a:r>
          </a:p>
          <a:p/>
          <a:p>
            <a:r>
              <a:t>내 VM은 코드를 Terraform Cloud에 전달하는 역할만 하고, 실행이 끝나면 결과를 돌려받는 거예요.</a:t>
            </a:r>
          </a:p>
          <a:p/>
          <a:p>
            <a:r>
              <a:t>**(협업 이점 재확인)** 이렇게 하면 여러 명이 같은 워크스페이스에 접근해도 항상 하나의 State만</a:t>
            </a:r>
          </a:p>
          <a:p>
            <a:r>
              <a:t>존재하게 되어, 지난 시간에 걱정했던 충돌 문제가 사라집니다."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 꼭 기억해야 할 것]</a:t>
            </a:r>
          </a:p>
          <a:p/>
          <a:p>
            <a:r>
              <a:t>"자, 여기서 오늘 가장 중요한 포인트를 짚고 넘어가겠습니다.</a:t>
            </a:r>
          </a:p>
          <a:p/>
          <a:p>
            <a:r>
              <a:t>**(핵심 경고)** 원격 실행은 Terraform Cloud의 **서버**에서 이뤄지기 때문에, 내 VM의 로컬 자원(예:</a:t>
            </a:r>
          </a:p>
          <a:p>
            <a:r>
              <a:t>Docker)에는 접근할 수 없습니다.</a:t>
            </a:r>
          </a:p>
          <a:p/>
          <a:p>
            <a:r>
              <a:t>그래서 10주차 실습에서는 9주차에 썼던 `docker` Provider 예제를 그대로 쓸 수 없습니다. 실제로</a:t>
            </a:r>
          </a:p>
          <a:p>
            <a:r>
              <a:t>`docker_container`를 원격 실행하면 \"Cannot connect to the Docker daemon\" 오류가 납니다 — 원격</a:t>
            </a:r>
          </a:p>
          <a:p>
            <a:r>
              <a:t>서버는 여러분의 VM Docker 데몬에 접속할 방법이 없으니까요.</a:t>
            </a:r>
          </a:p>
          <a:p/>
          <a:p>
            <a:r>
              <a:t>그래서 다음 실습에서는 로컬 인프라에 의존하지 않는 리소스(`random_pet`)로 원격 실행의 원리만</a:t>
            </a:r>
          </a:p>
          <a:p>
            <a:r>
              <a:t>확인할 예정입니다."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[Killercoda — Terraform Cloud 파이프라인 시연 감상]</a:t>
            </a:r>
          </a:p>
          <a:p/>
          <a:p>
            <a:r>
              <a:t>"오늘 Killercoda는 직접 조작하기보다, 완성된 그림을 먼저 보는 시간입니다.</a:t>
            </a:r>
          </a:p>
          <a:p/>
          <a:p>
            <a:r>
              <a:t>제가 미리 준비한 GitHub 템플릿을 기반으로, Terraform Cloud 파이프라인이 실제로 동작하는 과정을</a:t>
            </a:r>
          </a:p>
          <a:p>
            <a:r>
              <a:t>함께 관찰하겠습니다. GitHub에 코드를 push하면, Terraform Cloud의 Runs 탭에 자동으로 plan이 잡히는</a:t>
            </a:r>
          </a:p>
          <a:p>
            <a:r>
              <a:t>흐름을 화면으로 확인할 거예요.</a:t>
            </a:r>
          </a:p>
          <a:p/>
          <a:p>
            <a:r>
              <a:t>**(의미 강조)** 오늘은 '이런 게 가능하구나'를 보는 시간이고, 다음 2·3차시에 여러분이 직접 이</a:t>
            </a:r>
          </a:p>
          <a:p>
            <a:r>
              <a:t>파이프라인을 처음부터 만들어볼 겁니다.</a:t>
            </a:r>
          </a:p>
          <a:p/>
          <a:p>
            <a:r>
              <a:t>**(화면 공유해 실제로 시연)** 제가 화면으로 보여드릴게요."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 안내 — 다음 차시 예고]</a:t>
            </a:r>
          </a:p>
          <a:p/>
          <a:p>
            <a:r>
              <a:t>"오늘은 개념 위주였기 때문에, 아직 Terraform Cloud 계정을 만들지 않았습니다. 별도로 하실 실습은</a:t>
            </a:r>
          </a:p>
          <a:p>
            <a:r>
              <a:t>없습니다.</a:t>
            </a:r>
          </a:p>
          <a:p/>
          <a:p>
            <a:r>
              <a:t>**(다음 차시 예고)** 다음 2차시 도입부에서 계정·조직·워크스페이스 생성을 스크린샷과 함께 단계별로</a:t>
            </a:r>
          </a:p>
          <a:p>
            <a:r>
              <a:t>안내해드릴 예정이니, 미리 걱정하지 않으셔도 됩니다. 사용할 이메일 주소를 하나 미리 정해두시면</a:t>
            </a:r>
          </a:p>
          <a:p>
            <a:r>
              <a:t>좋습니다(선택 사항입니다)."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정리]</a:t>
            </a:r>
          </a:p>
          <a:p/>
          <a:p>
            <a:r>
              <a:t>"오늘 배운 내용, 두 가지로 정리하겠습니다.</a:t>
            </a:r>
          </a:p>
          <a:p/>
          <a:p>
            <a:r>
              <a:t>첫째, **로컬 State는 협업·보안·실행환경 측면에서 한계가 있다.**</a:t>
            </a:r>
          </a:p>
          <a:p>
            <a:r>
              <a:t>둘째, **Terraform Cloud는 State를 원격으로 안전하게 저장하고, plan/apply도 원격 서버에서 실행해</a:t>
            </a:r>
          </a:p>
          <a:p>
            <a:r>
              <a:t>준다.**"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[다음 차시 예고]</a:t>
            </a:r>
          </a:p>
          <a:p/>
          <a:p>
            <a:r>
              <a:t>"다음 2차시에서는 Terraform Cloud 계정과 조직, 워크스페이스를 직접 만들어봅니다. 단계별 가입</a:t>
            </a:r>
          </a:p>
          <a:p>
            <a:r>
              <a:t>가이드를 준비했으니 차근차근 따라오시면 됩니다.</a:t>
            </a:r>
          </a:p>
          <a:p/>
          <a:p>
            <a:r>
              <a:t>오늘 수업은 여기까지입니다. Killercoda 시연 관찰 소감을 간단히 정리해서 제출해주시고, 궁금한 점은</a:t>
            </a:r>
          </a:p>
          <a:p>
            <a:r>
              <a:t>LMS Q&amp;A 게시판에 남겨주세요. 수고하셨습니다!"</a:t>
            </a:r>
          </a:p>
          <a:p/>
          <a:p>
            <a:r>
              <a:t>---</a:t>
            </a:r>
          </a:p>
          <a:p/>
          <a:p>
            <a:r>
              <a:t>## 강의자 참고 — 예상 질문 &amp; 답변</a:t>
            </a:r>
          </a:p>
          <a:p/>
          <a:p>
            <a:r>
              <a:t>| 예상 질문 | 답변 가이드 |</a:t>
            </a:r>
          </a:p>
          <a:p>
            <a:r>
              <a:t>|---|---|</a:t>
            </a:r>
          </a:p>
          <a:p>
            <a:r>
              <a:t>| "Terraform Cloud는 유료인가요?" | 개인·소규모 팀용 무료 플랜이 있습니다. 이 과목 실습 범위에서는 무료 플랜으로 충분합니다. |</a:t>
            </a:r>
          </a:p>
          <a:p>
            <a:r>
              <a:t>| "원격 실행이면 내 VM은 이제 필요 없나요?" | VM은 여전히 필요합니다. 코드를 작성하고 Git으로 관리하는 작업, 그리고 이후 주차의 Docker·K8s 실습은 계속 VM에서 진행됩니다. Terraform Cloud는 plan/apply '실행'만 대신해주는 것입니다. |</a:t>
            </a:r>
          </a:p>
          <a:p>
            <a:r>
              <a:t>| "State를 원격에 두면 완전히 안전한가요?" | 로컬에 두는 것보다 훨씬 안전하지만, Terraform Cloud 계정 자체의 보안(비밀번호 관리, 접근 권한 설정)은 여전히 중요합니다. 이 과목에서는 기본적인 사용법까지만 다룹니다. |</a:t>
            </a:r>
          </a:p>
          <a:p>
            <a:r>
              <a:t>| "Killercoda 링크가 언제 만들어졌는지에 따라 제한 시간이 달라지나요?" | 아니요. 60분 타이머는 링크 생성 시점이 아니라 각 학생이 시나리오를 '시작'한 순간부터 개별적으로 시작됩니다. 링크 자체는 만료되지 않으므로, 비동기로 늦게 접속하거나 여러 학생이 같은 링크를 써도 각자 독립된 환경과 타이머를 받습니다.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10주차 1차시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원격 State와 Terraform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State 파일을 안전하게 공유하는 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영남이공대학교 김지윤교수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로컬 State 방식의 문제를 다시 정리하고 원격 State의 필요성을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Terraform Cloud가 무엇인지, 무엇을 대신 해주는지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Terraform Cloud의 원격 실행(Remote Execution) 개념을 이해한다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1차시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7" name="Oval 16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TFC 파이프라인 시연 감상</a:t>
            </a:r>
          </a:p>
        </p:txBody>
      </p:sp>
      <p:sp>
        <p:nvSpPr>
          <p:cNvPr id="22" name="Oval 21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다음 차시 가입 예고</a:t>
            </a:r>
          </a:p>
        </p:txBody>
      </p:sp>
      <p:sp>
        <p:nvSpPr>
          <p:cNvPr id="27" name="Oval 26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1차시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로컬 State, 다시 보는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9주차 마지막 예고를 이어서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로컬 State의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혼자 쓸 땐 몰랐던 문제들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지난 주 배운 대로, State 파일은 지금까지 전부 내 VM 로컬 디스크에만 있었음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협업 문제 — 여러 사람이 같은 인프라를 다루면 서로 다른 State를 갖게 되어 충돌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보안 문제 — State 안에 비밀번호 등 민감정보가 평문 포함될 수 있음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실행 환경 문제 — 내 VM이 꺼지면 아무도 apply를 실행할 수 없음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🤔 그럼 State를 어딘가 '공용 장소'에 두면 어떨까?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바로 이 아이디어가 원격 백엔드(Remote Backend)입니다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Terraform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HashiCorp가 제공하는 원격 실행 서비스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Terraform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Terraform Cloud가 대신 해주는 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State 저장 — 여러 사람이 공유하는 안전한 원격 저장소에 State 보관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원격 실행 — plan/apply를 내 VM이 아니라 Terraform Cloud 서버에서 실행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실행 이력 — 누가 언제 무엇을 바꿨는지 Runs 탭에서 전부 기록·조회 가능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Terraform Cloud 역할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내 VM(코드 작성) → Terraform Cloud(State 저장+원격 실행) → 실제 인프라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Terraform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원격 실행(Remote Execution)이란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terraform apply를 실행해도, 실제 plan/apply 연산은 Terraform Cloud의 서버에서 처리됨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내 VM은 코드를 Terraform Cloud에 전달하는 역할만 하고, 실행 결과를 돌려받음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여러 명이 같은 워크스페이스에 접근해도 항상 하나의 State만 존재 — 충돌 없음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Terraform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⚠ 오늘 꼭 기억해야 할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원격 실행은 Terraform Cloud의 서버에서 이뤄지므로, 내 VM의 로컬 자원(Docker 등)에 접근할 수 없음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그래서 10주차 실습은 9주차의 docker Provider 예제를 그대로 쓸 수 없음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로컬 인프라에 의존하지 않는 리소스(random_pet)로 원격 실행의 원리만 확인할 예정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📌 검증된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실제로 docker_container를 원격 실행하면 "Cannot connect to the Docker daemon" 오류가 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Terraform Cloud 파이프라인 시연 감상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교수자가 미리 준비한 GitHub 템플릿 기반으로 Terraform Cloud 파이프라인이 동작하는 과정을 함께 관찰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GitHub push → Terraform Cloud Runs 탭에 자동으로 plan이 잡히는 흐름을 화면으로 확인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직접 조작하기보다, 다음 차시부터 이어질 실습의 '완성된 그림'을 먼저 보는 시간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— 다음 차시 예고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오늘은 개념 위주였고, 아직 Terraform Cloud 계정을 만들지 않았습니다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다음 2차시 도입부에 계정·조직·워크스페이스 생성을 스크린샷과 함께 단계별로 안내합니다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미리 사용할 이메일 주소만 하나 정해두면 좋습니다(선택)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로컬 State는 협업·보안·실행환경 측면에서 한계가 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Terraform Cloud는 State를 원격으로 안전하게 저장하고, plan/apply도 원격 서버에서 실행해준다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10주차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Terraform Cloud 계정과 조직, 워크스페이스를 직접 만들어봅니다. 단계별 가입 가이드를 준비했습니다.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