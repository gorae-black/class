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331720"/>
            <a:ext cx="1005840" cy="6400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4B8A6"/>
                </a:solidFill>
                <a:latin typeface="맑은 고딕"/>
              </a:rPr>
              <a:t>클라우드인프라관리  ·  3주차 1차시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514600"/>
            <a:ext cx="10332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맑은 고딕"/>
              </a:rPr>
              <a:t>Dockerfile 문법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1605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C9D3E6"/>
                </a:solidFill>
                <a:latin typeface="맑은 고딕"/>
              </a:rPr>
              <a:t>나만의 이미지를 만드는 레시피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9893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맑은 고딕"/>
              </a:rPr>
              <a:t>담당교수  김지윤</a:t>
            </a:r>
          </a:p>
        </p:txBody>
      </p:sp>
      <p:sp>
        <p:nvSpPr>
          <p:cNvPr id="9" name="Rectangle 8"/>
          <p:cNvSpPr/>
          <p:nvPr/>
        </p:nvSpPr>
        <p:spPr>
          <a:xfrm>
            <a:off x="9509760" y="5943600"/>
            <a:ext cx="182880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4213D"/>
                </a:solidFill>
                <a:latin typeface="맑은 고딕"/>
              </a:rPr>
              <a:t>강의용(교수자 시연)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SESSION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오늘의 학습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2000" b="0">
                <a:solidFill>
                  <a:srgbClr val="222733"/>
                </a:solidFill>
                <a:latin typeface="맑은 고딕"/>
              </a:rPr>
              <a:t>1.  Dockerfile이 무엇이고 왜 필요한지 이해한다</a:t>
            </a:r>
          </a:p>
          <a:p>
            <a:pPr>
              <a:lnSpc>
                <a:spcPct val="115000"/>
              </a:lnSpc>
            </a:pPr>
            <a:r>
              <a:rPr sz="2000" b="0">
                <a:solidFill>
                  <a:srgbClr val="222733"/>
                </a:solidFill>
                <a:latin typeface="맑은 고딕"/>
              </a:rPr>
              <a:t>2.  FROM·WORKDIR·COPY·RUN·EXPOSE·CMD 명령어를 이해한다</a:t>
            </a:r>
          </a:p>
          <a:p>
            <a:pPr>
              <a:lnSpc>
                <a:spcPct val="115000"/>
              </a:lnSpc>
            </a:pPr>
            <a:r>
              <a:rPr sz="2000" b="0">
                <a:solidFill>
                  <a:srgbClr val="222733"/>
                </a:solidFill>
                <a:latin typeface="맑은 고딕"/>
              </a:rPr>
              <a:t>3.  docker build로 Dockerfile을 이미지로 만들어본다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3주차 1차시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02 / 11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SESSION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오늘의 진행 순서 (60분)</a:t>
            </a:r>
          </a:p>
        </p:txBody>
      </p:sp>
      <p:sp>
        <p:nvSpPr>
          <p:cNvPr id="6" name="Rectangle 5"/>
          <p:cNvSpPr/>
          <p:nvPr/>
        </p:nvSpPr>
        <p:spPr>
          <a:xfrm>
            <a:off x="2571292" y="1730959"/>
            <a:ext cx="1995220" cy="31089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Isosceles Triangle 6"/>
          <p:cNvSpPr/>
          <p:nvPr/>
        </p:nvSpPr>
        <p:spPr>
          <a:xfrm rot="5400000">
            <a:off x="3495751" y="1673352"/>
            <a:ext cx="146304" cy="146304"/>
          </a:xfrm>
          <a:prstGeom prst="triangl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96865" y="1730959"/>
            <a:ext cx="1995220" cy="31089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Isosceles Triangle 8"/>
          <p:cNvSpPr/>
          <p:nvPr/>
        </p:nvSpPr>
        <p:spPr>
          <a:xfrm rot="5400000">
            <a:off x="6021324" y="1673352"/>
            <a:ext cx="146304" cy="146304"/>
          </a:xfrm>
          <a:prstGeom prst="triangl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22438" y="1730959"/>
            <a:ext cx="1995220" cy="31089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Isosceles Triangle 10"/>
          <p:cNvSpPr/>
          <p:nvPr/>
        </p:nvSpPr>
        <p:spPr>
          <a:xfrm rot="5400000">
            <a:off x="8546896" y="1673352"/>
            <a:ext cx="146304" cy="146304"/>
          </a:xfrm>
          <a:prstGeom prst="triangl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040940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40940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63700" y="2304288"/>
            <a:ext cx="2084831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292" y="2487168"/>
            <a:ext cx="17556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개념 설명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428292" y="3017520"/>
            <a:ext cx="521208" cy="310896"/>
          </a:xfrm>
          <a:prstGeom prst="roundRect">
            <a:avLst>
              <a:gd name="adj" fmla="val 50000"/>
            </a:avLst>
          </a:prstGeom>
          <a:solidFill>
            <a:srgbClr val="E3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28292" y="3017520"/>
            <a:ext cx="521208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D9488"/>
                </a:solidFill>
                <a:latin typeface="맑은 고딕"/>
              </a:rPr>
              <a:t>25분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28292" y="3474720"/>
            <a:ext cx="1755648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</a:rPr>
              <a:t>강의자료 기반 직접 강의</a:t>
            </a:r>
          </a:p>
        </p:txBody>
      </p:sp>
      <p:sp>
        <p:nvSpPr>
          <p:cNvPr id="19" name="Oval 18"/>
          <p:cNvSpPr/>
          <p:nvPr/>
        </p:nvSpPr>
        <p:spPr>
          <a:xfrm>
            <a:off x="4566513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66513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789273" y="2304288"/>
            <a:ext cx="2084831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953865" y="2487168"/>
            <a:ext cx="17556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Killercoda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953865" y="3017520"/>
            <a:ext cx="521208" cy="310896"/>
          </a:xfrm>
          <a:prstGeom prst="roundRect">
            <a:avLst>
              <a:gd name="adj" fmla="val 50000"/>
            </a:avLst>
          </a:prstGeom>
          <a:solidFill>
            <a:srgbClr val="E3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953865" y="3017520"/>
            <a:ext cx="521208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D9488"/>
                </a:solidFill>
                <a:latin typeface="맑은 고딕"/>
              </a:rPr>
              <a:t>15분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53865" y="3474720"/>
            <a:ext cx="1755648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</a:rPr>
              <a:t>빈칸 Dockerfile 완성 실습</a:t>
            </a:r>
          </a:p>
        </p:txBody>
      </p:sp>
      <p:sp>
        <p:nvSpPr>
          <p:cNvPr id="26" name="Oval 25"/>
          <p:cNvSpPr/>
          <p:nvPr/>
        </p:nvSpPr>
        <p:spPr>
          <a:xfrm>
            <a:off x="7092086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092086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14846" y="2304288"/>
            <a:ext cx="2084831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79438" y="2487168"/>
            <a:ext cx="17556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VM 안내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79438" y="3017520"/>
            <a:ext cx="420623" cy="310896"/>
          </a:xfrm>
          <a:prstGeom prst="roundRect">
            <a:avLst>
              <a:gd name="adj" fmla="val 50000"/>
            </a:avLst>
          </a:prstGeom>
          <a:solidFill>
            <a:srgbClr val="E3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79438" y="3017520"/>
            <a:ext cx="420623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D9488"/>
                </a:solidFill>
                <a:latin typeface="맑은 고딕"/>
              </a:rPr>
              <a:t>5분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79438" y="3474720"/>
            <a:ext cx="1755648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</a:rPr>
              <a:t>다음 차시 예고</a:t>
            </a:r>
          </a:p>
        </p:txBody>
      </p:sp>
      <p:sp>
        <p:nvSpPr>
          <p:cNvPr id="33" name="Oval 32"/>
          <p:cNvSpPr/>
          <p:nvPr/>
        </p:nvSpPr>
        <p:spPr>
          <a:xfrm>
            <a:off x="9617659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617659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840419" y="2304288"/>
            <a:ext cx="2084831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05011" y="2487168"/>
            <a:ext cx="17556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결과 제출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005011" y="3017520"/>
            <a:ext cx="420623" cy="310896"/>
          </a:xfrm>
          <a:prstGeom prst="roundRect">
            <a:avLst>
              <a:gd name="adj" fmla="val 50000"/>
            </a:avLst>
          </a:prstGeom>
          <a:solidFill>
            <a:srgbClr val="E3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05011" y="3017520"/>
            <a:ext cx="420623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D9488"/>
                </a:solidFill>
                <a:latin typeface="맑은 고딕"/>
              </a:rPr>
              <a:t>5분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05011" y="3474720"/>
            <a:ext cx="1755648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</a:rPr>
              <a:t>체크리스트 제출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3주차 1차시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03 / 11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94560"/>
            <a:ext cx="137160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PART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맑은 고딕"/>
              </a:rPr>
              <a:t>Dockerfile이란?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9D3E6"/>
                </a:solidFill>
                <a:latin typeface="맑은 고딕"/>
              </a:rPr>
              <a:t>이미지를 만드는 레시피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1 · Dockerfile이란?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지금까지와 오늘의 차이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8813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지금까지는 nginx처럼 이미 완성된 이미지만 가져다 썼음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Dockerfile은 '이런 순서로 이미지를 만들어라'라고 적어두는 설계도(레시피)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docker build 명령으로 이 레시피를 실제 이미지로 변환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5074920"/>
            <a:ext cx="10881360" cy="11430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93792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맑은 고딕"/>
              </a:rPr>
              <a:t>🎯  오늘부터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5778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맑은 고딕"/>
              </a:rPr>
              <a:t>여러분만의 앱을 담은, 세상에 하나뿐인 이미지를 직접 만들게 됩니다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3주차 1차시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05 / 11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1 · Dockerfile이란?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주요 명령어 한눈에 보기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645920"/>
            <a:ext cx="2377440" cy="566928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645920"/>
            <a:ext cx="23774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명령어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645920"/>
            <a:ext cx="8412480" cy="56692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0" y="1645920"/>
            <a:ext cx="84124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역할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2212848"/>
            <a:ext cx="2377440" cy="566928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2212848"/>
            <a:ext cx="2157984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4213D"/>
                </a:solidFill>
                <a:latin typeface="맑은 고딕"/>
              </a:rPr>
              <a:t>FROM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0" y="2212848"/>
            <a:ext cx="8412480" cy="566928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10128" y="2212848"/>
            <a:ext cx="8193024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22733"/>
                </a:solidFill>
                <a:latin typeface="맑은 고딕"/>
              </a:rPr>
              <a:t>어떤 이미지를 기반으로 시작할지 지정 (예: python:3.11-slim)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2779776"/>
            <a:ext cx="237744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2779776"/>
            <a:ext cx="2157984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4213D"/>
                </a:solidFill>
                <a:latin typeface="맑은 고딕"/>
              </a:rPr>
              <a:t>WORKDIR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0" y="2779776"/>
            <a:ext cx="841248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10128" y="2779776"/>
            <a:ext cx="8193024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22733"/>
                </a:solidFill>
                <a:latin typeface="맑은 고딕"/>
              </a:rPr>
              <a:t>컨테이너 안에서 작업할 디렉토리 지정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3346704"/>
            <a:ext cx="2377440" cy="566928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346704"/>
            <a:ext cx="2157984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4213D"/>
                </a:solidFill>
                <a:latin typeface="맑은 고딕"/>
              </a:rPr>
              <a:t>COPY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0" y="3346704"/>
            <a:ext cx="8412480" cy="566928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10128" y="3346704"/>
            <a:ext cx="8193024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22733"/>
                </a:solidFill>
                <a:latin typeface="맑은 고딕"/>
              </a:rPr>
              <a:t>내 컴퓨터의 파일을 이미지 안으로 복사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3913632"/>
            <a:ext cx="237744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2688" y="3913632"/>
            <a:ext cx="2157984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4213D"/>
                </a:solidFill>
                <a:latin typeface="맑은 고딕"/>
              </a:rPr>
              <a:t>RUN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0" y="3913632"/>
            <a:ext cx="841248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310128" y="3913632"/>
            <a:ext cx="8193024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22733"/>
                </a:solidFill>
                <a:latin typeface="맑은 고딕"/>
              </a:rPr>
              <a:t>이미지를 만드는 동안 실행할 명령어 (예: 패키지 설치)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2960" y="4480560"/>
            <a:ext cx="2377440" cy="566928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2688" y="4480560"/>
            <a:ext cx="2157984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4213D"/>
                </a:solidFill>
                <a:latin typeface="맑은 고딕"/>
              </a:rPr>
              <a:t>EXPOSE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0" y="4480560"/>
            <a:ext cx="8412480" cy="566928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310128" y="4480560"/>
            <a:ext cx="8193024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22733"/>
                </a:solidFill>
                <a:latin typeface="맑은 고딕"/>
              </a:rPr>
              <a:t>이 컨테이너가 사용할 포트 명시(문서 역할)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960" y="5047488"/>
            <a:ext cx="237744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2688" y="5047488"/>
            <a:ext cx="2157984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4213D"/>
                </a:solidFill>
                <a:latin typeface="맑은 고딕"/>
              </a:rPr>
              <a:t>CMD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00400" y="5047488"/>
            <a:ext cx="841248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310128" y="5047488"/>
            <a:ext cx="8193024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22733"/>
                </a:solidFill>
                <a:latin typeface="맑은 고딕"/>
              </a:rPr>
              <a:t>컨테이너가 시작될 때 실행할 명령어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3주차 1차시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06 / 11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94560"/>
            <a:ext cx="137160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PART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맑은 고딕"/>
              </a:rPr>
              <a:t>docker build 과정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9D3E6"/>
                </a:solidFill>
                <a:latin typeface="맑은 고딕"/>
              </a:rPr>
              <a:t>Dockerfile → 이미지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2 · docker build 과정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Dockerfile이 이미지가 되기까지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5394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5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500" b="0">
                <a:solidFill>
                  <a:srgbClr val="222733"/>
                </a:solidFill>
                <a:latin typeface="맑은 고딕"/>
              </a:rPr>
              <a:t>docker build -t {이름}:{태그} . 명령으로 시작</a:t>
            </a:r>
          </a:p>
          <a:p>
            <a:pPr>
              <a:lnSpc>
                <a:spcPct val="115000"/>
              </a:lnSpc>
            </a:pPr>
            <a:r>
              <a:rPr sz="15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500" b="0">
                <a:solidFill>
                  <a:srgbClr val="222733"/>
                </a:solidFill>
                <a:latin typeface="맑은 고딕"/>
              </a:rPr>
              <a:t>Dockerfile을 한 줄씩 순서대로 실행하며 '레이어'를 하나씩 쌓음</a:t>
            </a:r>
          </a:p>
          <a:p>
            <a:pPr>
              <a:lnSpc>
                <a:spcPct val="115000"/>
              </a:lnSpc>
            </a:pPr>
            <a:r>
              <a:rPr sz="15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500" b="0">
                <a:solidFill>
                  <a:srgbClr val="222733"/>
                </a:solidFill>
                <a:latin typeface="맑은 고딕"/>
              </a:rPr>
              <a:t>마지막 레이어까지 쌓이면 하나의 완성된 이미지가 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76479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4213D"/>
                </a:solidFill>
                <a:latin typeface="맑은 고딕"/>
              </a:rPr>
              <a:t>레이어가 쌓이는 순서</a:t>
            </a:r>
          </a:p>
        </p:txBody>
      </p:sp>
      <p:sp>
        <p:nvSpPr>
          <p:cNvPr id="9" name="Rectangle 8"/>
          <p:cNvSpPr/>
          <p:nvPr/>
        </p:nvSpPr>
        <p:spPr>
          <a:xfrm>
            <a:off x="6492240" y="2148840"/>
            <a:ext cx="4846320" cy="548640"/>
          </a:xfrm>
          <a:prstGeom prst="rect">
            <a:avLst/>
          </a:prstGeom>
          <a:solidFill>
            <a:srgbClr val="8A8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2148840"/>
            <a:ext cx="4846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FROM python:3.11-slim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92240" y="2706624"/>
            <a:ext cx="4846320" cy="548640"/>
          </a:xfrm>
          <a:prstGeom prst="rect">
            <a:avLst/>
          </a:prstGeom>
          <a:solidFill>
            <a:srgbClr val="8A8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706624"/>
            <a:ext cx="4846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WORKDIR /app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92240" y="3264408"/>
            <a:ext cx="4846320" cy="54864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3264408"/>
            <a:ext cx="4846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COPY app.py 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92240" y="3822191"/>
            <a:ext cx="4846320" cy="54864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3822191"/>
            <a:ext cx="4846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RUN pip install flask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92240" y="4379976"/>
            <a:ext cx="4846320" cy="54864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4379976"/>
            <a:ext cx="4846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CMD ["python","app.py"]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3주차 1차시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08 / 11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실습 안내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Killercoda — 빈칸 Dockerfile 완성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Node.js 앱이 포함된 실습 환경 제공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빈칸으로 되어 있는 Dockerfile의 FROM / COPY / RUN / CMD를 채워 완성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docker build -t mynode:v1 . 로 빌드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docker run으로 실행 후 정상 동작 확인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3주차 1차시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09 / 11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실습 안내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다음 차시 예고 및 준비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다음 2차시부터는 직접 나만의 Python Flask 앱을 만들어 이미지로 빌드합니다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2차시 전에 GitHub·Docker Hub 계정이 필요합니다 (없으면 미리 가입 권장)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가입 방법은 다음 차시 도입부에 단계별로 안내합니다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3주차 1차시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10 / 11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오늘의 정리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645920"/>
            <a:ext cx="45720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6916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Dockerfile = 이미지를 만드는 레시피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423160"/>
            <a:ext cx="45720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46887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docker build로 Dockerfile을 실제 이미지로 변환한다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다음 차시 예고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64592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B8A6"/>
                </a:solidFill>
                <a:latin typeface="맑은 고딕"/>
              </a:rPr>
              <a:t>다음 차시 예고 — 3주차 2차시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103120"/>
            <a:ext cx="9875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맑은 고딕"/>
              </a:rPr>
              <a:t>GitHub·Docker Hub 계정을 준비하고, 직접 만든 Python Flask 앱을 Dockerfile로 빌드해봅니다.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