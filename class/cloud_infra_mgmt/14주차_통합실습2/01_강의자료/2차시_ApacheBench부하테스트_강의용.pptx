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0058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맑은 고딕"/>
              </a:rPr>
              <a:t>클라우드인프라관리  ·  14주차 2차시 [VM 전용]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</a:rPr>
              <a:t>ApacheBench 부하 테스트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9D3E6"/>
                </a:solidFill>
                <a:latin typeface="맑은 고딕"/>
              </a:rPr>
              <a:t>실제로 트래픽을 폭주시켜 스케일업을 눈으로 본다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담당교수  김지윤</a:t>
            </a:r>
          </a:p>
        </p:txBody>
      </p:sp>
      <p:sp>
        <p:nvSpPr>
          <p:cNvPr id="9" name="Rectangle 8"/>
          <p:cNvSpPr/>
          <p:nvPr/>
        </p:nvSpPr>
        <p:spPr>
          <a:xfrm>
            <a:off x="9509760" y="5943600"/>
            <a:ext cx="18288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4213D"/>
                </a:solidFill>
                <a:latin typeface="맑은 고딕"/>
              </a:rPr>
              <a:t>강의용(교수자 시연)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0">
                <a:solidFill>
                  <a:srgbClr val="222733"/>
                </a:solidFill>
                <a:latin typeface="맑은 고딕"/>
              </a:rPr>
              <a:t>1.  ApacheBench(ab)로 부하 테스트를 실행하는 방법을 이해한다</a:t>
            </a:r>
          </a:p>
          <a:p>
            <a:pPr>
              <a:lnSpc>
                <a:spcPct val="115000"/>
              </a:lnSpc>
            </a:pPr>
            <a:r>
              <a:rPr sz="1700" b="0">
                <a:solidFill>
                  <a:srgbClr val="222733"/>
                </a:solidFill>
                <a:latin typeface="맑은 고딕"/>
              </a:rPr>
              <a:t>2.  요청당 연산이 거의 없는 앱은 왜 스케일업이 관찰되지 않는지 이해한다</a:t>
            </a:r>
          </a:p>
          <a:p>
            <a:pPr>
              <a:lnSpc>
                <a:spcPct val="115000"/>
              </a:lnSpc>
            </a:pPr>
            <a:r>
              <a:rPr sz="1700" b="0">
                <a:solidFill>
                  <a:srgbClr val="222733"/>
                </a:solidFill>
                <a:latin typeface="맑은 고딕"/>
              </a:rPr>
              <a:t>3.  실제로 트래픽을 흘려보내 chatbot Pod가 1개에서 여러 개로 늘어나는 것을 관찰한다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14주차 2차시 [VM 전용]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02 / 13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진행 순서 (50분, Killercoda 없음)</a:t>
            </a:r>
          </a:p>
        </p:txBody>
      </p:sp>
      <p:sp>
        <p:nvSpPr>
          <p:cNvPr id="6" name="Rectangle 5"/>
          <p:cNvSpPr/>
          <p:nvPr/>
        </p:nvSpPr>
        <p:spPr>
          <a:xfrm>
            <a:off x="3163824" y="1730959"/>
            <a:ext cx="2665475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sosceles Triangle 6"/>
          <p:cNvSpPr/>
          <p:nvPr/>
        </p:nvSpPr>
        <p:spPr>
          <a:xfrm rot="5400000">
            <a:off x="4423409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9651" y="1730959"/>
            <a:ext cx="2665476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 rot="5400000">
            <a:off x="7619238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633472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33472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778507" y="2304288"/>
            <a:ext cx="224028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43100" y="2487168"/>
            <a:ext cx="19110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개념 설명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43100" y="3017520"/>
            <a:ext cx="521208" cy="310896"/>
          </a:xfrm>
          <a:prstGeom prst="roundRect">
            <a:avLst>
              <a:gd name="adj" fmla="val 50000"/>
            </a:avLst>
          </a:prstGeom>
          <a:solidFill>
            <a:srgbClr val="E3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43100" y="3017520"/>
            <a:ext cx="52120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D9488"/>
                </a:solidFill>
                <a:latin typeface="맑은 고딕"/>
              </a:rPr>
              <a:t>20분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43100" y="3474720"/>
            <a:ext cx="1911096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ab 사용법+검증된 함정</a:t>
            </a:r>
          </a:p>
        </p:txBody>
      </p:sp>
      <p:sp>
        <p:nvSpPr>
          <p:cNvPr id="17" name="Oval 16"/>
          <p:cNvSpPr/>
          <p:nvPr/>
        </p:nvSpPr>
        <p:spPr>
          <a:xfrm>
            <a:off x="5829299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29299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74336" y="2304288"/>
            <a:ext cx="224028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38927" y="2487168"/>
            <a:ext cx="19110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VM 실습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38927" y="3017520"/>
            <a:ext cx="521208" cy="310896"/>
          </a:xfrm>
          <a:prstGeom prst="roundRect">
            <a:avLst>
              <a:gd name="adj" fmla="val 50000"/>
            </a:avLst>
          </a:prstGeom>
          <a:solidFill>
            <a:srgbClr val="E3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38927" y="3017520"/>
            <a:ext cx="52120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D9488"/>
                </a:solidFill>
                <a:latin typeface="맑은 고딕"/>
              </a:rPr>
              <a:t>25분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38927" y="3474720"/>
            <a:ext cx="1911096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부하 테스트+스케일업 관찰</a:t>
            </a:r>
          </a:p>
        </p:txBody>
      </p:sp>
      <p:sp>
        <p:nvSpPr>
          <p:cNvPr id="24" name="Oval 23"/>
          <p:cNvSpPr/>
          <p:nvPr/>
        </p:nvSpPr>
        <p:spPr>
          <a:xfrm>
            <a:off x="9025128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25128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70163" y="2304288"/>
            <a:ext cx="224028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34755" y="2487168"/>
            <a:ext cx="19110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결과 정리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34755" y="3017520"/>
            <a:ext cx="420623" cy="310896"/>
          </a:xfrm>
          <a:prstGeom prst="roundRect">
            <a:avLst>
              <a:gd name="adj" fmla="val 50000"/>
            </a:avLst>
          </a:prstGeom>
          <a:solidFill>
            <a:srgbClr val="E3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34755" y="3017520"/>
            <a:ext cx="420623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D9488"/>
                </a:solidFill>
                <a:latin typeface="맑은 고딕"/>
              </a:rPr>
              <a:t>5분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4755" y="3474720"/>
            <a:ext cx="1911096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제출 안내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14주차 2차시 [VM 전용]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03 / 13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ApacheBench란?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터미널로 부하를 흉내내는 도구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ApacheBench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ab 명령어 기본 문법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ab -n 10000 -c 100 http://{chatbot-url}/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-n 10000 — 총 몇 번 요청을 보낼지(요청 총량)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-c 100 — 동시에 몇 개의 연결로 요청을 보낼지(동시성)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실행하면 초당 처리 요청 수, 응답 시간 등 통계가 출력됨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14주차 2차시 [VM 전용]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05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검증된 함정 — CPU가 안 오른다면?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1차시에서 예고했던 그 이유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검증된 함정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부하를 줘도 CPU가 0%에 머무는 이유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챗봇 앱이 요청당 실제 연산이 거의 없으면(단순 문자열 반환 등), ab로 아무리 부하를 줘도 CPU 사용률이 오르지 않음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2 vCPU VM에서는 ab 프로세스 자체가 오히려 더 큰 부담이 되기도 함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1차시에 설정한 resource request(낮게)만으로는 부족할 수 있음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✅  함께 적용해야 하는 두 가지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① resource request를 낮게(완료) ② 챗봇 응답 로직에 약간의 연산 추가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14주차 2차시 [VM 전용]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07 / 13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검증된 함정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챗봇 응답 로직에 연산 추가하기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app.py의 응답 함수 안에 문자열 처리를 반복하는 코드를 몇 줄 추가(예: 특정 연산을 N회 반복)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이렇게 하면 요청 하나당 실제로 CPU를 사용하는 시간이 생겨, 부하가 몰릴 때 사용률이 눈에 띄게 오름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코드 수정 후 12~13주차에 배운 파이프라인으로 다시 배포(git push만 하면 자동 반영)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14주차 2차시 [VM 전용]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08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VM 실습 — 부하 테스트 준비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app.py에 연산 추가 → git push → 파이프라인 자동 배포로 새 버전 반영 확인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다른 터미널 창에 kubectl get pods -w 와 kubectl get hpa -w 를 각각 띄워 실시간 관찰 준비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ab -n 10000 -c 100 http://$(minikube service chatbot --url)/ 실행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14주차 2차시 [VM 전용]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10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VM 실습 — 스케일업 관찰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kubectl get hpa -w 화면에서 TARGET(CPU %)이 올라가는 것을 관찰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목표치(50%)를 넘으면 REPLICAS가 1 → 2 → 3처럼 늘어나는 순간을 포착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kubectl get pods -w 화면에서 새 chatbot Pod가 추가로 생성되는 것을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14주차 2차시 [VM 전용]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11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결과 정리 및 제출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ab 실행 결과(Requests per second 등 통계) 캡처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kubectl get hpa 에서 REPLICAS가 늘어난 순간의 화면 캡처(예: 1/1 → 3/5)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kubectl get pods 에서 chatbot Pod가 여러 개로 늘어난 화면 캡처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14주차 2차시 [VM 전용]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12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오늘의 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916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ab -n(요청 수) -c(동시성)로 실제 트래픽 폭주 상황을 흉내낼 수 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6887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요청당 연산이 거의 없는 앱은 CPU 사용률이 오르지 않으므로, 응답 로직에 실제 연산을 더해야 스케일업이 관찰된다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다음 차시 예고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맑은 고딕"/>
              </a:rPr>
              <a:t>다음 차시 예고 — 14주차 3차시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맑은 고딕"/>
              </a:rPr>
              <a:t>이번엔 Pod를 강제로 죽여서 자가치유가 부하 상황에서도 정상 작동하는지 확인하고, 지금까지의 전체 여정을 함께 회고합니다.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