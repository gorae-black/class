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[표지]</a:t>
            </a:r>
          </a:p>
          <a:p/>
          <a:p>
            <a:r>
              <a:t>"13주차 마지막 시간, 3차시를 시작하겠습니다.</a:t>
            </a:r>
          </a:p>
          <a:p/>
          <a:p>
            <a:r>
              <a:t>지난 시간에 Build Now로 4단계 파이프라인을 수동으로 성공시켰는데요, 오늘은 진짜 승부처입니다 —</a:t>
            </a:r>
          </a:p>
          <a:p>
            <a:r>
              <a:t>사람이 아무 버튼도 누르지 않고, git push 한 번으로 전체가 자동으로 돌아가는지 확인해보겠습니다."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학습 목표]</a:t>
            </a:r>
          </a:p>
          <a:p/>
          <a:p>
            <a:r>
              <a:t>"오늘 수업이 끝나면 여러분은 세 가지를 할 수 있게 됩니다.</a:t>
            </a:r>
          </a:p>
          <a:p/>
          <a:p>
            <a:r>
              <a:t>첫째, Poll SCM으로 전체 파이프라인이 자동 실행되는 것을 End-to-End로 검증하고,</a:t>
            </a:r>
          </a:p>
          <a:p>
            <a:r>
              <a:t>둘째, 파이프라인 실패 시 어느 Stage에서 문제가 생겼는지 스스로 진단하고,</a:t>
            </a:r>
          </a:p>
          <a:p>
            <a:r>
              <a:t>셋째, 13주차 전체 실습을 통해 완성한 파이프라인을 정리하고 회고합니다."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진행 순서 (50분, Killercoda 없음)]</a:t>
            </a:r>
          </a:p>
          <a:p/>
          <a:p>
            <a:r>
              <a:t>"오늘은 개념 설명을 15분으로 짧게 하고, VM 실습에 30분을 충분히 쓰겠습니다. 막히는 부분이 생기면</a:t>
            </a:r>
          </a:p>
          <a:p>
            <a:r>
              <a:t>편하게 질문해주세요, 오늘은 시간에 쫓기지 않고 진행합니다."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1 섹션 표지 — End-to-End 테스트란?]</a:t>
            </a:r>
          </a:p>
          <a:p/>
          <a:p>
            <a:r>
              <a:t>"먼저 오늘 우리가 확인할 게 정확히 무엇인지 짚고 넘어가겠습니다."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[지금까지는 '조립'했다면, 오늘은 '작동 확인']</a:t>
            </a:r>
          </a:p>
          <a:p/>
          <a:p>
            <a:r>
              <a:t>"2차시까지는 Build Now 버튼을 눌러서 각 단계가 개별적으로 성공하는지 확인했습니다. 말하자면</a:t>
            </a:r>
          </a:p>
          <a:p>
            <a:r>
              <a:t>자동차의 각 부품이 따로따로 잘 작동하는지 본 거예요.</a:t>
            </a:r>
          </a:p>
          <a:p/>
          <a:p>
            <a:r>
              <a:t>**(오늘의 의미)** 오늘은 사람이 버튼을 누르지 않고, **코드 수정 → git push**만으로 전체가 저절로</a:t>
            </a:r>
          </a:p>
          <a:p>
            <a:r>
              <a:t>돌아가는지 확인합니다. 이 흐름이 실제로 성공하면, 자동차 전체가 시동을 걸고 굴러가는 걸 확인하는</a:t>
            </a:r>
          </a:p>
          <a:p>
            <a:r>
              <a:t>셈이죠 — 진짜 자동 배포 파이프라인이 완성되는 순간입니다.</a:t>
            </a:r>
          </a:p>
          <a:p/>
          <a:p>
            <a:r>
              <a:t>**(오늘의 최종 목표)** 오늘의 목표는 명확합니다 — `app.py`의 챗봇 응답 문구 하나를 바꾸고</a:t>
            </a:r>
          </a:p>
          <a:p>
            <a:r>
              <a:t>push했을 때, 실제 챗봇의 응답이 바뀌는 것까지 직접 확인하는 겁니다."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2 섹션 표지 — 트러블슈팅 체크리스트]</a:t>
            </a:r>
          </a:p>
          <a:p/>
          <a:p>
            <a:r>
              <a:t>"막히는 부분이 생길 수 있으니, 미리 체크리스트를 드리겠습니다."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[Stage별 자주 발생하는 문제]</a:t>
            </a:r>
          </a:p>
          <a:p/>
          <a:p>
            <a:r>
              <a:t>"화면의 표를 보시면, Stage별로 자주 생기는 문제를 정리했습니다.</a:t>
            </a:r>
          </a:p>
          <a:p/>
          <a:p>
            <a:r>
              <a:t>**Checkout**에서 막히면 대부분 저장소 URL 오타나, 저장소가 Private으로 설정된 경우입니다.</a:t>
            </a:r>
          </a:p>
          <a:p>
            <a:r>
              <a:t>**Build**에서 막히면 Dockerfile 문법 오류나 이미지 이름 오타가 흔합니다.</a:t>
            </a:r>
          </a:p>
          <a:p>
            <a:r>
              <a:t>**Push**에서 막히면 `dockerhub-cred`를 등록하지 않았거나 Docker Hub 아이디를 잘못 입력한 경우입니다.</a:t>
            </a:r>
          </a:p>
          <a:p>
            <a:r>
              <a:t>**Deploy**에서 막히면 Deployment나 컨테이너 이름이 실제 YAML과 다르거나, minikube가 꺼져있는</a:t>
            </a:r>
          </a:p>
          <a:p>
            <a:r>
              <a:t>경우가 많습니다."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[진단 순서 — Console Output부터]</a:t>
            </a:r>
          </a:p>
          <a:p/>
          <a:p>
            <a:r>
              <a:t>"막혔을 때 진단하는 순서를 알려드릴게요.</a:t>
            </a:r>
          </a:p>
          <a:p/>
          <a:p>
            <a:r>
              <a:t>첫째, Jenkins Job의 **Console Output**에서 빨간 글씨(오류 메시지)를 먼저 읽습니다.</a:t>
            </a:r>
          </a:p>
          <a:p>
            <a:r>
              <a:t>둘째, 어느 stage에서 멈췄는지 **Stage View**의 색깔로 확인합니다.</a:t>
            </a:r>
          </a:p>
          <a:p>
            <a:r>
              <a:t>셋째, 오류 메시지를 그대로 검색하거나, VM 터미널에서 **같은 명령을 손으로 직접 실행**해서 원인을</a:t>
            </a:r>
          </a:p>
          <a:p>
            <a:r>
              <a:t>재현해봅니다.</a:t>
            </a:r>
          </a:p>
          <a:p/>
          <a:p>
            <a:r>
              <a:t>**(경험 강조)** 이 진단 과정 자체가 실무에서 개발자·엔지니어가 매일 하는 일입니다. 오늘 겪는</a:t>
            </a:r>
          </a:p>
          <a:p>
            <a:r>
              <a:t>어려움이 곧 실력이 되는 시간이라고 생각하시면 좋겠습니다."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[VM 실습 — E2E 테스트]</a:t>
            </a:r>
          </a:p>
          <a:p/>
          <a:p>
            <a:r>
              <a:t>"자, 직접 해보겠습니다.</a:t>
            </a:r>
          </a:p>
          <a:p/>
          <a:p>
            <a:r>
              <a:t>`app.py`의 챗봇 응답 문구를 한 줄 수정하세요. 그다음 `git push origin main`을 실행하고, **아무것도</a:t>
            </a:r>
          </a:p>
          <a:p>
            <a:r>
              <a:t>누르지 말고** 최대 1~2분 기다리세요.</a:t>
            </a:r>
          </a:p>
          <a:p/>
          <a:p>
            <a:r>
              <a:t>Jenkins Build History에 자동 빌드가 새로 생기는지 확인하고, 빌드가 성공하면 `curl $(minikube</a:t>
            </a:r>
          </a:p>
          <a:p>
            <a:r>
              <a:t>service chatbot --url)`로 실제 응답이 바뀐 걸 확인하세요."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[VM 실습 — 문제 발생 시 대응]</a:t>
            </a:r>
          </a:p>
          <a:p/>
          <a:p>
            <a:r>
              <a:t>"만약 실패한다면, 실패한 stage를 확인하고 아까 본 체크리스트를 참고해서 원인부터 좁혀나가세요.</a:t>
            </a:r>
          </a:p>
          <a:p/>
          <a:p>
            <a:r>
              <a:t>`docker ps`, `kubectl get pods`, `kubectl describe pod`처럼 실제 상태를 직접 확인하는 명령어들을</a:t>
            </a:r>
          </a:p>
          <a:p>
            <a:r>
              <a:t>적극적으로 활용하세요.</a:t>
            </a:r>
          </a:p>
          <a:p/>
          <a:p>
            <a:r>
              <a:t>해결되면 다시 코드를 수정해서 `git push`로 재검증하시면 됩니다. 이 반복 과정 자체가 실전</a:t>
            </a:r>
          </a:p>
          <a:p>
            <a:r>
              <a:t>트러블슈팅입니다.</a:t>
            </a:r>
          </a:p>
          <a:p/>
          <a:p>
            <a:r>
              <a:t>**(순회 지도 안내)** 제가 돌아다니면서 막힌 분들을 도와드리겠습니다. 편하게 손 들어주세요."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[결과 정리 및 13주차 종합 제출]</a:t>
            </a:r>
          </a:p>
          <a:p/>
          <a:p>
            <a:r>
              <a:t>"오늘의 결과물은 이렇습니다.</a:t>
            </a:r>
          </a:p>
          <a:p/>
          <a:p>
            <a:r>
              <a:t>코드 수정 전/후 챗봇 응답 curl 결과를 각각 캡처하세요(변경이 확인되어야 합니다). Jenkins Build</a:t>
            </a:r>
          </a:p>
          <a:p>
            <a:r>
              <a:t>History에서 자동으로 트리거된 빌드 이력도 캡처하세요.</a:t>
            </a:r>
          </a:p>
          <a:p/>
          <a:p>
            <a:r>
              <a:t>**(주차 마무리 안내)** 오늘이 13주차 마지막 시간이니, 1차시(아키텍처 설계)·2차시(구축)·3차시(오늘,</a:t>
            </a:r>
          </a:p>
          <a:p>
            <a:r>
              <a:t>E2E 테스트) 실습을 종합해서 제출해주세요. 그리고 겪었던 트러블슈팅 사례를 최소 1가지, 원인과 해결</a:t>
            </a:r>
          </a:p>
          <a:p>
            <a:r>
              <a:t>방법과 함께 기록해서 제출하세요."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정리]</a:t>
            </a:r>
          </a:p>
          <a:p/>
          <a:p>
            <a:r>
              <a:t>"오늘 배운 내용, 두 가지로 정리하겠습니다.</a:t>
            </a:r>
          </a:p>
          <a:p/>
          <a:p>
            <a:r>
              <a:t>첫째, **코드 수정 → git push만으로 Build부터 Deploy까지 전 과정이 자동으로 실행되는 것을</a:t>
            </a:r>
          </a:p>
          <a:p>
            <a:r>
              <a:t>확인했다.**</a:t>
            </a:r>
          </a:p>
          <a:p>
            <a:r>
              <a:t>둘째, **트러블슈팅은 Console Output과 Stage View로 실패 지점을 좁히고, 실제 명령을 손으로</a:t>
            </a:r>
          </a:p>
          <a:p>
            <a:r>
              <a:t>재현해 원인을 찾는 순서로 진행한다.**"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[다음 주 예고]</a:t>
            </a:r>
          </a:p>
          <a:p/>
          <a:p>
            <a:r>
              <a:t>"다음 14주차에서는 오늘 완성한 챗봇 서비스에 대규모 트래픽을 흘려보내서, K8s가 스스로 Pod를</a:t>
            </a:r>
          </a:p>
          <a:p>
            <a:r>
              <a:t>늘리고(HPA, 오토스케일링), 장애가 나도 스스로 복구하는(자가치유) 모습을 직접 관찰해볼 거예요.</a:t>
            </a:r>
          </a:p>
          <a:p/>
          <a:p>
            <a:r>
              <a:t>오늘 수업은 여기까지입니다. 결과 캡처와 트러블슈팅 기록 모두 제출해주시고, 궁금한 점은 LMS Q&amp;A</a:t>
            </a:r>
          </a:p>
          <a:p>
            <a:r>
              <a:t>게시판에 남겨주세요."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[13주차를 마치며]</a:t>
            </a:r>
          </a:p>
          <a:p/>
          <a:p>
            <a:r>
              <a:t>"(화면의 '수고하셨습니다!' 문구를 보며 짧게 마무리합니다.)</a:t>
            </a:r>
          </a:p>
          <a:p/>
          <a:p>
            <a:r>
              <a:t>13주차 수고하셨습니다! Git부터 K8s까지 이어지는 완전 자동화 파이프라인을 직접 완성하셨습니다. 이</a:t>
            </a:r>
          </a:p>
          <a:p>
            <a:r>
              <a:t>과목에서 가장 큰 산을 넘으셨습니다."</a:t>
            </a:r>
          </a:p>
          <a:p/>
          <a:p>
            <a:r>
              <a:t>---</a:t>
            </a:r>
          </a:p>
          <a:p/>
          <a:p>
            <a:r>
              <a:t>## 강의자 참고 — 예상 질문 &amp; 답변</a:t>
            </a:r>
          </a:p>
          <a:p/>
          <a:p>
            <a:r>
              <a:t>| 예상 질문 | 답변 가이드 |</a:t>
            </a:r>
          </a:p>
          <a:p>
            <a:r>
              <a:t>|---|---|</a:t>
            </a:r>
          </a:p>
          <a:p>
            <a:r>
              <a:t>| "1~2분 기다려도 빌드가 안 생겨요" | Poll SCM 설정(`* * * * *`)이 제대로 저장됐는지, `git push`가 실제로 원격 저장소에 반영됐는지(`git log`, GitHub 웹사이트 확인)를 먼저 점검하도록 안내하세요. |</a:t>
            </a:r>
          </a:p>
          <a:p>
            <a:r>
              <a:t>| "Deploy까지는 성공했는데 챗봇 응답이 그대로예요" | `kubectl rollout status deployment/chatbot`으로 롤아웃이 완료됐는지 확인하고, 혹시 이전 이미지가 캐시되어 재사용되고 있지 않은지(`${BUILD_NUMBER}` 태그가 매번 바뀌는지) 점검하도록 안내하세요. |</a:t>
            </a:r>
          </a:p>
          <a:p>
            <a:r>
              <a:t>| "오늘 못 끝내면 어떻게 하나요?" | 13~14주차는 시간 제약 없는 실습 구간이므로, 수업 시간에 못 끝냈다면 LMS Q&amp;A와 오류FAQ를 참고해 이어서 진행하도록 안내하세요. 다음 14주차는 13주차에 완성된 파이프라인을 전제로 하니, 늦더라도 13주차를 반드시 완료해야 합니다. 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13주차 3차시 [VM 전용]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End-to-End 배포 테스트와 트러블슈팅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코드 한 줄 수정 → 자동으로 서비스에 반영되는 순간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영남이공대학교 김지윤교수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1.  Poll SCM으로 전체 파이프라인이 자동 실행되는 것을 End-to-End로 검증한다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2.  파이프라인 실패 시 어느 Stage에서 문제가 생겼는지 스스로 진단한다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3.  13주차 전체 실습을 통해 완성한 파이프라인을 정리하고 회고한다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13주차 3차시 [VM 전용]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진행 순서 (Killercoda 없음)</a:t>
            </a:r>
          </a:p>
        </p:txBody>
      </p:sp>
      <p:sp>
        <p:nvSpPr>
          <p:cNvPr id="6" name="Rectangle 5"/>
          <p:cNvSpPr/>
          <p:nvPr/>
        </p:nvSpPr>
        <p:spPr>
          <a:xfrm>
            <a:off x="3163824" y="1730959"/>
            <a:ext cx="2665475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5400000">
            <a:off x="4423409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9651" y="1730959"/>
            <a:ext cx="2665476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7619238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633472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33472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78507" y="2304288"/>
            <a:ext cx="22402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43100" y="2487168"/>
            <a:ext cx="19110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개념 설명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43100" y="3081528"/>
            <a:ext cx="191109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트러블슈팅 체크리스트</a:t>
            </a:r>
          </a:p>
        </p:txBody>
      </p:sp>
      <p:sp>
        <p:nvSpPr>
          <p:cNvPr id="15" name="Oval 14"/>
          <p:cNvSpPr/>
          <p:nvPr/>
        </p:nvSpPr>
        <p:spPr>
          <a:xfrm>
            <a:off x="582929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2929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74336" y="2304288"/>
            <a:ext cx="22402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38927" y="2487168"/>
            <a:ext cx="19110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VM 실습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7" y="3081528"/>
            <a:ext cx="191109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E2E 테스트+트러블슈팅</a:t>
            </a:r>
          </a:p>
        </p:txBody>
      </p:sp>
      <p:sp>
        <p:nvSpPr>
          <p:cNvPr id="20" name="Oval 19"/>
          <p:cNvSpPr/>
          <p:nvPr/>
        </p:nvSpPr>
        <p:spPr>
          <a:xfrm>
            <a:off x="9025128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25128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70163" y="2304288"/>
            <a:ext cx="22402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4755" y="2487168"/>
            <a:ext cx="19110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결과 정리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4755" y="3081528"/>
            <a:ext cx="191109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13주차 종합 제출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13주차 3차시 [VM 전용]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End-to-End 테스트란?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파이프라인의 처음부터 끝까지를 실제로 확인한다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E2E 테스트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지금까지는 '조립'했다면, 오늘은 '작동 확인'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2차시까지는 Build Now로 각 단계가 개별적으로 성공하는지 확인했음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오늘은 사람이 버튼을 누르지 않고, 코드 수정 → git push만으로 전체가 저절로 돌아가는지 확인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이 흐름이 실제로 성공하면, 진짜 자동 배포 파이프라인이 완성된 것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🎯  오늘의 최종 목표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app.py 문구 하나를 바꾸고 push했을 때, 실제 챗봇 응답이 바뀌는 것까지 직접 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13주차 3차시 [VM 전용]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트러블슈팅 체크리스트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막히면 순서대로 확인한다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트러블슈팅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Stage별 자주 발생하는 문제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45920"/>
            <a:ext cx="2377440" cy="621792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23774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Stage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45920"/>
            <a:ext cx="8412480" cy="6217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645920"/>
            <a:ext cx="84124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자주 발생하는 원인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267712"/>
            <a:ext cx="237744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267712"/>
            <a:ext cx="215798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Checkout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2267712"/>
            <a:ext cx="841248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0128" y="2267712"/>
            <a:ext cx="819302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저장소 URL 오타, 저장소가 Private으로 설정됨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2889504"/>
            <a:ext cx="237744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889504"/>
            <a:ext cx="215798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Build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2889504"/>
            <a:ext cx="841248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0128" y="2889504"/>
            <a:ext cx="819302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Dockerfile 문법 오류, 이미지 이름에 오타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511296"/>
            <a:ext cx="237744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511296"/>
            <a:ext cx="215798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Push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3511296"/>
            <a:ext cx="841248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10128" y="3511296"/>
            <a:ext cx="819302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dockerhub-cred 미등록, Docker Hub 아이디 오타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4133088"/>
            <a:ext cx="237744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133088"/>
            <a:ext cx="215798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Deploy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0" y="4133088"/>
            <a:ext cx="841248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10128" y="4133088"/>
            <a:ext cx="819302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Deployment/컨테이너 이름 불일치, minikube 미실행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13주차 3차시 [VM 전용]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07 / 13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트러블슈팅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진단 순서 — Console Output부터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Jenkins Job의 Console Output에서 빨간 글씨(오류 메시지)를 먼저 읽기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어느 stage에서 멈췄는지 Stage View 색깔로 확인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오류 메시지를 그대로 검색하거나, VM에서 같은 명령을 손으로 직접 실행해 원인 재현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13주차 3차시 [VM 전용]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실습 — E2E 테스트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app.py의 챗봇 응답 문구를 한 줄 수정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git push origin main 실행 후, 아무것도 누르지 않고 최대 1~2분 대기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Jenkins Build History에 자동 빌드가 새로 생기는지 확인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빌드 성공 후 curl $(minikube service chatbot --url) 로 실제 응답이 바뀐 것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13주차 3차시 [VM 전용]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실습 — 문제 발생 시 대응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실패한 stage를 확인하고, 위 체크리스트를 참고해 원인부터 좁혀나가기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docker ps, kubectl get pods, kubectl describe pod 등으로 실제 상태 직접 확인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해결되면 다시 코드를 수정해 git push로 재검증 — 이 과정 자체가 실전 트러블슈팅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13주차 3차시 [VM 전용]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결과 정리 및 13주차 종합 제출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코드 수정 전/후 챗봇 응답 curl 결과 캡처(변경 확인)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Jenkins Build History에서 자동 트리거된 빌드 이력 캡처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13주차 1~3차시(아키텍처 설계·구축·E2E 테스트) 실습을 종합해서 제출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겪었던 트러블슈팅 사례 1가지 이상을 원인·해결 방법과 함께 기록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13주차 3차시 [VM 전용]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11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코드 수정 → git push만으로 Build부터 Deploy까지 전 과정이 자동으로 실행되는 것을 확인했다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트러블슈팅은 Console Output과 Stage View로 실패 지점을 좁히고, 실제 명령을 손으로 재현해 원인을 찾는 순서로 진행한다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주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14주차 — HPA 오토스케일링과 자가치유 운영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오늘 완성한 챗봇 서비스에 대규모 트래픽을 흘려보내, K8s가 스스로 Pod를 늘리고(HPA) 장애를 스스로 복구하는(자가치유) 모습을 직접 관찰합니다.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7889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B8A6"/>
                </a:solidFill>
                <a:latin typeface="맑은 고딕"/>
              </a:rPr>
              <a:t>13주차를 마치며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</a:rPr>
              <a:t>수고하셨습니다!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4340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C9D3E6"/>
                </a:solidFill>
                <a:latin typeface="맑은 고딕"/>
              </a:rPr>
              <a:t>Git부터 K8s까지 이어지는 완전 자동화 파이프라인을 직접 완성하셨습니다. 이 과목에서 가장 큰 산을 넘으셨습니다.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